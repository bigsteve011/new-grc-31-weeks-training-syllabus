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071B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233172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2788920"/>
            <a:ext cx="310896" cy="310896"/>
          </a:xfrm>
          <a:prstGeom prst="ellipse">
            <a:avLst/>
          </a:prstGeom>
          <a:solidFill>
            <a:srgbClr val="3FA79B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3246120"/>
            <a:ext cx="310896" cy="310896"/>
          </a:xfrm>
          <a:prstGeom prst="ellipse">
            <a:avLst/>
          </a:prstGeom>
          <a:solidFill>
            <a:srgbClr val="4E7FA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17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· CAPSTONE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Cybersecurity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for a Fictional Company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37160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Assembling six weeks of artifacts into one defensible program — mapped end-to-end to the six NIST CSF 2.0 Functions.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371600" y="4800600"/>
            <a:ext cx="9601200" cy="749808"/>
          </a:xfrm>
          <a:prstGeom prst="roundRect">
            <a:avLst>
              <a:gd name="adj" fmla="val 12195"/>
            </a:avLst>
          </a:prstGeom>
          <a:solidFill>
            <a:srgbClr val="071B2E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4800600"/>
            <a:ext cx="9144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Beginner–Intermediate GRC learners   |   Deliverable: Mini GRC Program in a Box   |   Scenario set: PayFlow · NovaCare · MarketNest · Helios · Quanta · NDSA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Are: The Final Week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 of parts become one program — then a portfolio, then a job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94944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2.0 Functions covered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1680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4560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8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27984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artifacts to assemble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4720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97600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61024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companies available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47759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0639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94063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portfolio-ready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898648"/>
            <a:ext cx="11094415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5400">
            <a:solidFill>
              <a:srgbClr val="14827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3099816"/>
            <a:ext cx="420624" cy="420624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98448" y="2971800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— Capstone Build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206240" y="2971800"/>
            <a:ext cx="7162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every weekly artifact into one program mapped to GOVERN, IDENTIFY, PROTECT, DETECT, RESPOND, RECOVER. Assess maturity and write the executive summary.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831336"/>
            <a:ext cx="11094415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4032504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98448" y="390448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Launch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206240" y="3904488"/>
            <a:ext cx="7162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program into a résumé, a certification roadmap, an optimised LinkedIn profile, and a public portfolio.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764024"/>
            <a:ext cx="11094415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" y="4965192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965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98448" y="4837176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&amp; 90-Day Plan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206240" y="4837176"/>
            <a:ext cx="7162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GRC interview questions using your artifacts as evidence, then build a 90-day post-course roadmap.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GRC Capstone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 — Day 43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457200" cy="457200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49424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all Week 1–6 artifacts into a single Cybersecurity Program document set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consistent naming, versioning and ownership convention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2122" y="1481328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1578" y="1682496"/>
            <a:ext cx="457200" cy="457200"/>
          </a:xfrm>
          <a:prstGeom prst="ellipse">
            <a:avLst/>
          </a:prstGeom>
          <a:solidFill>
            <a:srgbClr val="1B4568"/>
          </a:solidFill>
          <a:ln/>
        </p:spPr>
      </p:sp>
      <p:sp>
        <p:nvSpPr>
          <p:cNvPr id="13" name="Text 11"/>
          <p:cNvSpPr/>
          <p:nvPr/>
        </p:nvSpPr>
        <p:spPr>
          <a:xfrm>
            <a:off x="455157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00218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69866" y="2249424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every artifact under the correct NIST CSF 2.0 Function and Category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the placement in one sentence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5605" y="1481328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5061" y="16824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335061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83701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3349" y="2249424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each control exists in terms of the company's risk and business model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control → risk → business impact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863340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8096" y="4064508"/>
            <a:ext cx="457200" cy="457200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40645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16736" y="406450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6384" y="4631436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current-state maturity across the six Functions using a 1–5 tier scale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three largest gaps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32122" y="3863340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51578" y="4064508"/>
            <a:ext cx="457200" cy="457200"/>
          </a:xfrm>
          <a:prstGeom prst="ellipse">
            <a:avLst/>
          </a:prstGeom>
          <a:solidFill>
            <a:srgbClr val="1B4568"/>
          </a:solidFill>
          <a:ln/>
        </p:spPr>
      </p:sp>
      <p:sp>
        <p:nvSpPr>
          <p:cNvPr id="28" name="Text 26"/>
          <p:cNvSpPr/>
          <p:nvPr/>
        </p:nvSpPr>
        <p:spPr>
          <a:xfrm>
            <a:off x="4551578" y="40645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00218" y="406450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69866" y="4631436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remediation by risk reduction per unit of effort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owners and target dates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15605" y="3863340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35061" y="406450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3" name="Text 31"/>
          <p:cNvSpPr/>
          <p:nvPr/>
        </p:nvSpPr>
        <p:spPr>
          <a:xfrm>
            <a:off x="8335061" y="40645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83701" y="406450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53349" y="4631436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one-page executive summary a non-technical board can act 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risk and money, not controls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Capstone: The Mini GRC Program in a Box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artifacts — every one of them was built in Weeks 1–6. Today they become a program.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114800"/>
                <a:gridCol w="2743200"/>
                <a:gridCol w="377921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CSF 2.0 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brief + glossary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 — Governance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 (GV.OC, GV.RR)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register (with quantitative example)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 — Risk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(ID.RA), GOVERN (GV.RM)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comparison matrix + gap assessment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 — Compliance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 (GV.OC), IDENTIFY (ID.IM)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report with findings (5 C's)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 — Audits &amp; Reporting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/ GOVERN (GV.OV)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inventory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 — Asset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(ID.AM)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policy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 — IAM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(PR.AA)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awareness program outline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 — Awareness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(PR.AT)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DLP policy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 — DLP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(PR.DS)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response runbook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 — 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 (RS.MA) / RECOVER (RC.RP)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/ vendor risk assessment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 — TPRM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 (GV.SC), IDENTIFY (ID.RA)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11 — the full program mapped to NIST CSF 2.0 plus a one-page executive summary — is what you build today.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Anchor Company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whole program against one company for continuity; borrow a second for contrast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377440"/>
                <a:gridCol w="3749040"/>
                <a:gridCol w="327629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&amp; 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Defining Condition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Stresses Your Program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Fintech · Lagos, Nigeria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Scaled 8 → 45 staff; exposed API key on public GitHub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policies, no IR plan — you build GOVERN from 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NovaCare Health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· Austin, USA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staff, legacy EHR + rushed telehealth; untested backups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everywhere; RECOVER is the weak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MarketNest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 · Manchester, UK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Post-breach: ~400,000 customer records exfiltrated via a third-party 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 inquiry — DETECT, RESPOND and TPRM must be airtight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Helios Grid Utilities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/ CI · Frankfurt, 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 staff; IT and OT governed by separate teams, no unified 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Flagship CSF program — safety impact, NIS2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Quanta Labs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SaaS · Bangalore, India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staff; no ISMS; two enterprise deals stalled in procurement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is revenue — PROTECT and GOVERN drive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· Nairobi, Kenya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 staff; biometric and tax records; parliamentary inquiry underway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800-53 / CSF program under public scrutiny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organisations are fictional, created for training. Suggested pairings: Fintech ↔ SaaS · Healthcare ↔ Retail · Energy ↔ Government.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 — The Program's Spine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GV: strategy, expectations and policy that set and monitor the risk management approach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E4F1E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ARTIFACTS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in this section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 — mandate, scope, risk appetite, reporting cadence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set — information security, acceptable use, data classification, third-party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responsibilities — RACI naming an accountable executive owner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— so the board and engineers use the same words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risk management statement (GV.SC)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comparison matrix showing which obligations apply and why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3008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2464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BF0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2464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Helios Grid Utilities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70752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IT and OT are governed by different teams with no unified security program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GOVERN section creates one steering committee with authority over both estates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appetite must be written in safety terms, not just data terms — an outage affects 1.4m customers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NIS2 and KRITIS demand demonstrable governance and incident reporting — name the reporting deadline in the policy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at PayFlow, GOVERN is one 6-page brief and four policies. Same Function, one-tenth the weight.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— Know What You Have and What Threatens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asset inventory, risk assessment, and improvement — the evidence base for every other Function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E4F1E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ARTIFACTS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in this section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inventory — systems, data stores, third parties, owners, criticality (ID.AM)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narrative — where regulated data enters, rests and leaves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— threat, vulnerability, likelihood, impact, inherent and residual rating (ID.RA)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quantitative risk entry — SLE × ARO = ALE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assessment output from your framework comparison matrix (ID.IM)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acceptance log with named approvers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3008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2464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BF0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2464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NDSA · Nairobi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70752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has never been an enterprise-wide risk assessment — your register is the first one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include national identity records, biometric data and tax data for the entire citizenry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misconfigured database briefly exposed citizen records — that becomes a real, dated register entry, not a hypothetical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scoring must include public trust and parliamentary consequence, not just financial loss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Helios needs one register spanning IT and OT, because no consolidated inventory exists across both.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— Safeguards That Actually Change Behaviour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PR: identity, awareness, data security and platform resilience — three of your artifacts live here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27450" cy="4416552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PR.AA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16736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 Policy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49424"/>
            <a:ext cx="307025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role-based access, joiner-mover-leaver, privileged access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access reviews with evidence retained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NovaCare: clinicians share logins at nursing stations and contractor accounts are rarely deactivated — your policy must name a de-provisioning SLA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2122" y="1481328"/>
            <a:ext cx="3527450" cy="4416552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1578" y="1682496"/>
            <a:ext cx="457200" cy="457200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13" name="Text 11"/>
          <p:cNvSpPr/>
          <p:nvPr/>
        </p:nvSpPr>
        <p:spPr>
          <a:xfrm>
            <a:off x="455157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00218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 Program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69866" y="2249424"/>
            <a:ext cx="307025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baseline, role-based modules, phishing simulation cadence, metrics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module inside the first week of hire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 Labs: no structured training despite scaling 30 → 180 staff — awareness is a named SOC 2 expectation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5605" y="1481328"/>
            <a:ext cx="3527450" cy="4416552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5061" y="16824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335061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83701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DLP Policy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3349" y="2249424"/>
            <a:ext cx="307025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tiers, channel coverage, blocking vs monitoring, exception handling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each rule to a classification label, not a file type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MarketNest: customer data is routinely copied into analytics environments and spreadsheets with no DLP — that is the control gap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— Finding It Before the Regulator Does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DE: continuous monitoring and adverse event analysis — plus the audit artifact that proves the controls 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E4F1E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ARTIFACTS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monitoring approach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 with findings written in the 5 C's: Criteria, Condition, Cause, Consequence, Corrective action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standard — what is logged, retained how long, reviewed by whom (DE.CM)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coverage map — which assets from your inventory are actually in scope of logging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 and escalation thresholds (DE.AE)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testing calendar — design vs operating effectiveness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tracker linking each finding back to a risk register ID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3008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2464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BF0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2464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MarketNest · Manchester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70752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the customer database is broad across engineering, support and marketing — with limited logging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breach ran through a vulnerable third-party support plugin; nobody was watching that integration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DETECT section must prove coverage of third-party integrations, not just first-party systems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finding fully in the 5 C's — the ICO inquiry will read exactly this level of detail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Helios must monitor OT where agents cannot be installed — passive network monitoring instead.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 — The Incident Response Runbook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RS: management, analysis, reporting and mitigation — the artifact most interviewers ask you to walk through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559052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5590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157276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&amp; Declare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0" y="157276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source, triage criteria, severity matrix, who has authority to declare an incident and at what hour.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336292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3362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235000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&amp; Analyse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0" y="235000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blast radius against the asset inventory: what data, which systems, which third parties, how many records.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3580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113532"/>
            <a:ext cx="420624" cy="420624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1135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312724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0" y="312724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and long-term containment options with a named decision-maker. Preserve evidence before you wipe anything.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81304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89077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8907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390448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72000" y="390448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and customer clocks: UK GDPR 72 hours for MarketNest; HIPAA breach notification for NovaCare; NIS2 early warning for Helios.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59028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4668012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6680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98448" y="468172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Eradicate &amp; Recover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572000" y="468172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root cause, restore from tested backups, verify integrity before returning the service to production.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36752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" y="5445252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4452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98448" y="545896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Post-Incident Review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572000" y="545896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review within 10 business days; feed lessons into the risk register and the awareness program.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— Resilience and the Learning Loop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RC: recovery plan execution and communication — the Function most learner programs leave thinnest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E4F1E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ARTIFACTS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BCP / DR notes + lessons learned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analysis: RTO and RPO per critical service, agreed by the business (RC.RP)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standard — frequency, immutability, offline copy, and a restoration test schedule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runbook per critical system, with the order of restoration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communications plan — customers, regulators, staff, media (RC.CO)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Lessons-learned process: findings routed to risk register, policy, and training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tabletop exercise with dated evidence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3008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2464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BF0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2464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NovaCare Health · Austin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70752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exist but have never been tested for restoration — that is a RECOVER finding, not an IT footnote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nearby hospital was crippled by ransomware and patient care stopped for days; the board is now watching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for the EHR is a clinical safety decision — the Chief Medical Officer signs it, not the IT manager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one restoration test with a date, a tester and a result. Untested equals non-existent.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for Helios, recovery means restoring grid control safely — physical outage risk, not data loss.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 → Function Crosswalk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must land under a Function, and every Function must have evidence. Gaps here are gaps in your program.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840480"/>
                <a:gridCol w="2316175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CSF 2.0 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You Are Claiming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Artifact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strategy, roles and policy are set and overseen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brief · policy set · RACI · glossary · framework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there a named accountable executive?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Assets, risks and gaps are understood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inventory · risk register (with ALE) · gap 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you trace a control to a register ID?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Safeguards limit likelihood and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policy · awareness outline · DLP 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each policy tied to a data classification?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are found and analysed in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report (5 C's) · logging standard · monitoring coverage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third-party integrations in scope?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Incidents are managed and reported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runbook · severity matrix · notification clocks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declares, and within how many hours?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and communications are restored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BCP/DR notes · RTO/RPO table · lessons-learned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a restoration actually been tested?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a Function has no artifact, say so in the executive summary. An honest gap scores higher than a bluff.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Artifacts to Risk and Business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artifact means different things depending on how the company makes money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200400"/>
                <a:gridCol w="3017520"/>
                <a:gridCol w="3276295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Model Pressure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 That Carries the Weight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international payment partnerships requiring PCI DSS and ISO 27001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exposure — an API key surfaced on public GitHub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policy + IR runbook + framework comparison matrix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NovaCare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Telehealth contract renewal depends on SOC 2 / HITRUST 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 halting patient care; untested backups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BCP/DR notes + risk register (HIPAA risk analysis)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MarketNest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trust — 15,000 sellers and an open ICO inquiry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Uncontrolled data copying and unvetted SaaS (shadow 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DLP policy + third-party risk assessment + audit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Regulated distribution to 1.4m customers under NIS2 / KRITIS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 compromise causing physical outage and public-safety 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inventory (IT+OT) + governance brief + vendor remote access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Quanta Labs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enterprise deals stalled pending SOC 2 Type II / ISO 27001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engineer access to production customer HR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policy + awareness program + gap 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 funding released only on demonstrable governance and audit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Informally held privileged access across staff and contractors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brief + risk register + PAM section of IAM 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translation: 'We prioritised DLP at MarketNest because the revenue risk was seller churn after a 400,000-record breach — not because DLP is on a checklist.'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Artifact, Different Company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one artifact — the IAM policy — and watch it change shape across four scenarios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581580" cy="4279392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1682496"/>
            <a:ext cx="159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NovaCare Health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49424"/>
            <a:ext cx="212438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clinical logins at busy nursing stations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emphasis: break-glass accounts, badge-tap re-authentication, contractor de-provisioning SLA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Driver: HIPAA Security Rule access control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6252" y="1481328"/>
            <a:ext cx="2581580" cy="4279392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05708" y="1682496"/>
            <a:ext cx="457200" cy="457200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13" name="Text 11"/>
          <p:cNvSpPr/>
          <p:nvPr/>
        </p:nvSpPr>
        <p:spPr>
          <a:xfrm>
            <a:off x="360570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54348" y="1682496"/>
            <a:ext cx="159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Helios Grid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23996" y="2249424"/>
            <a:ext cx="212438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remote-access paths into OT are poorly inventoried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emphasis: brokered vendor access, session recording, IT/OT identity reconciliation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Driver: NIS2 and IEC 62443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23864" y="1481328"/>
            <a:ext cx="2581580" cy="4279392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3320" y="16824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4332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1960" y="1682496"/>
            <a:ext cx="159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 Labs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61608" y="2249424"/>
            <a:ext cx="212438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hold broad standing access to production customer data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emphasis: just-in-time access, secrets management, quarterly access review evidence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Driver: SOC 2 CC6 and ISO 27001 A.5.15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61475" y="1481328"/>
            <a:ext cx="2581580" cy="4279392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80931" y="1682496"/>
            <a:ext cx="457200" cy="457200"/>
          </a:xfrm>
          <a:prstGeom prst="ellipse">
            <a:avLst/>
          </a:prstGeom>
          <a:solidFill>
            <a:srgbClr val="1B4568"/>
          </a:solidFill>
          <a:ln/>
        </p:spPr>
      </p:sp>
      <p:sp>
        <p:nvSpPr>
          <p:cNvPr id="23" name="Text 21"/>
          <p:cNvSpPr/>
          <p:nvPr/>
        </p:nvSpPr>
        <p:spPr>
          <a:xfrm>
            <a:off x="9280931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29571" y="1682496"/>
            <a:ext cx="159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NDSA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99219" y="2249424"/>
            <a:ext cx="212438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widely and informally held; poor offboarding of staff and vendors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emphasis: full PAM with vaulting, approval workflow, quarterly recertification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Driver: NIST SP 800-53 AC family, Kenya DPA 2019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Quantitative Entry in Your Risk Register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risk expressed in money — this is the entry executives will actually read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£320k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94944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 — single loss expectancy per breach event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1680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4560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8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27984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 — annualised rate of occurrence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4720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97600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£128k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61024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— annualised loss expectancy (SLE × ARO)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47759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0639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£45k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94063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control cost — DLP + vendor review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852928"/>
            <a:ext cx="11094415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" y="3054096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MarketNest, Risk ID R-014: unauthorised disclosure of customer PII via an unvetted third-party integration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3511296"/>
            <a:ext cx="104543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value basis: ~400,000 customer records already proven exposed in the live breach — this is observed, not modelled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 components: regulatory exposure under UK GDPR, forensic and legal costs, seller churn, and remediation engineering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 justification: one confirmed event in four years of operation, adjusted upward for the volume of unreviewed SaaS tools in use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response: mitigate. Expected annual benefit £128k against £45k control cost gives a positive risk-adjusted return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 after DLP and mandatory vendor security review: ALE reduced to an estimated £38k — accepted by the CFO, recorded with a date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rule: state your assumptions on the same page as your number. A defensible estimate beats a confident guess.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8704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structure for your own company — one quantified risk is enough to prove you can speak the language of the business.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Maturity: Current State and Gaps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Function 1–5, state the evidence, and name the single next action — example: Quanta Labs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3977640"/>
                <a:gridCol w="3733495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Tier (1–5)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Behind the 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Gap → Next 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Repeatable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exist but are ad hoc; no ISMS scope statement signed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executive risk owner → appoint and charter a security steering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Repeatable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asset list from the CSP console; risk register started this quarter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data-flow map for client HR data → complete before the ISO stage 1 audit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Repeatable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policy drafted; awareness program outlined but not launched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standing engineer access to production → implement just-in-time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Initial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 and monitoring are minimal; no defined alert thresholds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log review process → define a daily triage owner and retention period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Repeatable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runbook written; severity matrix agreed; never exercised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tabletop performed → run one exercise and retain the after-action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Initial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 backups in place; no documented RTO/RPO or restoration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Untested recovery → test one restoration and record RTO achieved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current-state maturity: 1.7 / 5. Target after a 12-month roadmap: 3.2 / 5. Say the number out loud — vague maturity claims collapse under questioning.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1482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 Your Program in a Box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Inventory (10 min)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artifact you produced in Weeks 1–6 against the ten-item capstone list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one: complete, partial, or missing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start writing new content yet — audit first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6026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3770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Structure (20 min)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2058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single contents page ordered GOVERN → IDENTIFY → PROTECT → DETECT → RESPOND → RECOVER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artifact a version number, an owner and a review date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one-line purpose statement under each artifact title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3-sentence company context page so a stranger can read the program cold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3413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1157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Stitch (15 min)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9445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cross-references: each control in a policy cites a risk register ID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audit finding cites the control it tested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IR notification step cites the applicable regulator and clock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Function with no evidence — you will report it honestly, not hide 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E4F1E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468112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single navigable Cybersecurity Program document for your anchor company, with an explicit contents page and no orphaned artifacts.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1482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Controls to Risks for One Scenario Company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(5 min)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company you have NOT been using all program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contrasts: Helios ↔ NDSA, or NovaCare ↔ MarketNest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 the scenario brief — you have 5 minutes, exactly like a real onboarding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6026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3770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mapping (25 min)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2058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five highest risks from the scenario narrative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each: name the control, the CSF 2.0 Function and Category, the artifact that documents it, and the evidence you would collect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whether the control is preventive, detective or corrective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risk you would accept rather than treat — and justify 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3413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1157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it (15 min)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9445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up. Your partner plays the CFO and asks: why this control and not a cheaper one?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answer in business terms — revenue, regulatory exposure, safety, or trust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roles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strongest objection you could not answer. That is your homework gap.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E4F1E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468112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five-row control-to-risk mapping table you can drop straight into an interview as a worked example.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1482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Your Maturity and Peer-Review It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Self-score (15 min)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six Functions 1–5 using the tier definitions: Initial, Repeatable, Defined, Managed, Optimised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 each score, write the single piece of evidence that justifies it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means the score is a 1. Be strict with yourself.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6026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3770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challenge (15 min)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2058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programs with a partner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partner's job is to lower one score by finding the missing evidence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finds: a policy with no owner, an IR plan never exercised, a backup never restored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challenge — these become your roadmap items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3413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1157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Prioritise (15 min)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9445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your three biggest gaps by risk reduction per unit of effort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an owner role, a target quarter and a rough cost band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sentence per gap describing the business consequence of doing nothing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ranked list is the closing section of your executive summary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E4F1E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468112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scored maturity table with evidence, a peer-validated gap list, and a three-item prioritised roadmap.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Self-Check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both out loud, to a person, before you leave 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71B2E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81328"/>
            <a:ext cx="103263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you walk through what happens, step by step, from the moment an incident is detected — and explain how you'd vet a new SaaS vendor?”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539642" cy="2606040"/>
          </a:xfrm>
          <a:prstGeom prst="roundRect">
            <a:avLst>
              <a:gd name="adj" fmla="val 2807"/>
            </a:avLst>
          </a:prstGeom>
          <a:solidFill>
            <a:srgbClr val="12365A"/>
          </a:solidFill>
          <a:ln w="12700">
            <a:solidFill>
              <a:srgbClr val="2A5B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3291840"/>
            <a:ext cx="3100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 answer both fluently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86384" y="3730752"/>
            <a:ext cx="30824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narrate DETECT → RESPOND → RECOVER without notes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who declares an incident and which clock starts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vendor due-diligence evidence you would request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ready for Day 44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6026" y="3108960"/>
            <a:ext cx="3539642" cy="2606040"/>
          </a:xfrm>
          <a:prstGeom prst="roundRect">
            <a:avLst>
              <a:gd name="adj" fmla="val 2807"/>
            </a:avLst>
          </a:prstGeom>
          <a:solidFill>
            <a:srgbClr val="12365A"/>
          </a:solidFill>
          <a:ln w="12700">
            <a:solidFill>
              <a:srgbClr val="2A5B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5482" y="3291840"/>
            <a:ext cx="3100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hesitate on the incident half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3770" y="3730752"/>
            <a:ext cx="30824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your IR runbook and rehearse it against MarketNest's plugin breach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the severity call: what makes this a Sev 1 rather than a Sev 3?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the notification clock out loud — 72 hours under UK GDPR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3413" y="3108960"/>
            <a:ext cx="3539642" cy="2606040"/>
          </a:xfrm>
          <a:prstGeom prst="roundRect">
            <a:avLst>
              <a:gd name="adj" fmla="val 2807"/>
            </a:avLst>
          </a:prstGeom>
          <a:solidFill>
            <a:srgbClr val="12365A"/>
          </a:solidFill>
          <a:ln w="12700">
            <a:solidFill>
              <a:srgbClr val="2A5B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2869" y="3291840"/>
            <a:ext cx="3100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hesitate on the vendor half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41157" y="3730752"/>
            <a:ext cx="30824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your third-party risk assessment from Week 6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the tiering logic: what data does the vendor touch, and can it reach production?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evidence list: SOC 2 Type II, ISO 27001 certificate and scope, pen test summary, DPA, sub-processor list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704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most common pair of questions in an entry-level GRC interview. Day 45 will drill it formally — but you should already be able to answer it now.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43 — Capstone Build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7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DAY 43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One-Page Executive Summary of Your Program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write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Hard limit. No appendices.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1 — the mandate: what the company does, what it must protect, why now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2 — what the program covers, framed by the six CSF 2.0 Functions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3 — current maturity with the weighted score, and the evidence behind it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4 — the three prioritised gaps, each with an owner, a cost band and a business consequence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— the single decision you are asking the executive to make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6026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3770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write 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2058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risk and money. Controls are the answer, not the headline.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acronyms without expansion on first use — that is what the glossary is for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maturity as a number and a date, never as 'improving'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honest gaps. A stated gap with a plan reads as competence; a hidden gap reads as a surprise later.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aloud. If a sentence needs a second reading, cut 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3413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1157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assessed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9445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non-technical board member know what to approve after one read?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claim traceable to an artifact in the program?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maturity score defensible under one follow-up question?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fit on one page at 11pt with normal margins?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to Day 44 — this page becomes the centrepiece of your portfolio and a résumé bullet.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FBF0DC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468112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at the start of Day 44. Submit the executive summary plus your assembled program contents page.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GRC Mastery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Day 43 — Capstone: Mini Cybersecurity Program Build</dc:title>
  <dc:subject>NIST CSF 2.0 capstone assembly for GRC learners</dc:subject>
  <dc:creator>Cybersecurity GRC Mastery Program</dc:creator>
  <cp:lastModifiedBy>Cybersecurity GRC Mastery Program</cp:lastModifiedBy>
  <cp:revision>1</cp:revision>
  <dcterms:created xsi:type="dcterms:W3CDTF">2026-07-25T22:27:57Z</dcterms:created>
  <dcterms:modified xsi:type="dcterms:W3CDTF">2026-07-25T22:27:57Z</dcterms:modified>
</cp:coreProperties>
</file>