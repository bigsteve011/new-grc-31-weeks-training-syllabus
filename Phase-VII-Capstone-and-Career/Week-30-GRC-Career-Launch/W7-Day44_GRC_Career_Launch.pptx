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071B2E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233172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2788920"/>
            <a:ext cx="310896" cy="310896"/>
          </a:xfrm>
          <a:prstGeom prst="ellipse">
            <a:avLst/>
          </a:prstGeom>
          <a:solidFill>
            <a:srgbClr val="3FA79B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3246120"/>
            <a:ext cx="310896" cy="310896"/>
          </a:xfrm>
          <a:prstGeom prst="ellipse">
            <a:avLst/>
          </a:prstGeom>
          <a:solidFill>
            <a:srgbClr val="4E7FA8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4173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44 · CAREER LAUNCH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GRC Career Launch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37160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6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your capstone program into a résumé, a certification roadmap, an optimised LinkedIn profile and a public portfolio.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371600" y="4800600"/>
            <a:ext cx="9601200" cy="749808"/>
          </a:xfrm>
          <a:prstGeom prst="roundRect">
            <a:avLst>
              <a:gd name="adj" fmla="val 12195"/>
            </a:avLst>
          </a:prstGeom>
          <a:solidFill>
            <a:srgbClr val="071B2E"/>
          </a:solidFill>
          <a:ln w="12700">
            <a:solidFill>
              <a:srgbClr val="2750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4800600"/>
            <a:ext cx="9144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Beginner–Intermediate GRC learners   |   Input: your Mini GRC Program in a Box   |   Output: interview-ready career assets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44 — Career Launch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 — Day 44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the work yesterday. Today you make it legible to recruiters and hiring managers.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527450" cy="212598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82496"/>
            <a:ext cx="457200" cy="457200"/>
          </a:xfrm>
          <a:prstGeom prst="ellipse">
            <a:avLst/>
          </a:prstGeom>
          <a:solidFill>
            <a:srgbClr val="14827A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16736" y="1682496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Locate Yourself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6384" y="2249424"/>
            <a:ext cx="307025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the five common entry routes into GRC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route your capstone evidence best supports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32122" y="1481328"/>
            <a:ext cx="3527450" cy="212598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51578" y="1682496"/>
            <a:ext cx="457200" cy="457200"/>
          </a:xfrm>
          <a:prstGeom prst="ellipse">
            <a:avLst/>
          </a:prstGeom>
          <a:solidFill>
            <a:srgbClr val="1B4568"/>
          </a:solidFill>
          <a:ln/>
        </p:spPr>
      </p:sp>
      <p:sp>
        <p:nvSpPr>
          <p:cNvPr id="13" name="Text 11"/>
          <p:cNvSpPr/>
          <p:nvPr/>
        </p:nvSpPr>
        <p:spPr>
          <a:xfrm>
            <a:off x="4551578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00218" y="1682496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a Certification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69866" y="2249424"/>
            <a:ext cx="307025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one target certification aligned to your route and budget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the certifications that do not serve it — yet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15605" y="1481328"/>
            <a:ext cx="3527450" cy="212598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5061" y="16824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335061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83701" y="1682496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Translate Artifacts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53349" y="2249424"/>
            <a:ext cx="307025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each weekly deliverable into a résumé bullet with a verb, an object and a result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863340"/>
            <a:ext cx="3527450" cy="212598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8096" y="4064508"/>
            <a:ext cx="457200" cy="457200"/>
          </a:xfrm>
          <a:prstGeom prst="ellipse">
            <a:avLst/>
          </a:prstGeom>
          <a:solidFill>
            <a:srgbClr val="14827A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" y="40645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16736" y="4064508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 Impact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86384" y="4631436"/>
            <a:ext cx="307025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 number to work that had no salary attached to it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scope, coverage, count and reduction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32122" y="3863340"/>
            <a:ext cx="3527450" cy="212598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51578" y="4064508"/>
            <a:ext cx="457200" cy="457200"/>
          </a:xfrm>
          <a:prstGeom prst="ellipse">
            <a:avLst/>
          </a:prstGeom>
          <a:solidFill>
            <a:srgbClr val="1B4568"/>
          </a:solidFill>
          <a:ln/>
        </p:spPr>
      </p:sp>
      <p:sp>
        <p:nvSpPr>
          <p:cNvPr id="28" name="Text 26"/>
          <p:cNvSpPr/>
          <p:nvPr/>
        </p:nvSpPr>
        <p:spPr>
          <a:xfrm>
            <a:off x="4551578" y="40645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00218" y="4064508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Honestly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69866" y="4631436"/>
            <a:ext cx="307025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scenario companies as simulated project work — never as employment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survives the reference check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15605" y="3863340"/>
            <a:ext cx="3527450" cy="212598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35061" y="406450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3" name="Text 31"/>
          <p:cNvSpPr/>
          <p:nvPr/>
        </p:nvSpPr>
        <p:spPr>
          <a:xfrm>
            <a:off x="8335061" y="40645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883701" y="4064508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Optimise LinkedIn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353349" y="4631436"/>
            <a:ext cx="307025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headline, About and Skills around GRC search keywords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the portfolio where recruiters actually click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44 — Career Launch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GRC Career Landscape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risk and compliance is where security meets the business — and where writing is a technical skill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2595296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609344"/>
            <a:ext cx="222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94944" y="2167128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entry-level role titles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1680" y="1481328"/>
            <a:ext cx="2595296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4560" y="1609344"/>
            <a:ext cx="222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8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27984" y="2167128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types: in-house, consultancy, audit firm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4720" y="1481328"/>
            <a:ext cx="2595296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97600" y="1609344"/>
            <a:ext cx="222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61024" y="2167128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you now have that most applicants do not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47759" y="1481328"/>
            <a:ext cx="2595296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30639" y="1609344"/>
            <a:ext cx="222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94063" y="2167128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CSF Functions you can speak to fluently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2852928"/>
            <a:ext cx="5410048" cy="3044952"/>
          </a:xfrm>
          <a:prstGeom prst="roundRect">
            <a:avLst>
              <a:gd name="adj" fmla="val 2402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86384" y="3017520"/>
            <a:ext cx="493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GRC actually rewards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4672" y="3474720"/>
            <a:ext cx="4897984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writing under scrutiny — policies, findings, briefs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literacy: ISO 27001, NIST CSF 2.0, SOC 2, GDPR, HIPAA, NIS2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discipline: if it is not documented and dated, it did not happen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nerve — telling an engineering lead their control failed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between technical detail and business consequence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33008" y="2852928"/>
            <a:ext cx="5410048" cy="3044952"/>
          </a:xfrm>
          <a:prstGeom prst="roundRect">
            <a:avLst>
              <a:gd name="adj" fmla="val 2402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70752" y="3017520"/>
            <a:ext cx="493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roles sit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89040" y="3474720"/>
            <a:ext cx="4897984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security or risk team — you own the program end to end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Consultancy — you run assessments across many client environments, fast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firm — you test controls and write findings for a living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sectors hire hardest: finance, healthcare, energy, government, SaaS serving enterprise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scenario company in this course maps to one of these employers.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44 — Career Launch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Common Entry Roles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skill base, different centre of gravity — pick the one your evidence already supports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00400"/>
                <a:gridCol w="3291840"/>
                <a:gridCol w="2499055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Do Daily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Artifact That Proves You Can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First Employer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GRC Analyst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 the risk register, run control assessments, chase evidence, support audits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program mapped to NIST CSF 2.0 + risk register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In-house security team; MSSP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Auditor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control design and operating effectiveness; write findings; agree management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report with findings in the 5 C's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4 / mid-tier audit firm; internal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Analyst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obligations to controls, manage evidence for certification, answer questionnaires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comparison matrix + gap assessment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SaaS, fintech, healthcare compliance teams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Analyst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Quantify and report risk, run risk workshops, track treatment plans and acceptances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register with a quantified ALE entry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Banks, insurers, energy, large enterprise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Analyst (GRC-leaning)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 control implementation with monitoring, awareness, and incident 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runbook + DLP policy + awareness program outline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Mid-size in-house security 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8932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five résumés. You need one résumé aimed at one of these five titles, with the matching artifact at the top.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44 — Career Launch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Hiring Managers Actually Screen For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roughly this order — most candidates optimise the last row and neglect the first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527450" cy="212598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82496"/>
            <a:ext cx="457200" cy="45720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16736" y="1682496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you write?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6384" y="2249424"/>
            <a:ext cx="307025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résumé and LinkedIn are the writing sample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typo in a policy costs an auditor's confidence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Screen-out is fast and unspoken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32122" y="1481328"/>
            <a:ext cx="3527450" cy="212598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51578" y="1682496"/>
            <a:ext cx="457200" cy="457200"/>
          </a:xfrm>
          <a:prstGeom prst="ellipse">
            <a:avLst/>
          </a:prstGeom>
          <a:solidFill>
            <a:srgbClr val="14827A"/>
          </a:solidFill>
          <a:ln/>
        </p:spPr>
      </p:sp>
      <p:sp>
        <p:nvSpPr>
          <p:cNvPr id="13" name="Text 11"/>
          <p:cNvSpPr/>
          <p:nvPr/>
        </p:nvSpPr>
        <p:spPr>
          <a:xfrm>
            <a:off x="4551578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00218" y="1682496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you done the thing?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69866" y="2249424"/>
            <a:ext cx="307025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'familiar with ISO 27001' — 'produced a gap assessment against ISO 27001:2022'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beat adjectives every time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15605" y="1481328"/>
            <a:ext cx="3527450" cy="212598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5061" y="1682496"/>
            <a:ext cx="457200" cy="457200"/>
          </a:xfrm>
          <a:prstGeom prst="ellipse">
            <a:avLst/>
          </a:prstGeom>
          <a:solidFill>
            <a:srgbClr val="1B4568"/>
          </a:solidFill>
          <a:ln/>
        </p:spPr>
      </p:sp>
      <p:sp>
        <p:nvSpPr>
          <p:cNvPr id="18" name="Text 16"/>
          <p:cNvSpPr/>
          <p:nvPr/>
        </p:nvSpPr>
        <p:spPr>
          <a:xfrm>
            <a:off x="8335061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83701" y="1682496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you know the frameworks?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53349" y="2249424"/>
            <a:ext cx="307025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Named, versioned, and correctly scoped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 has six Functions — getting this wrong is disqualifying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863340"/>
            <a:ext cx="3527450" cy="212598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8096" y="406450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" y="40645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16736" y="4064508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 you chase evidence?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86384" y="4631436"/>
            <a:ext cx="307025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is 40% polite persistence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moment you followed up until a control owner responded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32122" y="3863340"/>
            <a:ext cx="3527450" cy="212598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51578" y="4064508"/>
            <a:ext cx="457200" cy="45720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8" name="Text 26"/>
          <p:cNvSpPr/>
          <p:nvPr/>
        </p:nvSpPr>
        <p:spPr>
          <a:xfrm>
            <a:off x="4551578" y="40645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00218" y="4064508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69866" y="4631436"/>
            <a:ext cx="307025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open the screen; they do not close the interview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relevant certification beats three unrelated ones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15605" y="3863340"/>
            <a:ext cx="3527450" cy="212598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35061" y="4064508"/>
            <a:ext cx="457200" cy="457200"/>
          </a:xfrm>
          <a:prstGeom prst="ellipse">
            <a:avLst/>
          </a:prstGeom>
          <a:solidFill>
            <a:srgbClr val="14827A"/>
          </a:solidFill>
          <a:ln/>
        </p:spPr>
      </p:sp>
      <p:sp>
        <p:nvSpPr>
          <p:cNvPr id="33" name="Text 31"/>
          <p:cNvSpPr/>
          <p:nvPr/>
        </p:nvSpPr>
        <p:spPr>
          <a:xfrm>
            <a:off x="8335061" y="40645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883701" y="4064508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Tooling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353349" y="4631436"/>
            <a:ext cx="307025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platforms, spreadsheets, ticketing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on the job — never the reason you are rejected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44 — Career Launch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Certification Landscape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one. Finish it. Then choose the next — sequencing beats collecting.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017520"/>
                <a:gridCol w="2743200"/>
                <a:gridCol w="2590495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Prerequisite Reality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Signals to Employers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CompTIA Security+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 changers with no security background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entry 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security literacy; clears HR filters and many public-sector screens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ISC2 CC (Certified in Cybersecurity)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beginners needing a first credential fast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entry 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Foundational vocabulary; cheap and quick, but light on its 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ISO/IEC 27001 Lead Implementer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 targeting ISMS build-out work (Quanta Labs profile)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formal; ISMS understanding assumed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can stand up a management system, not just talk about 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ISO/IEC 27001 Lead Auditor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Aspiring auditors and consultancy roles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formal; audit exposure helps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can plan and run a conformity audit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ISACA CISA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audit as a career (audit firm or internal audit)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 now, 5 years' experience for full certification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strongest audit signal in the market; pass first, certify later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ISC2 CGRC (formerly CAP)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Authorisation, RMF and government-adjacent work (NDSA profile)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 requirement for full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Fluency in NIST SP 800-53 and the Risk Management Framework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ISACA CRISC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analyst track, once you have experience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years' relevant experience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risk quantification and treatment credibility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8932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the exam and holding the certification are different things — CISA and CGRC allow you to pass first and certify once experience accrues. Say so accurately on your résumé.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44 — Career Launch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Your Target Certification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five-question decision, answered once, then committed to for one study cycle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4415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36776"/>
            <a:ext cx="420624" cy="420624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15727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role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0" y="1572768"/>
            <a:ext cx="6796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five entry roles are you applying for in the next six months? Pick one. The certification follows the role, never the other way around.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414016"/>
            <a:ext cx="11094415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569464"/>
            <a:ext cx="420624" cy="420624"/>
          </a:xfrm>
          <a:prstGeom prst="ellipse">
            <a:avLst/>
          </a:prstGeom>
          <a:solidFill>
            <a:srgbClr val="14827A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69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250545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job ads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0" y="2505456"/>
            <a:ext cx="6796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ten live postings for that title in your market. Count which certifications actually appear. Ignore forum opinion; count the ads.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46704"/>
            <a:ext cx="11094415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502152"/>
            <a:ext cx="420624" cy="420624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98448" y="343814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eligibility honestly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0" y="3438144"/>
            <a:ext cx="6796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and CRISC carry experience requirements for full certification. Confirm whether you can pass now and certify later, and say that accurately.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279392"/>
            <a:ext cx="11094415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443484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4434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98448" y="43708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to your evidence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572000" y="4370832"/>
            <a:ext cx="6796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track → ISO 27001 Lead Auditor or CISA. ISMS build track → ISO 27001 Lead Implementer. Government or RMF track → CGRC. No background at all → Security+ or CC.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212080"/>
            <a:ext cx="11094415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5367528"/>
            <a:ext cx="420624" cy="420624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5367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98448" y="5303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to a date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572000" y="5303520"/>
            <a:ext cx="6796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the exam before you start studying. An unbooked exam is a hobby; a booked exam is a plan. This becomes days 1–60 of your 90-day roadmap.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44 — Career Launch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Résumé Architecture for GRC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for under five years of experience, two at most — and the top third decides everything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10048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82496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E4F1E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82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096" y="2084832"/>
            <a:ext cx="497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goes where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6384" y="2560320"/>
            <a:ext cx="495284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— name, target title, city, email, LinkedIn URL, portfolio URL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summary — three lines naming the role, the frameworks and the evidence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competencies — 8–12 keyword phrases, not a skills bar chart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/ practical experience — your capstone, treated as a project engagement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experience — prior roles, rewritten toward transferable GRC verbs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and education — status stated accurately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33008" y="1481328"/>
            <a:ext cx="5410048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52464" y="1682496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FBF0DC"/>
          </a:solidFill>
          <a:ln/>
        </p:spPr>
      </p:sp>
      <p:sp>
        <p:nvSpPr>
          <p:cNvPr id="13" name="Text 11"/>
          <p:cNvSpPr/>
          <p:nvPr/>
        </p:nvSpPr>
        <p:spPr>
          <a:xfrm>
            <a:off x="6452464" y="1682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THIRD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52464" y="2084832"/>
            <a:ext cx="497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summary example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70752" y="2560320"/>
            <a:ext cx="495284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“GRC Analyst with hands-on experience building an information security program mapped to all six NIST CSF 2.0 Functions.”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“Delivered a risk register with quantified annualised loss exposure, an ISO 27001:2022 gap assessment, an IAM and DLP policy set, and an incident response runbook.”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“CompTIA Security+ certified; ISO/IEC 27001 Lead Implementer exam booked for [month].”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what it does not say: no 'passionate', no 'detail-oriented', no 'seeking an opportunity'.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those three lines is traceable to a document you can attach.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44 — Career Launch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an Artifact Into a Résumé Bullet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formula: strong verb + specific artifact + named framework + scope or result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4415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36776"/>
            <a:ext cx="420624" cy="420624"/>
          </a:xfrm>
          <a:prstGeom prst="ellipse">
            <a:avLst/>
          </a:prstGeom>
          <a:solidFill>
            <a:srgbClr val="9A3B3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15727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0" y="1572768"/>
            <a:ext cx="6796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“Familiar with risk management and helped with security policies.”  No verb, no artifact, no framework, no scope. This is invisible to a recruiter and unusable in an interview.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414016"/>
            <a:ext cx="11094415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569464"/>
            <a:ext cx="420624" cy="420624"/>
          </a:xfrm>
          <a:prstGeom prst="ellipse">
            <a:avLst/>
          </a:prstGeom>
          <a:solidFill>
            <a:srgbClr val="1B4568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69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250545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formula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0" y="2505456"/>
            <a:ext cx="6796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[Built / Assessed / Mapped / Tested / Authored] + [artifact] + [framework, versioned] + [scope: count, coverage, or reduction] + [outcome the business cared about].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46704"/>
            <a:ext cx="11094415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502152"/>
            <a:ext cx="420624" cy="420624"/>
          </a:xfrm>
          <a:prstGeom prst="ellipse">
            <a:avLst/>
          </a:prstGeom>
          <a:solidFill>
            <a:srgbClr val="14827A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98448" y="343814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0" y="3438144"/>
            <a:ext cx="6796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“Authored an IAM policy for a simulated fintech (PayFlow) covering joiner-mover-leaver, privileged access and quarterly access review, mapped to NIST CSF 2.0 PR.AA and ISO 27001:2022 A.5.15.”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279392"/>
            <a:ext cx="11094415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4434840"/>
            <a:ext cx="420624" cy="420624"/>
          </a:xfrm>
          <a:prstGeom prst="ellipse">
            <a:avLst/>
          </a:prstGeom>
          <a:solidFill>
            <a:srgbClr val="14827A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4434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98448" y="43708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572000" y="4370832"/>
            <a:ext cx="6796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“Built a risk register of 22 risks with a quantified annualised loss expectancy of £128k for the top exposure, driving prioritisation of DLP over four lower-value controls.”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212080"/>
            <a:ext cx="11094415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5367528"/>
            <a:ext cx="420624" cy="420624"/>
          </a:xfrm>
          <a:prstGeom prst="ellipse">
            <a:avLst/>
          </a:prstGeom>
          <a:solidFill>
            <a:srgbClr val="14827A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5367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98448" y="5303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572000" y="5303520"/>
            <a:ext cx="6796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“Tested six controls and documented findings using the 5 C's — criteria, condition, cause, consequence, corrective action — with agreed remediation owners and dates.”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44 — Career Launch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Quantify Impact Without a Salary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claim revenue you did not earn — so quantify scope, coverage, count and reduction instead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2581580" cy="4416552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82496"/>
            <a:ext cx="457200" cy="45720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16736" y="1682496"/>
            <a:ext cx="1594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6384" y="2249424"/>
            <a:ext cx="2124380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risks registered, controls tested, policies authored, vendors assessed, assets inventoried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“22 risks · 6 controls tested · 4 policies · 12 vendors tiered”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is honest and instantly credible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6252" y="1481328"/>
            <a:ext cx="2581580" cy="4416552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05708" y="1682496"/>
            <a:ext cx="457200" cy="457200"/>
          </a:xfrm>
          <a:prstGeom prst="ellipse">
            <a:avLst/>
          </a:prstGeom>
          <a:solidFill>
            <a:srgbClr val="14827A"/>
          </a:solidFill>
          <a:ln/>
        </p:spPr>
      </p:sp>
      <p:sp>
        <p:nvSpPr>
          <p:cNvPr id="13" name="Text 11"/>
          <p:cNvSpPr/>
          <p:nvPr/>
        </p:nvSpPr>
        <p:spPr>
          <a:xfrm>
            <a:off x="3605708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54348" y="1682496"/>
            <a:ext cx="1594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23996" y="2249424"/>
            <a:ext cx="2124380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proportion of the estate, the framework or the obligation you covered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“Gap assessment covering all 93 Annex A controls of ISO 27001:2022”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“Monitoring coverage mapped across 100% of internet-facing assets”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23864" y="1481328"/>
            <a:ext cx="2581580" cy="4416552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3320" y="16824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443320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91960" y="1682496"/>
            <a:ext cx="1594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61608" y="2249424"/>
            <a:ext cx="2124380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or measured decrease in exposure — state that it is modelled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“Modelled residual annualised loss expectancy falling from £128k to £38k after DLP and mandatory vendor review”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61475" y="1481328"/>
            <a:ext cx="2581580" cy="4416552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80931" y="1682496"/>
            <a:ext cx="457200" cy="457200"/>
          </a:xfrm>
          <a:prstGeom prst="ellipse">
            <a:avLst/>
          </a:prstGeom>
          <a:solidFill>
            <a:srgbClr val="1B4568"/>
          </a:solidFill>
          <a:ln/>
        </p:spPr>
      </p:sp>
      <p:sp>
        <p:nvSpPr>
          <p:cNvPr id="23" name="Text 21"/>
          <p:cNvSpPr/>
          <p:nvPr/>
        </p:nvSpPr>
        <p:spPr>
          <a:xfrm>
            <a:off x="9280931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29571" y="1682496"/>
            <a:ext cx="1594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&amp; Scope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99219" y="2249424"/>
            <a:ext cx="2124380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Duration, team size, environment complexity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“Delivered across a six-week engagement covering a hybrid IT and OT estate”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tells the reader how hard the work was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44 — Career Launch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Weekly Artifacts as Résumé Bullets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 of this program produces at least one line — this is the table you write from tonight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633953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/ Artifact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 Company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Résumé Bullet (adapt the wording, keep the structure)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1 — Executive brief + glossary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Helios Grid Utilities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Authored a governance brief establishing unified IT/OT security oversight, risk appetite and a board reporting cadence for a simulated 3,200-employee energy distributor.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2 — Risk register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 the first enterprise-wide risk assessment for a simulated government agency, producing a 22-risk register with inherent and residual ratings and one quantified ALE.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3 — Framework matrix + gap assessment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Quanta Labs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Performed a dual gap assessment against ISO/IEC 27001:2022 and SOC 2 Trust Services Criteria, mapping overlapping controls to remove duplicated evidence collection.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4 — Audit report (5 C's)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MarketNest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Tested six controls and reported findings in the 5 C's with agreed corrective actions, remediation owners and target dates.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5 — Asset inventory + IAM policy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NovaCare Health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an asset inventory with criticality ratings and authored an IAM policy addressing shared clinical logins and contractor de-provisioning.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6 — Awareness · DLP · IR · TPRM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MarketNest / Quanta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Authored a DLP policy and incident response runbook, and stood up a vendor risk process tiering third parties by data access and production reachability.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7 — Capstone program + exec summary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anchor company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Consolidated all artifacts into a single security program mapped to the six NIST CSF 2.0 Functions, with a maturity assessment and a prioritised remediation roadmap.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8932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state or imply employment. 'Simulated', 'scenario-based' or 'training engagement' — used once at the top of the section — keeps the whole section honest.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44 — Career Launch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Framing Scenario Work Honestly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companies are a strength when labelled correctly and a liability when they are not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10048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82496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E4F1E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82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096" y="2084832"/>
            <a:ext cx="497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it once, clearly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6384" y="2560320"/>
            <a:ext cx="495284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section headed 'Practical GRC Projects (Scenario-Based)' — the label covers everything beneath it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company and add the descriptor: 'PayFlow (simulated fintech, 45 staff, Lagos)'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work in the same verbs you would use for paid work — the work itself was real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artifacts so the claim is verifiable in one click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interview, say it before you are asked: 'This was scenario-based project work; here is the deliverable.'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33008" y="1481328"/>
            <a:ext cx="5410048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52464" y="1682496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FBE3E3"/>
          </a:solidFill>
          <a:ln/>
        </p:spPr>
      </p:sp>
      <p:sp>
        <p:nvSpPr>
          <p:cNvPr id="13" name="Text 11"/>
          <p:cNvSpPr/>
          <p:nvPr/>
        </p:nvSpPr>
        <p:spPr>
          <a:xfrm>
            <a:off x="6452464" y="1682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THIS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52464" y="2084832"/>
            <a:ext cx="497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ends a candidacy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70752" y="2560320"/>
            <a:ext cx="495284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a fictional company under 'Professional Experience' with employment dates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Inventing a job title, a manager or a salary band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a recruiter believe PayFlow is a real former employer and correcting it only when challenged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Claiming certification when you have only passed the exam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is not embarrassment. It is a rescinded offer after a background check — and GRC is the profession that runs those checks.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44 — Career Launch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Presenting the Portfolio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spend under a minute. Structure the repository so the first thirty seconds do the work.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2581580" cy="4416552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82496"/>
            <a:ext cx="457200" cy="45720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16736" y="1682496"/>
            <a:ext cx="1594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landing README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6384" y="2249424"/>
            <a:ext cx="2124380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Two-sentence summary, then a table of the ten artifacts with links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up front that companies are fictional training scenarios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CSF 2.0 Function beside each artifact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6252" y="1481328"/>
            <a:ext cx="2581580" cy="4416552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05708" y="1682496"/>
            <a:ext cx="457200" cy="457200"/>
          </a:xfrm>
          <a:prstGeom prst="ellipse">
            <a:avLst/>
          </a:prstGeom>
          <a:solidFill>
            <a:srgbClr val="14827A"/>
          </a:solidFill>
          <a:ln/>
        </p:spPr>
      </p:sp>
      <p:sp>
        <p:nvSpPr>
          <p:cNvPr id="13" name="Text 11"/>
          <p:cNvSpPr/>
          <p:nvPr/>
        </p:nvSpPr>
        <p:spPr>
          <a:xfrm>
            <a:off x="3605708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54348" y="1682496"/>
            <a:ext cx="1594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with the executive summary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23996" y="2249424"/>
            <a:ext cx="2124380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one-pager from Day 43 is the single best first click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proves judgement, not just effort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it directly from the résumé header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23864" y="1481328"/>
            <a:ext cx="2581580" cy="4416552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3320" y="16824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443320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91960" y="1682496"/>
            <a:ext cx="1594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the evidence chain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61608" y="2249424"/>
            <a:ext cx="2124380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→ control → policy → audit finding → remediation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chain is what separates you from a candidate with ten disconnected documents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61475" y="1481328"/>
            <a:ext cx="2581580" cy="4416552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80931" y="1682496"/>
            <a:ext cx="457200" cy="457200"/>
          </a:xfrm>
          <a:prstGeom prst="ellipse">
            <a:avLst/>
          </a:prstGeom>
          <a:solidFill>
            <a:srgbClr val="1B4568"/>
          </a:solidFill>
          <a:ln/>
        </p:spPr>
      </p:sp>
      <p:sp>
        <p:nvSpPr>
          <p:cNvPr id="23" name="Text 21"/>
          <p:cNvSpPr/>
          <p:nvPr/>
        </p:nvSpPr>
        <p:spPr>
          <a:xfrm>
            <a:off x="9280931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29571" y="1682496"/>
            <a:ext cx="1594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it clean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99219" y="2249424"/>
            <a:ext cx="2124380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placeholder text, no broken links, consistent version numbers and dates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Sloppy artifacts argue against you more loudly than missing ones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44 — Career Launch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LinkedIn: Headline and About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is a search field, not a slogan — recruiters search the words, so the words must be there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10048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82496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E4F1E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82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096" y="2084832"/>
            <a:ext cx="497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and after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6384" y="2560320"/>
            <a:ext cx="495284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“Aspiring cybersecurity professional | Passionate about tech | Open to work”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“GRC Analyst | NIST CSF 2.0 · ISO 27001:2022 · SOC 2 | Risk Register · Control Testing · Vendor Risk | Security+”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target title first, frameworks second, capabilities third, credentials last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exact words the job ads use — 'third-party risk', not 'vendor stuff'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characters. Every one of them should be searchable.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33008" y="1481328"/>
            <a:ext cx="5410048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52464" y="1682496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FBF0DC"/>
          </a:solidFill>
          <a:ln/>
        </p:spPr>
      </p:sp>
      <p:sp>
        <p:nvSpPr>
          <p:cNvPr id="13" name="Text 11"/>
          <p:cNvSpPr/>
          <p:nvPr/>
        </p:nvSpPr>
        <p:spPr>
          <a:xfrm>
            <a:off x="6452464" y="1682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52464" y="2084832"/>
            <a:ext cx="497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short paragraphs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70752" y="2560320"/>
            <a:ext cx="495284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What you do and for whom, in one sentence using your target title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The program you built: name the six Functions and the headline artifacts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One concrete example with a number, drawn from a scenario company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What you are looking for and how to reach you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 first person. Never third person — it reads as a press release nobody asked for.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44 — Career Launch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LinkedIn: Keywords, Skills and Featured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settings that change whether recruiters find you at all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527450" cy="4507992"/>
          </a:xfrm>
          <a:prstGeom prst="roundRect">
            <a:avLst>
              <a:gd name="adj" fmla="val 2074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82496"/>
            <a:ext cx="457200" cy="45720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16736" y="1682496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GRC keyword bank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6384" y="2249424"/>
            <a:ext cx="3070250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· Risk · Compliance · Risk Register · Risk Assessment · Control Testing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 · ISO/IEC 27001:2022 · SOC 2 · NIST SP 800-53 · GDPR · HIPAA · PCI DSS · NIS2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Risk Management · Vendor Due Diligence · Access Reviews · IAM · DLP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· Audit Readiness · Evidence Collection · Gap Assessment · ISMS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32122" y="1481328"/>
            <a:ext cx="3527450" cy="4507992"/>
          </a:xfrm>
          <a:prstGeom prst="roundRect">
            <a:avLst>
              <a:gd name="adj" fmla="val 2074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51578" y="1682496"/>
            <a:ext cx="457200" cy="457200"/>
          </a:xfrm>
          <a:prstGeom prst="ellipse">
            <a:avLst/>
          </a:prstGeom>
          <a:solidFill>
            <a:srgbClr val="14827A"/>
          </a:solidFill>
          <a:ln/>
        </p:spPr>
      </p:sp>
      <p:sp>
        <p:nvSpPr>
          <p:cNvPr id="13" name="Text 11"/>
          <p:cNvSpPr/>
          <p:nvPr/>
        </p:nvSpPr>
        <p:spPr>
          <a:xfrm>
            <a:off x="4551578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00218" y="1682496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section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69866" y="2249424"/>
            <a:ext cx="3070250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the three that match your target title — they appear first and get filtered on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framework names as discrete skills; recruiters filter by skill tag, not by prose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unrelated legacy skills from a previous career — they dilute the match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15605" y="1481328"/>
            <a:ext cx="3527450" cy="4507992"/>
          </a:xfrm>
          <a:prstGeom prst="roundRect">
            <a:avLst>
              <a:gd name="adj" fmla="val 2074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5061" y="16824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335061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83701" y="1682496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Featured &amp; settings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53349" y="2249424"/>
            <a:ext cx="3070250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the executive summary and the portfolio link at the top of the profile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'Open to work' recruiter-only visibility with your five target titles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location to the market you can actually work in, and say so if remote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once about what you built and what surprised you — activity lifts visibility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44 — Career Launch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"/>
            <a:ext cx="2651760" cy="384048"/>
          </a:xfrm>
          <a:prstGeom prst="roundRect">
            <a:avLst>
              <a:gd name="adj" fmla="val 16667"/>
            </a:avLst>
          </a:prstGeom>
          <a:solidFill>
            <a:srgbClr val="1482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Résumé Bullets From Your Weekly Artifacts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(20 min)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bullet per week, Weeks 1–7 — seven bullets total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formula: verb + artifact + versioned framework + scope + outcome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scenario company inside the bullet, with its descriptor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bullet must contain at least one number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6026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63770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Sharpen (15 min)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82058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every adjective. Then read it again — most survive removal.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'assisted with', 'helped', 'was involved in' with a verb you can defend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each framework is named with its version: ISO/IEC 27001:2022, NIST CSF 2.0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any bullet you could not talk about for two minutes under questioning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03413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41157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 review (15 min)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9445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with a partner. Their only question for each bullet: 'What did that actually change?'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there is no answer, the bullet describes activity, not contribution — rewrite it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two strongest bullets. Those go in your professional summary.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468112"/>
            <a:ext cx="11094415" cy="548640"/>
          </a:xfrm>
          <a:prstGeom prst="roundRect">
            <a:avLst>
              <a:gd name="adj" fmla="val 11667"/>
            </a:avLst>
          </a:prstGeom>
          <a:solidFill>
            <a:srgbClr val="E4F1EF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5468112"/>
            <a:ext cx="105823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seven defensible bullets, each traceable to a document in your portfolio.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44 — Career Launch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"/>
            <a:ext cx="2651760" cy="384048"/>
          </a:xfrm>
          <a:prstGeom prst="roundRect">
            <a:avLst>
              <a:gd name="adj" fmla="val 16667"/>
            </a:avLst>
          </a:prstGeom>
          <a:solidFill>
            <a:srgbClr val="1482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Rewrite Your LinkedIn Headline Using GRC Keywords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(10 min)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current headline on paper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every word a recruiter would actually type into a search box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learners circle nothing. That is the point of the exercise.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6026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63770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Rebuild (20 min)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82058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Target Title | Frameworks | Capabilities | Credential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framework names from the artifacts you genuinely produced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under 220 characters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rewrite the About section's first paragraph to match the headline's title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03413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41157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it (15 min)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9445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headline to a partner for three seconds only, then hide it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them: what role am I applying for, and what can I do?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cannot answer both, the headline has failed and needs another pass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they get both right on first hearing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468112"/>
            <a:ext cx="11094415" cy="548640"/>
          </a:xfrm>
          <a:prstGeom prst="roundRect">
            <a:avLst>
              <a:gd name="adj" fmla="val 11667"/>
            </a:avLst>
          </a:prstGeom>
          <a:solidFill>
            <a:srgbClr val="E4F1EF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5468112"/>
            <a:ext cx="105823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keyword-dense headline and a matching About opening, tested on a real human being.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44 — Career Launch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"/>
            <a:ext cx="2651760" cy="384048"/>
          </a:xfrm>
          <a:prstGeom prst="roundRect">
            <a:avLst>
              <a:gd name="adj" fmla="val 16667"/>
            </a:avLst>
          </a:prstGeom>
          <a:solidFill>
            <a:srgbClr val="1482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Your Certification and Defend the Choice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gathering (15 min)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ten live job postings for your one target title in your market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which certifications appear, and how often each is 'required' versus 'preferred'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frameworks named most often — they may matter more than the certification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6026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63770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(10 min)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82058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exactly one certification for the next study cycle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eligibility rule honestly — can you certify, or only pass the exam for now?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target exam date and the weekly study hours you will actually commit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03413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41157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 (20 min)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9445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in 90 seconds: my target role, my certification, my evidence, my date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room's job is to challenge: why not a cheaper or faster one? Why not none at all?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answers connect the certification to a scenario company — CGRC for an NDSA-style RMF role, ISO 27001 Lead Implementer for a Quanta Labs-style ISMS build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decision. It becomes days 1–60 of tomorrow's 90-day plan.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468112"/>
            <a:ext cx="11094415" cy="548640"/>
          </a:xfrm>
          <a:prstGeom prst="roundRect">
            <a:avLst>
              <a:gd name="adj" fmla="val 11667"/>
            </a:avLst>
          </a:prstGeom>
          <a:solidFill>
            <a:srgbClr val="E4F1EF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5468112"/>
            <a:ext cx="105823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one committed certification, one booked or diarised exam date, and a defensible reason for both.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44 — Career Launch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Self-Check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checkpoint, now viewed through the lens of what a recruiter will ask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071B2E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481328"/>
            <a:ext cx="103263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“Can you walk through what happens, step by step, from the moment an incident is detected — and explain how you'd vet a new SaaS vendor?”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3539642" cy="2606040"/>
          </a:xfrm>
          <a:prstGeom prst="roundRect">
            <a:avLst>
              <a:gd name="adj" fmla="val 2807"/>
            </a:avLst>
          </a:prstGeom>
          <a:solidFill>
            <a:srgbClr val="12365A"/>
          </a:solidFill>
          <a:ln w="12700">
            <a:solidFill>
              <a:srgbClr val="2A5B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3291840"/>
            <a:ext cx="31007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appears on career day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86384" y="3730752"/>
            <a:ext cx="308244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questions are the most common opening pair in an entry-level GRC screen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résumé earns the interview; this answer keeps it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map directly to bullets you drafted today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6026" y="3108960"/>
            <a:ext cx="3539642" cy="2606040"/>
          </a:xfrm>
          <a:prstGeom prst="roundRect">
            <a:avLst>
              <a:gd name="adj" fmla="val 2807"/>
            </a:avLst>
          </a:prstGeom>
          <a:solidFill>
            <a:srgbClr val="12365A"/>
          </a:solidFill>
          <a:ln w="12700">
            <a:solidFill>
              <a:srgbClr val="2A5B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5482" y="3291840"/>
            <a:ext cx="31007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each half into a bullet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63770" y="3730752"/>
            <a:ext cx="308244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half → your IR runbook bullet: severity matrix, declaration authority, notification clock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half → your TPRM bullet: tiering by data access, evidence requested, contractual clauses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cannot say it, you cannot write it — and it should not be on the page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3413" y="3108960"/>
            <a:ext cx="3539642" cy="2606040"/>
          </a:xfrm>
          <a:prstGeom prst="roundRect">
            <a:avLst>
              <a:gd name="adj" fmla="val 2807"/>
            </a:avLst>
          </a:prstGeom>
          <a:solidFill>
            <a:srgbClr val="12365A"/>
          </a:solidFill>
          <a:ln w="12700">
            <a:solidFill>
              <a:srgbClr val="2A5B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2869" y="3291840"/>
            <a:ext cx="31007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Rehearse before Day 45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41157" y="3730752"/>
            <a:ext cx="308244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both aloud in under 90 seconds each, to a partner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 scenario company for each: MarketNest for the incident, Quanta Labs for the vendor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we drill these formally under interview conditions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8704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résumé bullet you cannot narrate for two minutes is a liability, not an asset. Test every line you wrote today against that rule.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91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Day 44 — Career Launch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"/>
            <a:ext cx="2651760" cy="384048"/>
          </a:xfrm>
          <a:prstGeom prst="roundRect">
            <a:avLst>
              <a:gd name="adj" fmla="val 16667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7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— DAY 44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or Refresh Your Résumé and Optimise LinkedIn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1 — Résumé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page, targeting one of the five entry roles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Three-line professional summary naming role, frameworks and evidence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core competency keywords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'Practical GRC Projects (Scenario-Based)' section carrying your seven bullets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with status stated accurately — passed, booked, or in progress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URL in the header, not buried at the bottom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6026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63770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2 — LinkedIn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82058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headline in the four-part structure, under 220 characters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section rewritten in first person, four short paragraphs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updated and the top three pinned to match your target title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and portfolio added to Featured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'Open to work' configured with your five target titles and your real location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03413" y="1517904"/>
            <a:ext cx="3539642" cy="3831336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AB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41157" y="1700784"/>
            <a:ext cx="3064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criteria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9445" y="2157984"/>
            <a:ext cx="30275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recruiter tell your target role in three seconds?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every bullet traceable to an artifact you can send?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every framework carry its correct version number?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scenario work labelled as scenario work, unambiguously?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number in every project bullet?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4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both to Day 45 — they are inputs to your mock interview.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468112"/>
            <a:ext cx="11094415" cy="548640"/>
          </a:xfrm>
          <a:prstGeom prst="roundRect">
            <a:avLst>
              <a:gd name="adj" fmla="val 11667"/>
            </a:avLst>
          </a:prstGeom>
          <a:solidFill>
            <a:srgbClr val="FBF0DC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5468112"/>
            <a:ext cx="105823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at the start of Day 45. Submit the résumé PDF and your LinkedIn profile URL.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GRC Mastery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 Day 44 — GRC Career Launch</dc:title>
  <dc:subject>GRC career landscape, certifications, résumé and LinkedIn</dc:subject>
  <dc:creator>Cybersecurity GRC Mastery Program</dc:creator>
  <cp:lastModifiedBy>Cybersecurity GRC Mastery Program</cp:lastModifiedBy>
  <cp:revision>1</cp:revision>
  <dcterms:created xsi:type="dcterms:W3CDTF">2026-07-25T22:33:26Z</dcterms:created>
  <dcterms:modified xsi:type="dcterms:W3CDTF">2026-07-25T22:33:26Z</dcterms:modified>
</cp:coreProperties>
</file>