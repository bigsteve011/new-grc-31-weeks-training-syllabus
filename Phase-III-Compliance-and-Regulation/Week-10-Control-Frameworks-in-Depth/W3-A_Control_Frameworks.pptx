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184" y="1606144"/>
            <a:ext cx="399593" cy="3995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23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COMPLIANCE FRAMEWORKS &amp; REGULATORY REQUIREMENTS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 · 2 hours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320040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Frameworks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48640" y="48920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 · SP 800-53 · ISO 27001:2022 · CIS v8 · SOC 2 · COBIT 2019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Function focus:  GOVERN  /  IDENTIFY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911096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2034540"/>
            <a:ext cx="210312" cy="210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23818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7E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1325880" y="1892808"/>
            <a:ext cx="2143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NIST CSF 2.0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68096" y="2532888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Outcome-based common language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38218" y="169164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39386" y="1911096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830" y="2034540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13397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7E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5115458" y="1892808"/>
            <a:ext cx="2143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NIST SP 800-53 Rev 5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557674" y="2532888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federal control catalog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127797" y="169164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328965" y="1911096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2409" y="2034540"/>
            <a:ext cx="210312" cy="2103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002975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7E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16"/>
          <p:cNvSpPr/>
          <p:nvPr/>
        </p:nvSpPr>
        <p:spPr>
          <a:xfrm>
            <a:off x="8905037" y="1892808"/>
            <a:ext cx="2143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ISO/IEC 27001:2022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347253" y="2532888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Certifiable ISMS + Annex A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338328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3602736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" y="3726180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23818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7E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8" name="Text 21"/>
          <p:cNvSpPr/>
          <p:nvPr/>
        </p:nvSpPr>
        <p:spPr>
          <a:xfrm>
            <a:off x="1325880" y="3584448"/>
            <a:ext cx="2143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 Controls v8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768096" y="4224528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Prioritized, prescriptive safeguards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4338218" y="338328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539386" y="3602736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2830" y="3726180"/>
            <a:ext cx="210312" cy="2103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213397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7E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4" name="Text 26"/>
          <p:cNvSpPr/>
          <p:nvPr/>
        </p:nvSpPr>
        <p:spPr>
          <a:xfrm>
            <a:off x="5115458" y="3584448"/>
            <a:ext cx="2143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2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4557674" y="4224528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Services Criteria attestation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8127797" y="338328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328965" y="3602736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2409" y="3726180"/>
            <a:ext cx="210312" cy="21031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1002975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7E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40" name="Text 31"/>
          <p:cNvSpPr/>
          <p:nvPr/>
        </p:nvSpPr>
        <p:spPr>
          <a:xfrm>
            <a:off x="8905037" y="3584448"/>
            <a:ext cx="2143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COBIT 2019</a:t>
            </a:r>
            <a:endParaRPr lang="en-US" sz="1600" dirty="0"/>
          </a:p>
        </p:txBody>
      </p:sp>
      <p:sp>
        <p:nvSpPr>
          <p:cNvPr id="41" name="Text 32"/>
          <p:cNvSpPr/>
          <p:nvPr/>
        </p:nvSpPr>
        <p:spPr>
          <a:xfrm>
            <a:off x="8347253" y="4224528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of enterprise IT</a:t>
            </a:r>
            <a:endParaRPr lang="en-US" sz="1250" dirty="0"/>
          </a:p>
        </p:txBody>
      </p:sp>
      <p:sp>
        <p:nvSpPr>
          <p:cNvPr id="42" name="Text 33"/>
          <p:cNvSpPr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when to use each, how they differ, and how GOVERN &amp; IDENTIFY appear across all six.</a:t>
            </a:r>
            <a:endParaRPr lang="en-US" sz="1300" dirty="0"/>
          </a:p>
        </p:txBody>
      </p:sp>
      <p:sp>
        <p:nvSpPr>
          <p:cNvPr id="43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A · Control Frameworks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control frameworks exist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5943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turns “be secure” into a structured, repeatable set of outcomes and controls.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a common language for security teams, auditors, executives, customers, and regulators.</a:t>
            </a:r>
            <a:endParaRPr lang="en-US" sz="15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evidence backbone for audits, certifications, and customer due-diligence questionnaires.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reusable — one well-run control can satisfy many obligations at once (the basis of Session C).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949440" y="1417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Diagram: governance-to-controls pyramid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49006" y="1828800"/>
            <a:ext cx="2464308" cy="749808"/>
          </a:xfrm>
          <a:prstGeom prst="roundRect">
            <a:avLst>
              <a:gd name="adj" fmla="val 7317"/>
            </a:avLst>
          </a:prstGeom>
          <a:solidFill>
            <a:srgbClr val="13294B"/>
          </a:solidFill>
          <a:ln/>
          <a:effectLst>
            <a:outerShdw sx="100000" sy="100000" kx="0" ky="0" algn="bl" rotWithShape="0" blurRad="63500" dist="25400" dir="5400000">
              <a:srgbClr val="9AA8B5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49006" y="1828800"/>
            <a:ext cx="24643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risk appetite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668158" y="2688336"/>
            <a:ext cx="3226003" cy="749808"/>
          </a:xfrm>
          <a:prstGeom prst="roundRect">
            <a:avLst>
              <a:gd name="adj" fmla="val 7317"/>
            </a:avLst>
          </a:prstGeom>
          <a:solidFill>
            <a:srgbClr val="0E7C86"/>
          </a:solidFill>
          <a:ln/>
          <a:effectLst>
            <a:outerShdw sx="100000" sy="100000" kx="0" ky="0" algn="bl" rotWithShape="0" blurRad="63500" dist="25400" dir="5400000">
              <a:srgbClr val="9AA8B5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668158" y="2688336"/>
            <a:ext cx="322600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&amp; policies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09714" y="3547872"/>
            <a:ext cx="3942893" cy="749808"/>
          </a:xfrm>
          <a:prstGeom prst="roundRect">
            <a:avLst>
              <a:gd name="adj" fmla="val 7317"/>
            </a:avLst>
          </a:prstGeom>
          <a:solidFill>
            <a:srgbClr val="12959E"/>
          </a:solidFill>
          <a:ln/>
          <a:effectLst>
            <a:outerShdw sx="100000" sy="100000" kx="0" ky="0" algn="bl" rotWithShape="0" blurRad="63500" dist="25400" dir="5400000">
              <a:srgbClr val="9AA8B5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309714" y="3547872"/>
            <a:ext cx="394289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&amp; safeguards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040880" y="4407408"/>
            <a:ext cx="4480560" cy="749808"/>
          </a:xfrm>
          <a:prstGeom prst="roundRect">
            <a:avLst>
              <a:gd name="adj" fmla="val 7317"/>
            </a:avLst>
          </a:prstGeom>
          <a:solidFill>
            <a:srgbClr val="E0A12E"/>
          </a:solidFill>
          <a:ln/>
          <a:effectLst>
            <a:outerShdw sx="100000" sy="100000" kx="0" ky="0" algn="bl" rotWithShape="0" blurRad="63500" dist="25400" dir="5400000">
              <a:srgbClr val="9AA8B5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040880" y="440740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daily operations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949440" y="53126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rests on the one below — controls without governance drift; governance without evidence is theatre.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A · Control Frameworks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A FRAMEWORK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lenses: prescriptive, risk-based, certification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3515258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013661" y="1947672"/>
            <a:ext cx="585216" cy="58521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670" y="2105680"/>
            <a:ext cx="269199" cy="2691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65176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Prescriptive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31520" y="306324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WHAT to do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22960" y="3502152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v8 · PCI DSS · 800-53 baselines</a:t>
            </a:r>
            <a:endParaRPr lang="en-US" sz="123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clear, actionable, easy to audit</a:t>
            </a:r>
            <a:endParaRPr lang="en-US" sz="1230" dirty="0"/>
          </a:p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Watch-out: can drift into checkbox compliance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4338218" y="1691640"/>
            <a:ext cx="3515258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803240" y="1947672"/>
            <a:ext cx="585216" cy="585216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248" y="2105680"/>
            <a:ext cx="269199" cy="26919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21098" y="265176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Risk-based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521098" y="306324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HOW to decide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612538" y="3502152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· ISO 27001 · COBIT · 800-39</a:t>
            </a:r>
            <a:endParaRPr lang="en-US" sz="123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adapts to context &amp; risk appetite</a:t>
            </a:r>
            <a:endParaRPr lang="en-US" sz="1230" dirty="0"/>
          </a:p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Watch-out: needs maturity to apply well</a:t>
            </a:r>
            <a:endParaRPr lang="en-US" sz="1230" dirty="0"/>
          </a:p>
        </p:txBody>
      </p:sp>
      <p:sp>
        <p:nvSpPr>
          <p:cNvPr id="18" name="Shape 13"/>
          <p:cNvSpPr/>
          <p:nvPr/>
        </p:nvSpPr>
        <p:spPr>
          <a:xfrm>
            <a:off x="8127797" y="1691640"/>
            <a:ext cx="3515258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592818" y="1947672"/>
            <a:ext cx="585216" cy="585216"/>
          </a:xfrm>
          <a:prstGeom prst="ellipse">
            <a:avLst/>
          </a:prstGeom>
          <a:solidFill>
            <a:srgbClr val="E0A12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0826" y="2105680"/>
            <a:ext cx="269199" cy="26919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10677" y="265176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/ attestation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8310677" y="306324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E0A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it to others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402117" y="3502152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(cert) · SOC 2 (attestation)</a:t>
            </a:r>
            <a:endParaRPr lang="en-US" sz="123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independent, third-party trust</a:t>
            </a:r>
            <a:endParaRPr lang="en-US" sz="1230" dirty="0"/>
          </a:p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Watch-out: scope-bound &amp; point-in-time</a:t>
            </a:r>
            <a:endParaRPr lang="en-US" sz="1230" dirty="0"/>
          </a:p>
        </p:txBody>
      </p:sp>
      <p:sp>
        <p:nvSpPr>
          <p:cNvPr id="24" name="Text 18"/>
          <p:cNvSpPr/>
          <p:nvPr/>
        </p:nvSpPr>
        <p:spPr>
          <a:xfrm>
            <a:off x="548640" y="5166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programs blend all three: a risk-based core, prescriptive safeguards beneath it, and a certification or attestation to demonstrate it.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A · Control Frameworks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DEEP-DIVE 1 OF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NIST CSF 2.0 — the common language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492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February 2024; now scoped for ALL organizations, not just critical infrastructure.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Functions: GOVERN (new in 2.0), IDENTIFY, PROTECT, DETECT, RESPOND, RECOVER.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Functions → Categories → Subcategories (outcomes), plus Informative References mapping to other frameworks.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Tiers 1–4 (Partial → Adaptive) describe rigor of risk practices.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compare Current vs Target state to plan and prioritize improvement.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Voluntary, outcome-based, and free — the cross-walk hub of the GRC world.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98080" y="1417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Diagram: GOVERN at the center of five functions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125712" y="1655064"/>
            <a:ext cx="1133856" cy="603504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  <a:effectLst>
            <a:outerShdw sx="100000" sy="100000" kx="0" ky="0" algn="bl" rotWithShape="0" blurRad="50800" dist="25400" dir="5400000">
              <a:srgbClr val="9AA8B5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25712" y="1655064"/>
            <a:ext cx="1133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734557" y="2823958"/>
            <a:ext cx="1133856" cy="603504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  <a:effectLst>
            <a:outerShdw sx="100000" sy="100000" kx="0" ky="0" algn="bl" rotWithShape="0" blurRad="50800" dist="25400" dir="5400000">
              <a:srgbClr val="9AA8B5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734557" y="2823958"/>
            <a:ext cx="1133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0120033" y="4715270"/>
            <a:ext cx="1133856" cy="603504"/>
          </a:xfrm>
          <a:prstGeom prst="roundRect">
            <a:avLst>
              <a:gd name="adj" fmla="val 50000"/>
            </a:avLst>
          </a:prstGeom>
          <a:solidFill>
            <a:srgbClr val="12959E"/>
          </a:solidFill>
          <a:ln/>
          <a:effectLst>
            <a:outerShdw sx="100000" sy="100000" kx="0" ky="0" algn="bl" rotWithShape="0" blurRad="50800" dist="25400" dir="5400000">
              <a:srgbClr val="9AA8B5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120033" y="4715270"/>
            <a:ext cx="1133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131391" y="4715270"/>
            <a:ext cx="1133856" cy="603504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  <a:effectLst>
            <a:outerShdw sx="100000" sy="100000" kx="0" ky="0" algn="bl" rotWithShape="0" blurRad="50800" dist="25400" dir="5400000">
              <a:srgbClr val="9AA8B5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131391" y="4715270"/>
            <a:ext cx="1133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516867" y="2823958"/>
            <a:ext cx="1133856" cy="603504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  <a:effectLst>
            <a:outerShdw sx="100000" sy="100000" kx="0" ky="0" algn="bl" rotWithShape="0" blurRad="50800" dist="25400" dir="5400000">
              <a:srgbClr val="9AA8B5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516867" y="2823958"/>
            <a:ext cx="1133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823960" y="2788920"/>
            <a:ext cx="1737360" cy="1737360"/>
          </a:xfrm>
          <a:prstGeom prst="ellipse">
            <a:avLst/>
          </a:prstGeom>
          <a:solidFill>
            <a:srgbClr val="E0A12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5400000">
              <a:srgbClr val="9AA8B5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82396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823960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2.0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A · Control Frameworks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 &amp; IDENTIFY up close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5364328" cy="3246120"/>
          </a:xfrm>
          <a:prstGeom prst="roundRect">
            <a:avLst>
              <a:gd name="adj" fmla="val 2254"/>
            </a:avLst>
          </a:prstGeom>
          <a:solidFill>
            <a:srgbClr val="EAF4F4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837944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925" y="1941637"/>
            <a:ext cx="176662" cy="1766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25296" y="1801368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 (GV) — new in 2.0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822960" y="2468880"/>
            <a:ext cx="481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context, accountability, and risk strategy the other five functions operate within.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Context (GV.OC) · Risk Management Strategy (GV.RM)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Responsibilities &amp; Authorities (GV.RR) · Policy (GV.PO)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(GV.OV) · Cybersecurity Supply Chain Risk Mgmt (GV.SC)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78728" y="1691640"/>
            <a:ext cx="5364328" cy="3246120"/>
          </a:xfrm>
          <a:prstGeom prst="roundRect">
            <a:avLst>
              <a:gd name="adj" fmla="val 2254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43320" y="1837944"/>
            <a:ext cx="384048" cy="38404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013" y="1941637"/>
            <a:ext cx="176662" cy="1766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55384" y="1801368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(ID) — know what you protect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6553048" y="2468880"/>
            <a:ext cx="481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asset and risk picture every other decision relies on.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Management (ID.AM) — hardware, software, services, data, people.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(ID.RA) — threats, vulnerabilities, likelihood, impact.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(ID.IM) — new in 2.0; lessons learned feed the program.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48640" y="5166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sets risk appetite and accountability; IDENTIFY builds the asset &amp; risk picture those decisions depend on.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A · Control Frameworks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DEEP-DIVE 2 OF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NIST SP 800-53 Rev 5 — the control catalog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8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 federal control catalog and backbone of the Risk Management Framework (RMF) and FISMA.</a:t>
            </a:r>
            <a:endParaRPr lang="en-US" sz="13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8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controls organized into 20 control families (AC, AU, IA, SC, SI, CP, IR, RA, CM, SR…).</a:t>
            </a:r>
            <a:endParaRPr lang="en-US" sz="13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8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5 (2020) added the Supply Chain Risk Mgmt (SR) family and integrated privacy controls; language is outcome-based and control-owner-neutral.</a:t>
            </a:r>
            <a:endParaRPr lang="en-US" sz="13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8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(Low / Moderate / High) are selected via SP 800-53B and tailored to system impact.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comprehensive — and heavy; usually mandated rather than freely chosen.</a:t>
            </a:r>
            <a:endParaRPr lang="en-US" sz="1380" dirty="0"/>
          </a:p>
        </p:txBody>
      </p:sp>
      <p:sp>
        <p:nvSpPr>
          <p:cNvPr id="7" name="Shape 4"/>
          <p:cNvSpPr/>
          <p:nvPr/>
        </p:nvSpPr>
        <p:spPr>
          <a:xfrm>
            <a:off x="7269480" y="1783080"/>
            <a:ext cx="4373575" cy="1828800"/>
          </a:xfrm>
          <a:prstGeom prst="roundRect">
            <a:avLst>
              <a:gd name="adj" fmla="val 4000"/>
            </a:avLst>
          </a:prstGeom>
          <a:solidFill>
            <a:srgbClr val="EAF4F4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34072" y="1929384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7765" y="2033077"/>
            <a:ext cx="176662" cy="1766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46136" y="1892808"/>
            <a:ext cx="3550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fits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7543800" y="2560320"/>
            <a:ext cx="3824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agencies, contractors, and FedRAMP cloud providers.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reference library other frameworks map to.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with: CSF (the “what”) and 800-37 / RMF (how to authorize).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269480" y="3886200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the 20 control families: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269480" y="4206240"/>
            <a:ext cx="713232" cy="41148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14" name="Text 10"/>
          <p:cNvSpPr/>
          <p:nvPr/>
        </p:nvSpPr>
        <p:spPr>
          <a:xfrm>
            <a:off x="7269480" y="420624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55864" y="4206240"/>
            <a:ext cx="713232" cy="41148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16" name="Text 12"/>
          <p:cNvSpPr/>
          <p:nvPr/>
        </p:nvSpPr>
        <p:spPr>
          <a:xfrm>
            <a:off x="8055864" y="420624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842248" y="4206240"/>
            <a:ext cx="713232" cy="41148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18" name="Text 14"/>
          <p:cNvSpPr/>
          <p:nvPr/>
        </p:nvSpPr>
        <p:spPr>
          <a:xfrm>
            <a:off x="8842248" y="420624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9628632" y="4206240"/>
            <a:ext cx="713232" cy="41148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20" name="Text 16"/>
          <p:cNvSpPr/>
          <p:nvPr/>
        </p:nvSpPr>
        <p:spPr>
          <a:xfrm>
            <a:off x="9628632" y="420624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10415016" y="4206240"/>
            <a:ext cx="713232" cy="41148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22" name="Text 18"/>
          <p:cNvSpPr/>
          <p:nvPr/>
        </p:nvSpPr>
        <p:spPr>
          <a:xfrm>
            <a:off x="10415016" y="420624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11201400" y="4206240"/>
            <a:ext cx="713232" cy="41148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24" name="Text 20"/>
          <p:cNvSpPr/>
          <p:nvPr/>
        </p:nvSpPr>
        <p:spPr>
          <a:xfrm>
            <a:off x="11201400" y="420624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269480" y="4727448"/>
            <a:ext cx="713232" cy="41148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26" name="Text 22"/>
          <p:cNvSpPr/>
          <p:nvPr/>
        </p:nvSpPr>
        <p:spPr>
          <a:xfrm>
            <a:off x="7269480" y="4727448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8055864" y="4727448"/>
            <a:ext cx="713232" cy="41148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28" name="Text 24"/>
          <p:cNvSpPr/>
          <p:nvPr/>
        </p:nvSpPr>
        <p:spPr>
          <a:xfrm>
            <a:off x="8055864" y="4727448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8842248" y="4727448"/>
            <a:ext cx="713232" cy="41148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30" name="Text 26"/>
          <p:cNvSpPr/>
          <p:nvPr/>
        </p:nvSpPr>
        <p:spPr>
          <a:xfrm>
            <a:off x="8842248" y="4727448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9628632" y="4727448"/>
            <a:ext cx="713232" cy="41148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32" name="Text 28"/>
          <p:cNvSpPr/>
          <p:nvPr/>
        </p:nvSpPr>
        <p:spPr>
          <a:xfrm>
            <a:off x="9628632" y="4727448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10415016" y="4727448"/>
            <a:ext cx="713232" cy="411480"/>
          </a:xfrm>
          <a:prstGeom prst="roundRect">
            <a:avLst>
              <a:gd name="adj" fmla="val 13333"/>
            </a:avLst>
          </a:prstGeom>
          <a:solidFill>
            <a:srgbClr val="E0A12E"/>
          </a:solidFill>
          <a:ln/>
        </p:spPr>
      </p:sp>
      <p:sp>
        <p:nvSpPr>
          <p:cNvPr id="34" name="Text 30"/>
          <p:cNvSpPr/>
          <p:nvPr/>
        </p:nvSpPr>
        <p:spPr>
          <a:xfrm>
            <a:off x="10415016" y="4727448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11201400" y="4727448"/>
            <a:ext cx="713232" cy="41148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36" name="Text 32"/>
          <p:cNvSpPr/>
          <p:nvPr/>
        </p:nvSpPr>
        <p:spPr>
          <a:xfrm>
            <a:off x="11201400" y="4727448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7269480" y="5349240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= Supply Chain Risk Mgmt, new in Rev 5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A · Control Frameworks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DEEP-DIVE 3 OF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ISO/IEC 27001:2022 — the certifiable ISMS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standard for an Information Security Management System (ISMS); certifiable by an accredited body.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Clauses 4–10 are the mandatory management-system requirements: context, leadership, planning, support, operation, evaluation, improvement.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A (2022): 93 controls in 4 themes — Organizational (37), People (8), Physical (14), Technological (34).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new 2022 controls: threat intelligence, cloud security, data masking, DLP, secure coding, monitoring, and more.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Statement of Applicability (SoA) justifies each included or excluded control; risk-based at its core.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runs a 3-year cycle with annual surveillance audits.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406640" y="1783080"/>
            <a:ext cx="4236415" cy="1691640"/>
          </a:xfrm>
          <a:prstGeom prst="roundRect">
            <a:avLst>
              <a:gd name="adj" fmla="val 4324"/>
            </a:avLst>
          </a:prstGeom>
          <a:solidFill>
            <a:srgbClr val="FBF1DC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71232" y="1929384"/>
            <a:ext cx="384048" cy="384048"/>
          </a:xfrm>
          <a:prstGeom prst="ellipse">
            <a:avLst/>
          </a:prstGeom>
          <a:solidFill>
            <a:srgbClr val="E0A12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925" y="2033077"/>
            <a:ext cx="176662" cy="1766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83296" y="1892808"/>
            <a:ext cx="3413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for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7680960" y="2560320"/>
            <a:ext cx="3687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needing an internationally recognized certificate to win customer trust.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fit for global, SaaS, and enterprise programs.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406640" y="3794760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A — 93 controls in 4 themes: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406640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189720" y="4151376"/>
            <a:ext cx="2041855" cy="274320"/>
          </a:xfrm>
          <a:prstGeom prst="roundRect">
            <a:avLst>
              <a:gd name="adj" fmla="val 13333"/>
            </a:avLst>
          </a:prstGeom>
          <a:solidFill>
            <a:srgbClr val="13294B"/>
          </a:solidFill>
          <a:ln/>
        </p:spPr>
      </p:sp>
      <p:sp>
        <p:nvSpPr>
          <p:cNvPr id="15" name="Text 11"/>
          <p:cNvSpPr/>
          <p:nvPr/>
        </p:nvSpPr>
        <p:spPr>
          <a:xfrm>
            <a:off x="11286439" y="41148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406640" y="45354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Technological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9189720" y="4572000"/>
            <a:ext cx="1876299" cy="27432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/>
        </p:spPr>
      </p:sp>
      <p:sp>
        <p:nvSpPr>
          <p:cNvPr id="18" name="Text 14"/>
          <p:cNvSpPr/>
          <p:nvPr/>
        </p:nvSpPr>
        <p:spPr>
          <a:xfrm>
            <a:off x="11120883" y="45354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406640" y="49560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9189720" y="4992624"/>
            <a:ext cx="772594" cy="274320"/>
          </a:xfrm>
          <a:prstGeom prst="roundRect">
            <a:avLst>
              <a:gd name="adj" fmla="val 13333"/>
            </a:avLst>
          </a:prstGeom>
          <a:solidFill>
            <a:srgbClr val="12959E"/>
          </a:solidFill>
          <a:ln/>
        </p:spPr>
      </p:sp>
      <p:sp>
        <p:nvSpPr>
          <p:cNvPr id="21" name="Text 17"/>
          <p:cNvSpPr/>
          <p:nvPr/>
        </p:nvSpPr>
        <p:spPr>
          <a:xfrm>
            <a:off x="10017178" y="49560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406640" y="53766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9189720" y="5413248"/>
            <a:ext cx="441482" cy="274320"/>
          </a:xfrm>
          <a:prstGeom prst="roundRect">
            <a:avLst>
              <a:gd name="adj" fmla="val 13333"/>
            </a:avLst>
          </a:prstGeom>
          <a:solidFill>
            <a:srgbClr val="E0A12E"/>
          </a:solidFill>
          <a:ln/>
        </p:spPr>
      </p:sp>
      <p:sp>
        <p:nvSpPr>
          <p:cNvPr id="24" name="Text 20"/>
          <p:cNvSpPr/>
          <p:nvPr/>
        </p:nvSpPr>
        <p:spPr>
          <a:xfrm>
            <a:off x="9686066" y="53766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A · Control Frameworks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DEEP-DIVE 4 OF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 Controls v8 — prioritized safeguards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8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Controls and 153 Safeguards, ordered by impact — concrete and technical.</a:t>
            </a:r>
            <a:endParaRPr lang="en-US" sz="13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8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by activity, not by who owns the asset (v8 consolidated v7’s 20 → 18).</a:t>
            </a:r>
            <a:endParaRPr lang="en-US" sz="13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8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Groups scale to your risk and resources — IG1, IG2, IG3.</a:t>
            </a:r>
            <a:endParaRPr lang="en-US" sz="13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8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v8.1 (2024) added a Govern security function and aligned asset classes with CSF 2.0.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cleanly to CSF, 800-53, and ISO — a great answer to “where do I start?”</a:t>
            </a:r>
            <a:endParaRPr lang="en-US" sz="1380" dirty="0"/>
          </a:p>
        </p:txBody>
      </p:sp>
      <p:sp>
        <p:nvSpPr>
          <p:cNvPr id="7" name="Shape 4"/>
          <p:cNvSpPr/>
          <p:nvPr/>
        </p:nvSpPr>
        <p:spPr>
          <a:xfrm>
            <a:off x="7269480" y="1783080"/>
            <a:ext cx="4373575" cy="1060704"/>
          </a:xfrm>
          <a:prstGeom prst="roundRect">
            <a:avLst>
              <a:gd name="adj" fmla="val 6897"/>
            </a:avLst>
          </a:prstGeom>
          <a:solidFill>
            <a:srgbClr val="EAF4F4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52360" y="2075688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6"/>
          <p:cNvSpPr/>
          <p:nvPr/>
        </p:nvSpPr>
        <p:spPr>
          <a:xfrm>
            <a:off x="745236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IG1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138160" y="1892808"/>
            <a:ext cx="3322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cyber hygiene — 56 safeguards. A defensible minimum for every org.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269480" y="2990088"/>
            <a:ext cx="4373575" cy="1060704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52360" y="3282696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7452360" y="3282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IG2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138160" y="3099816"/>
            <a:ext cx="3322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controls for orgs managing more sensitive data and complexity.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269480" y="4197096"/>
            <a:ext cx="4373575" cy="1060704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52360" y="4489704"/>
            <a:ext cx="502920" cy="502920"/>
          </a:xfrm>
          <a:prstGeom prst="ellipse">
            <a:avLst/>
          </a:prstGeom>
          <a:solidFill>
            <a:srgbClr val="E0A12E"/>
          </a:solidFill>
          <a:ln/>
        </p:spPr>
      </p:sp>
      <p:sp>
        <p:nvSpPr>
          <p:cNvPr id="17" name="Text 14"/>
          <p:cNvSpPr/>
          <p:nvPr/>
        </p:nvSpPr>
        <p:spPr>
          <a:xfrm>
            <a:off x="7452360" y="4489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IG3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138160" y="4306824"/>
            <a:ext cx="3322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set — for orgs facing targeted, sophisticated attackers.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A · Control Frameworks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DEEP-DIVE 5 OF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2 — trust for service organizations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8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AICPA attestation (not a certification), performed by a licensed CPA firm — common for SaaS and cloud vendors.</a:t>
            </a:r>
            <a:endParaRPr lang="en-US" sz="13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8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five Trust Services Criteria: Security (Common Criteria — required), Availability, Processing Integrity, Confidentiality, Privacy.</a:t>
            </a:r>
            <a:endParaRPr lang="en-US" sz="13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8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= design of controls at a point in time; Type II = operating effectiveness over a period (typically 3–12 months).</a:t>
            </a:r>
            <a:endParaRPr lang="en-US" sz="13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8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request the report during vendor due diligence — the report is private, not a public certificate.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(Common Criteria) maps closely to COSO and to CSF / ISO control families.</a:t>
            </a:r>
            <a:endParaRPr lang="en-US" sz="1380" dirty="0"/>
          </a:p>
        </p:txBody>
      </p:sp>
      <p:sp>
        <p:nvSpPr>
          <p:cNvPr id="7" name="Text 4"/>
          <p:cNvSpPr/>
          <p:nvPr/>
        </p:nvSpPr>
        <p:spPr>
          <a:xfrm>
            <a:off x="7360920" y="1554480"/>
            <a:ext cx="4282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Trust Services Criteria: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360920" y="1783080"/>
            <a:ext cx="4282135" cy="658368"/>
          </a:xfrm>
          <a:prstGeom prst="roundRect">
            <a:avLst>
              <a:gd name="adj" fmla="val 11111"/>
            </a:avLst>
          </a:prstGeom>
          <a:solidFill>
            <a:srgbClr val="EAF4F4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525512" y="1929384"/>
            <a:ext cx="365760" cy="36576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0" name="Text 7"/>
          <p:cNvSpPr/>
          <p:nvPr/>
        </p:nvSpPr>
        <p:spPr>
          <a:xfrm>
            <a:off x="8019288" y="1837944"/>
            <a:ext cx="34591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19288" y="2130552"/>
            <a:ext cx="3459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– the Common Criteria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360920" y="2551176"/>
            <a:ext cx="428213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525512" y="269748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1"/>
          <p:cNvSpPr/>
          <p:nvPr/>
        </p:nvSpPr>
        <p:spPr>
          <a:xfrm>
            <a:off x="8019288" y="2606040"/>
            <a:ext cx="34591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19288" y="2898648"/>
            <a:ext cx="3459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&amp; resilience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360920" y="3319272"/>
            <a:ext cx="428213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525512" y="3465576"/>
            <a:ext cx="365760" cy="365760"/>
          </a:xfrm>
          <a:prstGeom prst="ellipse">
            <a:avLst/>
          </a:prstGeom>
          <a:solidFill>
            <a:srgbClr val="12959E"/>
          </a:solidFill>
          <a:ln/>
        </p:spPr>
      </p:sp>
      <p:sp>
        <p:nvSpPr>
          <p:cNvPr id="18" name="Text 15"/>
          <p:cNvSpPr/>
          <p:nvPr/>
        </p:nvSpPr>
        <p:spPr>
          <a:xfrm>
            <a:off x="8019288" y="3374136"/>
            <a:ext cx="34591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Integrity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019288" y="3666744"/>
            <a:ext cx="3459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accurate processing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360920" y="4087368"/>
            <a:ext cx="428213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525512" y="4233672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2" name="Text 19"/>
          <p:cNvSpPr/>
          <p:nvPr/>
        </p:nvSpPr>
        <p:spPr>
          <a:xfrm>
            <a:off x="8019288" y="4142232"/>
            <a:ext cx="34591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Confidentiality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019288" y="4434840"/>
            <a:ext cx="3459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confidential data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360920" y="4855464"/>
            <a:ext cx="428213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525512" y="5001768"/>
            <a:ext cx="365760" cy="365760"/>
          </a:xfrm>
          <a:prstGeom prst="ellipse">
            <a:avLst/>
          </a:prstGeom>
          <a:solidFill>
            <a:srgbClr val="E0A12E"/>
          </a:solidFill>
          <a:ln/>
        </p:spPr>
      </p:sp>
      <p:sp>
        <p:nvSpPr>
          <p:cNvPr id="26" name="Text 23"/>
          <p:cNvSpPr/>
          <p:nvPr/>
        </p:nvSpPr>
        <p:spPr>
          <a:xfrm>
            <a:off x="8019288" y="4910328"/>
            <a:ext cx="34591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019288" y="5202936"/>
            <a:ext cx="3459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information handling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A · Control Frameworks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DEEP-DIVE 6 OF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COBIT 2019 — governance of enterprise IT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8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ISACA framework for governing and managing enterprise IT — broader than security alone.</a:t>
            </a:r>
            <a:endParaRPr lang="en-US" sz="13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8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separates Governance (the board: evaluate, direct, monitor) from Management (plan, build, run, monitor).</a:t>
            </a:r>
            <a:endParaRPr lang="en-US" sz="13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8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governance &amp; management objectives across 5 domains.</a:t>
            </a:r>
            <a:endParaRPr lang="en-US" sz="138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8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Factors tailor the governance system; capability levels measure process maturity.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fit where security must align to enterprise IT governance, audit, and value delivery.</a:t>
            </a:r>
            <a:endParaRPr lang="en-US" sz="1380" dirty="0"/>
          </a:p>
        </p:txBody>
      </p:sp>
      <p:sp>
        <p:nvSpPr>
          <p:cNvPr id="7" name="Text 4"/>
          <p:cNvSpPr/>
          <p:nvPr/>
        </p:nvSpPr>
        <p:spPr>
          <a:xfrm>
            <a:off x="7269480" y="1554480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Diagram: 5 domains — governance vs management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269480" y="1920240"/>
            <a:ext cx="4373575" cy="566928"/>
          </a:xfrm>
          <a:prstGeom prst="roundRect">
            <a:avLst>
              <a:gd name="adj" fmla="val 12903"/>
            </a:avLst>
          </a:prstGeom>
          <a:solidFill>
            <a:srgbClr val="FBF1DC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15784" y="2039112"/>
            <a:ext cx="713232" cy="329184"/>
          </a:xfrm>
          <a:prstGeom prst="roundRect">
            <a:avLst>
              <a:gd name="adj" fmla="val 13889"/>
            </a:avLst>
          </a:prstGeom>
          <a:solidFill>
            <a:srgbClr val="E0A12E"/>
          </a:solidFill>
          <a:ln/>
        </p:spPr>
      </p:sp>
      <p:sp>
        <p:nvSpPr>
          <p:cNvPr id="10" name="Text 7"/>
          <p:cNvSpPr/>
          <p:nvPr/>
        </p:nvSpPr>
        <p:spPr>
          <a:xfrm>
            <a:off x="7415784" y="2039112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0" y="1956816"/>
            <a:ext cx="21790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Evaluate, Direct, Monitor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0408615" y="1956816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E0A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269480" y="2578608"/>
            <a:ext cx="4373575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15784" y="2697480"/>
            <a:ext cx="713232" cy="329184"/>
          </a:xfrm>
          <a:prstGeom prst="roundRect">
            <a:avLst>
              <a:gd name="adj" fmla="val 13889"/>
            </a:avLst>
          </a:prstGeom>
          <a:solidFill>
            <a:srgbClr val="1E3A5F"/>
          </a:solidFill>
          <a:ln/>
        </p:spPr>
      </p:sp>
      <p:sp>
        <p:nvSpPr>
          <p:cNvPr id="15" name="Text 12"/>
          <p:cNvSpPr/>
          <p:nvPr/>
        </p:nvSpPr>
        <p:spPr>
          <a:xfrm>
            <a:off x="7415784" y="269748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0" y="2615184"/>
            <a:ext cx="21790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Align, Plan, Organize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0408615" y="2615184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269480" y="3236976"/>
            <a:ext cx="4373575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415784" y="3355848"/>
            <a:ext cx="713232" cy="329184"/>
          </a:xfrm>
          <a:prstGeom prst="roundRect">
            <a:avLst>
              <a:gd name="adj" fmla="val 13889"/>
            </a:avLst>
          </a:prstGeom>
          <a:solidFill>
            <a:srgbClr val="0E7C86"/>
          </a:solidFill>
          <a:ln/>
        </p:spPr>
      </p:sp>
      <p:sp>
        <p:nvSpPr>
          <p:cNvPr id="20" name="Text 17"/>
          <p:cNvSpPr/>
          <p:nvPr/>
        </p:nvSpPr>
        <p:spPr>
          <a:xfrm>
            <a:off x="7415784" y="335584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29600" y="3273552"/>
            <a:ext cx="21790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Acquire, Implement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0408615" y="3273552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269480" y="3895344"/>
            <a:ext cx="4373575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415784" y="4014216"/>
            <a:ext cx="713232" cy="329184"/>
          </a:xfrm>
          <a:prstGeom prst="roundRect">
            <a:avLst>
              <a:gd name="adj" fmla="val 13889"/>
            </a:avLst>
          </a:prstGeom>
          <a:solidFill>
            <a:srgbClr val="1E3A5F"/>
          </a:solidFill>
          <a:ln/>
        </p:spPr>
      </p:sp>
      <p:sp>
        <p:nvSpPr>
          <p:cNvPr id="25" name="Text 22"/>
          <p:cNvSpPr/>
          <p:nvPr/>
        </p:nvSpPr>
        <p:spPr>
          <a:xfrm>
            <a:off x="7415784" y="401421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3931920"/>
            <a:ext cx="21790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Deliver, Service, Support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10408615" y="3931920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269480" y="4553712"/>
            <a:ext cx="4373575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415784" y="4672584"/>
            <a:ext cx="713232" cy="329184"/>
          </a:xfrm>
          <a:prstGeom prst="roundRect">
            <a:avLst>
              <a:gd name="adj" fmla="val 13889"/>
            </a:avLst>
          </a:prstGeom>
          <a:solidFill>
            <a:srgbClr val="0E7C86"/>
          </a:solidFill>
          <a:ln/>
        </p:spPr>
      </p:sp>
      <p:sp>
        <p:nvSpPr>
          <p:cNvPr id="30" name="Text 27"/>
          <p:cNvSpPr/>
          <p:nvPr/>
        </p:nvSpPr>
        <p:spPr>
          <a:xfrm>
            <a:off x="7415784" y="4672584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229600" y="4590288"/>
            <a:ext cx="21790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Evaluate, Assess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10408615" y="4590288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A · Control Frameworks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frameworks at a glance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057400"/>
                <a:gridCol w="2514600"/>
                <a:gridCol w="1828800"/>
                <a:gridCol w="281635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 / Attest?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CSF 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Risk-based, 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Whole-org cyber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(self-assess)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language &amp; board reporting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 800-53 Rev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Prescriptive catalog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Federal systems / deep 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(basis for ATO)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FISMA, FedRAMP, control 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27001:2022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Risk-based ISMS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Org-wide infosec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certification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trust, certifiable program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Controls v8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Prescriptive safeguards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cyber hygiene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Prioritized starting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 + attestation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Service-organization 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attestation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/ vendor assurance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COBIT 2019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IT governance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governance &amp; audit alignment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jobs, not competitors — these frameworks are routinely run together.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A · Control Frameworks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SELECTION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framework for the job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5364328" cy="1627632"/>
          </a:xfrm>
          <a:prstGeom prst="roundRect">
            <a:avLst>
              <a:gd name="adj" fmla="val 4494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947672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3" y="2095805"/>
            <a:ext cx="252374" cy="2523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929384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Federal contractor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2960" y="2532888"/>
            <a:ext cx="4815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800-53 + RMF are mandated. Map to CSF 2.0 for executive reporting and cross-framework crosswalks.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78728" y="1691640"/>
            <a:ext cx="5364328" cy="1627632"/>
          </a:xfrm>
          <a:prstGeom prst="roundRect">
            <a:avLst>
              <a:gd name="adj" fmla="val 4494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07328" y="1947672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460" y="2095805"/>
            <a:ext cx="252374" cy="2523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93128" y="1929384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SaaS startup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553048" y="2532888"/>
            <a:ext cx="4815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CIS v8 (IG1) → earn SOC 2 for sales → pursue ISO 27001 to scale globally.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593592"/>
            <a:ext cx="5364328" cy="1627632"/>
          </a:xfrm>
          <a:prstGeom prst="roundRect">
            <a:avLst>
              <a:gd name="adj" fmla="val 4494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3849624"/>
            <a:ext cx="548640" cy="548640"/>
          </a:xfrm>
          <a:prstGeom prst="ellipse">
            <a:avLst/>
          </a:prstGeom>
          <a:solidFill>
            <a:srgbClr val="12959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3" y="3997757"/>
            <a:ext cx="252374" cy="2523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831336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network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22960" y="4434840"/>
            <a:ext cx="4815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CSF / ISO risk core; the HIPAA Security Rule drives specific safeguards (Session B).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278728" y="3593592"/>
            <a:ext cx="5364328" cy="1627632"/>
          </a:xfrm>
          <a:prstGeom prst="roundRect">
            <a:avLst>
              <a:gd name="adj" fmla="val 4494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07328" y="3849624"/>
            <a:ext cx="548640" cy="548640"/>
          </a:xfrm>
          <a:prstGeom prst="ellipse">
            <a:avLst/>
          </a:prstGeom>
          <a:solidFill>
            <a:srgbClr val="E0A12E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5460" y="3997757"/>
            <a:ext cx="252374" cy="25237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93128" y="3831336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/ fintech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553048" y="4434840"/>
            <a:ext cx="4815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COBIT for IT governance plus a CSF / ISO core; GLBA and PCI DSS shape required controls.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48640" y="5669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are not mutually exclusive — mature programs run a risk-based core, prescriptive safeguards, and a certification or attestation for trust.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A · Control Frameworks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FUNCTION FOCUS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GOVERN &amp; IDENTIFY show up everywhere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663440"/>
                <a:gridCol w="450799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 appears 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appears 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CSF 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 function (GV.OC / RM / RR / PO / OV / SC)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function (ID.AM / RA / IM)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 800-53 Rev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PM, PL, PS, SR families (program &amp; supply chain)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RA, CM, PM (risk &amp; asset/config mgmt)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27001:2022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Clauses 4–6 + A.5 Organizational 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Clause 6 risk assessment; A.5 / A.8 asset &amp;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Controls v8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v8.1 Govern function; ownership in Controls 1–3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1–2 (asset inventory), 3 (data)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CC1 control environment; CC3 risk assessment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CC3 risk assessment; CC6 logical-access 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COBIT 2019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EDM domain (Evaluate, Direct, Monitor)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APO12 (risk), APO09 (services &amp; assets)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two ideas — set direction &amp; accountability (GOVERN), know your assets &amp; risks (IDENTIFY) — in each framework’s dialect.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A · Control Frameworks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&amp; watch-outs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572000"/>
                <a:gridCol w="441655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Watch-out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CSF 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common language; great for board dialogue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prescriptive — needs controls beneath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 800-53 Rev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Exhaustive and authoritative 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Heavy; overkill outside federal contexts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27001:2022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Certifiable and globally trusted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&amp; audit overhead; documentation-heavy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Controls v8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Concrete, prioritized, fast to act 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focus; lighter on governance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Strong, independent customer assurance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Scope- and period-bound; not a public cert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COBIT 2019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Breadth across IT governance &amp;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Abstract; thin on technical security detail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A · Control Frameworks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4023360" cy="40233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E0A1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" y="688086"/>
            <a:ext cx="315468" cy="3154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417320" y="84124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 — key takeaways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234440" y="173736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turn “be secure” into structured, auditable outcomes — and a shared language.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56946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234440" y="2523744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through three lenses: prescriptive, risk-based, and certification / attestation.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35584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CSF 2.0 is the hub; 800-53 the deep catalog; ISO the certifiable ISMS; CIS the prioritized baseline; SOC 2 the vendor attestation; COBIT the governance layer.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14223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234440" y="4096512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and IDENTIFY appear in every framework — different words, same intent.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4928616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928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234440" y="4882896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by industry, obligations, and customer expectations — and expect to blend several.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4D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Session B: the laws and regulations that turn these choices into obligations.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A · Control Frameworks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Session A — Control Frameworks</dc:title>
  <dc:subject>PptxGenJS Presentation</dc:subject>
  <dc:creator>GRC Course</dc:creator>
  <cp:lastModifiedBy>GRC Course</cp:lastModifiedBy>
  <cp:revision>1</cp:revision>
  <dcterms:created xsi:type="dcterms:W3CDTF">2026-06-28T01:06:57Z</dcterms:created>
  <dcterms:modified xsi:type="dcterms:W3CDTF">2026-06-28T01:06:57Z</dcterms:modified>
</cp:coreProperties>
</file>