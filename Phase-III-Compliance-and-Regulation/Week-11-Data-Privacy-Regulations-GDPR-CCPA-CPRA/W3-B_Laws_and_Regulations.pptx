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97680"/>
            <a:ext cx="3108960" cy="31089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868680" cy="8686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184" y="1606144"/>
            <a:ext cx="399593" cy="3995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423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COMPLIANCE FRAMEWORKS &amp; REGULATORY REQUIREMENTS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788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 · 1.5 hours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320040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Laws &amp; Regulations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548640" y="48920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· HIPAA · PCI DSS · SOX · CCPA/CPRA · GLBA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5989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Function focus:  GOVERN  /  IDENTIFY   —   where obligations become requirements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regulations we’ll work through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9AA8B5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7567" y="621792"/>
            <a:ext cx="310896" cy="3108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37360"/>
            <a:ext cx="3515258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8096" y="201168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229" y="2159813"/>
            <a:ext cx="252374" cy="2523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975104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GDPR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463040" y="2450592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data protection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338218" y="1737360"/>
            <a:ext cx="3515258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57674" y="201168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5807" y="2159813"/>
            <a:ext cx="252374" cy="2523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52618" y="1975104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HIPAA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5252618" y="2450592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healthcare PHI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127797" y="1737360"/>
            <a:ext cx="3515258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47253" y="201168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5386" y="2159813"/>
            <a:ext cx="252374" cy="25237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42197" y="1975104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PCI DSS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9042197" y="2450592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card data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48640" y="3401568"/>
            <a:ext cx="3515258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68096" y="3675888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229" y="3824021"/>
            <a:ext cx="252374" cy="25237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63040" y="3639312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SOX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1463040" y="4114800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Public-company financials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4338218" y="3401568"/>
            <a:ext cx="3515258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557674" y="3675888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5807" y="3824021"/>
            <a:ext cx="252374" cy="25237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252618" y="3639312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CCPA / CPRA</a:t>
            </a:r>
            <a:endParaRPr lang="en-US" sz="1700" dirty="0"/>
          </a:p>
        </p:txBody>
      </p:sp>
      <p:sp>
        <p:nvSpPr>
          <p:cNvPr id="30" name="Text 22"/>
          <p:cNvSpPr/>
          <p:nvPr/>
        </p:nvSpPr>
        <p:spPr>
          <a:xfrm>
            <a:off x="5252618" y="4114800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consumer privacy</a:t>
            </a:r>
            <a:endParaRPr lang="en-US" sz="1250" dirty="0"/>
          </a:p>
        </p:txBody>
      </p:sp>
      <p:sp>
        <p:nvSpPr>
          <p:cNvPr id="31" name="Shape 23"/>
          <p:cNvSpPr/>
          <p:nvPr/>
        </p:nvSpPr>
        <p:spPr>
          <a:xfrm>
            <a:off x="8127797" y="3401568"/>
            <a:ext cx="3515258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347253" y="3675888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5386" y="3824021"/>
            <a:ext cx="252374" cy="25237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042197" y="3639312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GLBA</a:t>
            </a:r>
            <a:endParaRPr lang="en-US" sz="1700" dirty="0"/>
          </a:p>
        </p:txBody>
      </p:sp>
      <p:sp>
        <p:nvSpPr>
          <p:cNvPr id="35" name="Text 26"/>
          <p:cNvSpPr/>
          <p:nvPr/>
        </p:nvSpPr>
        <p:spPr>
          <a:xfrm>
            <a:off x="9042197" y="4114800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institutions</a:t>
            </a:r>
            <a:endParaRPr lang="en-US" sz="1250" dirty="0"/>
          </a:p>
        </p:txBody>
      </p:sp>
      <p:sp>
        <p:nvSpPr>
          <p:cNvPr id="36" name="Text 27"/>
          <p:cNvSpPr/>
          <p:nvPr/>
        </p:nvSpPr>
        <p:spPr>
          <a:xfrm>
            <a:off x="548640" y="5486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each: who it applies to, what it requires, the penalties — and how it maps to security controls.</a:t>
            </a:r>
            <a:endParaRPr lang="en-US" sz="1300" dirty="0"/>
          </a:p>
        </p:txBody>
      </p:sp>
      <p:sp>
        <p:nvSpPr>
          <p:cNvPr id="37" name="Text 2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Session B · Laws &amp; Regulations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Compliance, security, and privacy are not the same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9AA8B5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7567" y="621792"/>
            <a:ext cx="310896" cy="3108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3515258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013661" y="1947672"/>
            <a:ext cx="585216" cy="585216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670" y="2105680"/>
            <a:ext cx="269199" cy="26919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2651760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31520" y="3044952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systems &amp; data from harm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22960" y="347472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Confidentiality, integrity, availability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Controls: access, encryption, monitoring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“Are we protected?”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38218" y="1691640"/>
            <a:ext cx="3515258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803240" y="1947672"/>
            <a:ext cx="585216" cy="585216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248" y="2105680"/>
            <a:ext cx="269199" cy="26919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21098" y="2651760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4521098" y="3044952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Rightful handling of personal data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612538" y="347472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Consent, purpose, minimization, rights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 collection, use, sharing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“Should we hold this data — and how?”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127797" y="1691640"/>
            <a:ext cx="3515258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592818" y="1947672"/>
            <a:ext cx="585216" cy="585216"/>
          </a:xfrm>
          <a:prstGeom prst="ellipse">
            <a:avLst/>
          </a:prstGeom>
          <a:solidFill>
            <a:srgbClr val="E0A12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0826" y="2105680"/>
            <a:ext cx="269199" cy="26919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10677" y="2651760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8310677" y="3044952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0A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external obligations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8402117" y="347472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Laws, regulations, contracts, standards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that controls operate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we prove it to a regulator?”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4754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be compliant yet insecure, or secure yet non-compliant — a mature program deliberately covers all three.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Session B · Laws &amp; Regulations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classification — the regulatory hinge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9AA8B5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7567" y="62179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91640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regulations attach to specific data types — so you cannot comply until you know what data you hold.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drives handling rules: who may access it, how it’s stored, encrypted, retained, and destroyed.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scopes audits — e.g., PCI DSS only covers the cardholder-data environment, not your whole network.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each tier to a regulation and a control set; this is the bridge from Session A frameworks to Session C mapping.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0" y="1554480"/>
            <a:ext cx="5242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Diagram: a four-tier classification ladder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0" y="1874520"/>
            <a:ext cx="5242255" cy="841248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65392" y="2057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2959E"/>
          </a:solidFill>
          <a:ln/>
        </p:spPr>
      </p:sp>
      <p:sp>
        <p:nvSpPr>
          <p:cNvPr id="10" name="Text 7"/>
          <p:cNvSpPr/>
          <p:nvPr/>
        </p:nvSpPr>
        <p:spPr>
          <a:xfrm>
            <a:off x="656539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178040" y="1965960"/>
            <a:ext cx="4327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178040" y="2276856"/>
            <a:ext cx="4327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site, press releases  </a:t>
            </a:r>
            <a:pPr indent="0" marL="0">
              <a:buNone/>
            </a:pPr>
            <a:r>
              <a:rPr lang="en-US" sz="1100" b="1" dirty="0">
                <a:solidFill>
                  <a:srgbClr val="129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Minimal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0" y="2834640"/>
            <a:ext cx="5242255" cy="841248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65392" y="3017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15" name="Text 12"/>
          <p:cNvSpPr/>
          <p:nvPr/>
        </p:nvSpPr>
        <p:spPr>
          <a:xfrm>
            <a:off x="6565392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178040" y="2926080"/>
            <a:ext cx="4327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7178040" y="3236976"/>
            <a:ext cx="4327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charts, internal wikis  </a:t>
            </a:r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Access-controlled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0" y="3794760"/>
            <a:ext cx="5242255" cy="841248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565392" y="3977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20" name="Text 17"/>
          <p:cNvSpPr/>
          <p:nvPr/>
        </p:nvSpPr>
        <p:spPr>
          <a:xfrm>
            <a:off x="6565392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178040" y="3886200"/>
            <a:ext cx="4327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Confidential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7178040" y="4197096"/>
            <a:ext cx="4327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Contracts, source code, financials (SOX)  </a:t>
            </a:r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Encrypted, least privilege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400800" y="4754880"/>
            <a:ext cx="5242255" cy="841248"/>
          </a:xfrm>
          <a:prstGeom prst="roundRect">
            <a:avLst>
              <a:gd name="adj" fmla="val 8696"/>
            </a:avLst>
          </a:prstGeom>
          <a:solidFill>
            <a:srgbClr val="FBF1DC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565392" y="4937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0A12E"/>
          </a:solidFill>
          <a:ln/>
        </p:spPr>
      </p:sp>
      <p:sp>
        <p:nvSpPr>
          <p:cNvPr id="25" name="Text 22"/>
          <p:cNvSpPr/>
          <p:nvPr/>
        </p:nvSpPr>
        <p:spPr>
          <a:xfrm>
            <a:off x="6565392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178040" y="4846320"/>
            <a:ext cx="4327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Regulated / Sensitive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7178040" y="5157216"/>
            <a:ext cx="4327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PII, PHI (HIPAA), cardholder data (PCI)  </a:t>
            </a:r>
            <a:pPr indent="0" marL="0">
              <a:buNone/>
            </a:pPr>
            <a:r>
              <a:rPr lang="en-US" sz="1100" b="1" dirty="0">
                <a:solidFill>
                  <a:srgbClr val="E0A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Strict controls + audit evidence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Session B · Laws &amp; Regulations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1 OF 6 · PRIVACY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GDPR — EU General Data Protection Regulation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9AA8B5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7567" y="62179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27632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APPLIES TO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1883664"/>
            <a:ext cx="6537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organization — anywhere — that processes personal data of people in the EU/EEA. Applies to controllers and processors; extraterritorial reach.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2606040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REQUIREMENTS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2880360"/>
            <a:ext cx="6537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lawful basis for every processing activity (consent, contract, legitimate interest…).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Data-subject rights: access, rectification, erasure, portability, objection.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 &amp; by default; data minimization and purpose limitation.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DPIAs for high-risk processing; a DPO where required.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notification to the supervisory authority within 72 hours.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60920" y="1783080"/>
            <a:ext cx="4282135" cy="2103120"/>
          </a:xfrm>
          <a:prstGeom prst="roundRect">
            <a:avLst>
              <a:gd name="adj" fmla="val 3478"/>
            </a:avLst>
          </a:prstGeom>
          <a:solidFill>
            <a:srgbClr val="EAF4F4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562088" y="1956816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5532" y="2080260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38160" y="1975104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635240" y="2514600"/>
            <a:ext cx="37334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EU e-commerce store must record consent for marketing, let customers download or delete their data on request, and report a breach of customer records within 72 hours.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360920" y="4069080"/>
            <a:ext cx="4282135" cy="1600200"/>
          </a:xfrm>
          <a:prstGeom prst="roundRect">
            <a:avLst>
              <a:gd name="adj" fmla="val 4571"/>
            </a:avLst>
          </a:prstGeom>
          <a:solidFill>
            <a:srgbClr val="FBF1DC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562088" y="4242816"/>
            <a:ext cx="457200" cy="457200"/>
          </a:xfrm>
          <a:prstGeom prst="ellipse">
            <a:avLst/>
          </a:prstGeom>
          <a:solidFill>
            <a:srgbClr val="E0A12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532" y="4366260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38160" y="4261104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Teeth / penalties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7635240" y="4800600"/>
            <a:ext cx="3733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€20 million or 4% of global annual turnover — whichever is higher.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Session B · Laws &amp; Regulations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2 OF 6 · PRIVACY + SECURITY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HIPAA — U.S. health information protection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9AA8B5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7567" y="62179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27632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APPLIES TO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1883664"/>
            <a:ext cx="6537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entities (providers, health plans, clearinghouses) and their business associates that handle Protected Health Information (PHI / ePHI).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2606040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REQUIREMENTS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2880360"/>
            <a:ext cx="6537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Rule — governs use &amp; disclosure of PHI; “minimum necessary” standard.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Rule — administrative, physical, and technical safeguards for ePHI.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Notification Rule — notify individuals, HHS, and sometimes the media.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Associate Agreements (BAAs) flow obligations down to vendors.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 of ePHI is an explicit, recurring requirement.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60920" y="1783080"/>
            <a:ext cx="4282135" cy="2103120"/>
          </a:xfrm>
          <a:prstGeom prst="roundRect">
            <a:avLst>
              <a:gd name="adj" fmla="val 3478"/>
            </a:avLst>
          </a:prstGeom>
          <a:solidFill>
            <a:srgbClr val="EAF4F4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562088" y="1956816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5532" y="2080260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38160" y="1975104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635240" y="2514600"/>
            <a:ext cx="37334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must encrypt ePHI, restrict record access to treating staff, sign BAAs with its cloud and billing vendors, and notify patients and HHS after a data breach.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360920" y="4069080"/>
            <a:ext cx="4282135" cy="1600200"/>
          </a:xfrm>
          <a:prstGeom prst="roundRect">
            <a:avLst>
              <a:gd name="adj" fmla="val 4571"/>
            </a:avLst>
          </a:prstGeom>
          <a:solidFill>
            <a:srgbClr val="FBF1DC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562088" y="4242816"/>
            <a:ext cx="457200" cy="457200"/>
          </a:xfrm>
          <a:prstGeom prst="ellipse">
            <a:avLst/>
          </a:prstGeom>
          <a:solidFill>
            <a:srgbClr val="E0A12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532" y="4366260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38160" y="4261104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Teeth / penalties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7635240" y="4800600"/>
            <a:ext cx="3733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civil penalties up to ~$2M/violation category per year; enforced by HHS OCR; criminal penalties possible.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Session B · Laws &amp; Regulations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3 OF 6 · CONTRACTUAL STANDARD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PCI DSS v4.0.1 — protecting cardholder data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9AA8B5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7567" y="62179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27632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APPLIES TO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1883664"/>
            <a:ext cx="6537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entity that stores, processes, or transmits payment-card data. A contractual standard from the card brands — not a law, but mandatory to accept cards.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2606040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REQUIREMENTS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2880360"/>
            <a:ext cx="6537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requirements across 6 goals (secure network, protect data, vuln mgmt, access control, monitoring, policy).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is the Cardholder Data Environment (CDE) — segmentation shrinks it.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store sensitive authentication data; render the PAN unreadable (encryption/tokenization).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v4.0 (2022) future-dated requirements became mandatory 31 Mar 2025; v3.2.1 retired.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via SAQ or a Report on Compliance (ROC), by merchant level.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60920" y="1783080"/>
            <a:ext cx="4282135" cy="2103120"/>
          </a:xfrm>
          <a:prstGeom prst="roundRect">
            <a:avLst>
              <a:gd name="adj" fmla="val 3478"/>
            </a:avLst>
          </a:prstGeom>
          <a:solidFill>
            <a:srgbClr val="EAF4F4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562088" y="1956816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5532" y="2080260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38160" y="1975104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635240" y="2514600"/>
            <a:ext cx="37334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online retailer tokenizes card numbers, isolates its CDE, runs quarterly ASV scans, and submits an annual SAQ or ROC to its acquiring bank.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360920" y="4069080"/>
            <a:ext cx="4282135" cy="1600200"/>
          </a:xfrm>
          <a:prstGeom prst="roundRect">
            <a:avLst>
              <a:gd name="adj" fmla="val 4571"/>
            </a:avLst>
          </a:prstGeom>
          <a:solidFill>
            <a:srgbClr val="FBF1DC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562088" y="4242816"/>
            <a:ext cx="457200" cy="457200"/>
          </a:xfrm>
          <a:prstGeom prst="ellipse">
            <a:avLst/>
          </a:prstGeom>
          <a:solidFill>
            <a:srgbClr val="E0A12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532" y="4366260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38160" y="4261104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Teeth / penalties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7635240" y="4800600"/>
            <a:ext cx="3733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Card-brand fines, higher transaction fees, forensic costs, and loss of the ability to process card payments.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Session B · Laws &amp; Regulations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4 OF 6 · FINANCIAL GOVERNANCE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SOX — Sarbanes-Oxley Act of 2002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9AA8B5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7567" y="62179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27632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APPLIES TO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1883664"/>
            <a:ext cx="6537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publicly traded companies (and their auditors). Focused on the integrity of financial reporting — IT controls are in scope because financial data lives in systems.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2606040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REQUIREMENTS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2880360"/>
            <a:ext cx="6537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302 — executives personally certify the financial statements.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404 — management &amp; auditors assess Internal Control over Financial Reporting (ICFR).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General Controls (ITGC): access, change management, and operations over financial systems.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Segregation of duties and audit-trail / log retention.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Overseen by the SEC and PCAOB.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60920" y="1783080"/>
            <a:ext cx="4282135" cy="2103120"/>
          </a:xfrm>
          <a:prstGeom prst="roundRect">
            <a:avLst>
              <a:gd name="adj" fmla="val 3478"/>
            </a:avLst>
          </a:prstGeom>
          <a:solidFill>
            <a:srgbClr val="EAF4F4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562088" y="1956816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5532" y="2080260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38160" y="1975104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635240" y="2514600"/>
            <a:ext cx="37334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SaaS company restricts who can change its billing/ERP systems, logs every change, enforces segregation of duties, and evidences these ITGCs for its external auditor.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360920" y="4069080"/>
            <a:ext cx="4282135" cy="1600200"/>
          </a:xfrm>
          <a:prstGeom prst="roundRect">
            <a:avLst>
              <a:gd name="adj" fmla="val 4571"/>
            </a:avLst>
          </a:prstGeom>
          <a:solidFill>
            <a:srgbClr val="FBF1DC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562088" y="4242816"/>
            <a:ext cx="457200" cy="457200"/>
          </a:xfrm>
          <a:prstGeom prst="ellipse">
            <a:avLst/>
          </a:prstGeom>
          <a:solidFill>
            <a:srgbClr val="E0A12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532" y="4366260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38160" y="4261104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Teeth / penalties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7635240" y="4800600"/>
            <a:ext cx="3733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enforcement, fines, delisting risk; criminal penalties for executives who knowingly certify false statements.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Session B · Laws &amp; Regulations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5 OF 6 · PRIVACY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CCPA / CPRA — California consumer privacy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9AA8B5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7567" y="62179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27632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APPLIES TO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1883664"/>
            <a:ext cx="6537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For-profit businesses handling California residents’ data that meet a threshold: ~$25M+ revenue, 100k+ consumers/households, or 50%+ revenue from selling/sharing data.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2606040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REQUIREMENTS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2880360"/>
            <a:ext cx="6537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rights: know, access, delete, correct, and opt out of sale/sharing.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limit use of sensitive personal information (added by CPRA).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privacy notices and a “Do Not Sell or Share My Personal Information” link.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security; data-minimization and purpose-limitation duties.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CPRA (effective 2023) created the California Privacy Protection Agency (CPPA) to enforce.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60920" y="1783080"/>
            <a:ext cx="4282135" cy="2103120"/>
          </a:xfrm>
          <a:prstGeom prst="roundRect">
            <a:avLst>
              <a:gd name="adj" fmla="val 3478"/>
            </a:avLst>
          </a:prstGeom>
          <a:solidFill>
            <a:srgbClr val="EAF4F4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562088" y="1956816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5532" y="2080260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38160" y="1975104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635240" y="2514600"/>
            <a:ext cx="37334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consumer e-commerce brand posts a privacy notice, honors “do not sell/share” and deletion requests, and limits how it uses precise geolocation and other sensitive data.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360920" y="4069080"/>
            <a:ext cx="4282135" cy="1600200"/>
          </a:xfrm>
          <a:prstGeom prst="roundRect">
            <a:avLst>
              <a:gd name="adj" fmla="val 4571"/>
            </a:avLst>
          </a:prstGeom>
          <a:solidFill>
            <a:srgbClr val="FBF1DC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562088" y="4242816"/>
            <a:ext cx="457200" cy="457200"/>
          </a:xfrm>
          <a:prstGeom prst="ellipse">
            <a:avLst/>
          </a:prstGeom>
          <a:solidFill>
            <a:srgbClr val="E0A12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532" y="4366260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38160" y="4261104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Teeth / penalties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7635240" y="4800600"/>
            <a:ext cx="3733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$2,500 per violation / $7,500 per intentional or minor-related violation; CPPA &amp; AG enforcement; limited private right of action for breaches.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Session B · Laws &amp; Regulations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6 OF 6 · FINANCIAL PRIVACY + SECURITY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GLBA — Gramm-Leach-Bliley Act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9AA8B5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7567" y="62179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27632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APPLIES TO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1883664"/>
            <a:ext cx="6537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financial institutions — banks, lenders, insurers, and many fintechs offering financial products or services to consumers.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2606040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REQUIREMENTS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2880360"/>
            <a:ext cx="6537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Privacy Rule — privacy notices and opt-out of certain data sharing.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Safeguards Rule — a written information security program protecting customer data.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FTC’s updated Safeguards Rule (2021; in force 2023): named Qualified Individual, risk assessment, MFA, encryption, access controls, vendor oversight.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Pretexting protections against social-engineering of customer information.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60920" y="1783080"/>
            <a:ext cx="4282135" cy="2103120"/>
          </a:xfrm>
          <a:prstGeom prst="roundRect">
            <a:avLst>
              <a:gd name="adj" fmla="val 3478"/>
            </a:avLst>
          </a:prstGeom>
          <a:solidFill>
            <a:srgbClr val="EAF4F4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562088" y="1956816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5532" y="2080260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38160" y="1975104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635240" y="2514600"/>
            <a:ext cx="37334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lender appoints a Qualified Individual, enforces MFA and encryption, runs documented risk assessments, and oversees the security of its core-banking and KYC vendors.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360920" y="4069080"/>
            <a:ext cx="4282135" cy="1600200"/>
          </a:xfrm>
          <a:prstGeom prst="roundRect">
            <a:avLst>
              <a:gd name="adj" fmla="val 4571"/>
            </a:avLst>
          </a:prstGeom>
          <a:solidFill>
            <a:srgbClr val="FBF1DC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562088" y="4242816"/>
            <a:ext cx="457200" cy="457200"/>
          </a:xfrm>
          <a:prstGeom prst="ellipse">
            <a:avLst/>
          </a:prstGeom>
          <a:solidFill>
            <a:srgbClr val="E0A12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532" y="4366260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38160" y="4261104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Teeth / penalties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7635240" y="4800600"/>
            <a:ext cx="3733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FTC / banking-regulator enforcement, significant fines, and personal liability for officers and directors.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Session B · Laws &amp; Regulations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vs. security — and who governs whom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9AA8B5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7567" y="621792"/>
            <a:ext cx="310896" cy="310896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468880"/>
                <a:gridCol w="3657600"/>
                <a:gridCol w="295351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lens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data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enforces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(+ security)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data of EU/EEA people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supervisory authorities (DPAs)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HIPAA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+ Security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 / ePHI (health)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U.S. HHS Office for Civil Rights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 DSS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Cardholder data (CDE)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brands / acquiring banks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integrity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Financial-reporting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 &amp; PCAOB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CCPA / CPRA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California consumers’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CPPA &amp; California AG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GLBA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+ Security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 financial information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FTC &amp; banking regulators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asks “should we hold and use this data?” Security asks “is it protected?” Most regimes demand both — plus evidence.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Session B · Laws &amp; Regulations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regulations side by side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9AA8B5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7567" y="621792"/>
            <a:ext cx="310896" cy="310896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3063240"/>
                <a:gridCol w="3611880"/>
                <a:gridCol w="263347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Applies 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Penalty ceiling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Processors of EU/EEA personal data (global)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Lawful basis, rights, 72-hr breach notice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€20M or 4% global turnover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HIPAA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Healthcare entities &amp; business associates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Privacy/Security/Breach rules for ePHI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~$2M per category / 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 DSS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Anyone handling payment-card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requirements over the CDE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Fines + loss of card processing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U.S. public companies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ICFR &amp; IT general controls (§302/§404)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 action; exec criminal liability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CCPA/CPRA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Larger for-profits with CA consumer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 rights; opt-out; reasonable security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$2,500–$7,500 per violation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32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GLBA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U.S. financial institutions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&amp; Safeguards Rules; MFA, encryption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 fines; officer liability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overlap: encryption, access control, monitoring, and risk assessment satisfy many of these at once — the premise of Session C.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Session B · Laws &amp; Regulations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regulations apply? Four organizations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002975" y="457200"/>
            <a:ext cx="640080" cy="640080"/>
          </a:xfrm>
          <a:prstGeom prst="ellipse">
            <a:avLst/>
          </a:prstGeom>
          <a:solidFill>
            <a:srgbClr val="13294B"/>
          </a:solidFill>
          <a:ln/>
          <a:effectLst>
            <a:outerShdw sx="100000" sy="100000" kx="0" ky="0" algn="bl" rotWithShape="0" blurRad="76200" dist="25400" dir="5400000">
              <a:srgbClr val="9AA8B5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7567" y="621792"/>
            <a:ext cx="310896" cy="3108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5364328" cy="1627632"/>
          </a:xfrm>
          <a:prstGeom prst="roundRect">
            <a:avLst>
              <a:gd name="adj" fmla="val 4494"/>
            </a:avLst>
          </a:prstGeom>
          <a:solidFill>
            <a:srgbClr val="F1F5F9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947672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373" y="2095805"/>
            <a:ext cx="252374" cy="2523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929384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22960" y="2532888"/>
            <a:ext cx="4815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(PHI) is primary; GDPR if treating EU patients; PCI DSS for the payments desk; SOX if publicly traded.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78728" y="1691640"/>
            <a:ext cx="5364328" cy="1627632"/>
          </a:xfrm>
          <a:prstGeom prst="roundRect">
            <a:avLst>
              <a:gd name="adj" fmla="val 4494"/>
            </a:avLst>
          </a:prstGeom>
          <a:solidFill>
            <a:srgbClr val="F1F5F9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07328" y="1947672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460" y="2095805"/>
            <a:ext cx="252374" cy="2523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93128" y="1929384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store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553048" y="2532888"/>
            <a:ext cx="4815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 for card data; GDPR for EU shoppers; CCPA/CPRA for Californians; GLBA only if it offers financing.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3593592"/>
            <a:ext cx="5364328" cy="1627632"/>
          </a:xfrm>
          <a:prstGeom prst="roundRect">
            <a:avLst>
              <a:gd name="adj" fmla="val 4494"/>
            </a:avLst>
          </a:prstGeom>
          <a:solidFill>
            <a:srgbClr val="F1F5F9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3849624"/>
            <a:ext cx="548640" cy="548640"/>
          </a:xfrm>
          <a:prstGeom prst="ellipse">
            <a:avLst/>
          </a:prstGeom>
          <a:solidFill>
            <a:srgbClr val="12959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373" y="3997757"/>
            <a:ext cx="252374" cy="25237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3831336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/ lender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22960" y="4434840"/>
            <a:ext cx="4815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GLBA + SOX (if public); PCI DSS for cards; GDPR/CCPA for the personal data it holds.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278728" y="3593592"/>
            <a:ext cx="5364328" cy="1627632"/>
          </a:xfrm>
          <a:prstGeom prst="roundRect">
            <a:avLst>
              <a:gd name="adj" fmla="val 4494"/>
            </a:avLst>
          </a:prstGeom>
          <a:solidFill>
            <a:srgbClr val="F1F5F9"/>
          </a:solidFill>
          <a:ln w="12700">
            <a:solidFill>
              <a:srgbClr val="D7E0E8"/>
            </a:solidFill>
            <a:prstDash val="solid"/>
          </a:ln>
          <a:effectLst>
            <a:outerShdw sx="100000" sy="100000" kx="0" ky="0" algn="bl" rotWithShape="0" blurRad="88900" dist="38100" dir="5400000">
              <a:srgbClr val="9AA8B5">
                <a:alpha val="13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07328" y="3849624"/>
            <a:ext cx="548640" cy="548640"/>
          </a:xfrm>
          <a:prstGeom prst="ellipse">
            <a:avLst/>
          </a:prstGeom>
          <a:solidFill>
            <a:srgbClr val="E0A12E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5460" y="3997757"/>
            <a:ext cx="252374" cy="25237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93128" y="3831336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SaaS company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6553048" y="4434840"/>
            <a:ext cx="4815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&amp; CCPA as a processor; SOC 2 expected by customers; GLBA/HIPAA flow down via the clients it serves.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548640" y="56692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organization, many regimes — obligations stack by data type, geography, sector, and whether you’re public.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Session B · Laws &amp; Regulations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4023360" cy="40233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E0A1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806" y="688086"/>
            <a:ext cx="315468" cy="3154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417320" y="84124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B — key takeaways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234440" y="173736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Regulations turn good practice into obligations — and attach to specific data types.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56946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234440" y="2523744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security (protected?), privacy (should we hold it?), and compliance (can we prove it?).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335584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&amp; CCPA/CPRA lead on privacy; HIPAA, GLBA blend privacy + security; PCI DSS is security; SOX guards financial integrity.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142232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234440" y="4096512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Obligations stack — one organization often answers to several regimes at once.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4928616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928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1234440" y="4882896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your data first; it scopes every audit and selects the right controls.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4D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Session C: mapping controls across frameworks and running a real gap assessment.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Session B · Laws &amp; Regulations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 Session B — Laws &amp; Regulations</dc:title>
  <dc:subject>PptxGenJS Presentation</dc:subject>
  <dc:creator>GRC Course</dc:creator>
  <cp:lastModifiedBy>GRC Course</cp:lastModifiedBy>
  <cp:revision>1</cp:revision>
  <dcterms:created xsi:type="dcterms:W3CDTF">2026-06-28T01:10:07Z</dcterms:created>
  <dcterms:modified xsi:type="dcterms:W3CDTF">2026-06-28T01:10:07Z</dcterms:modified>
</cp:coreProperties>
</file>