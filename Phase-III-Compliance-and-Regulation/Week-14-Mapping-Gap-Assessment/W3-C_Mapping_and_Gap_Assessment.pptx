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Flz+QkLz2/r678aqFnk9CdwTQ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EE1636-2EB7-445D-9CE6-32ECB7F1F8BE}">
  <a:tblStyle styleId="{86EE1636-2EB7-445D-9CE6-32ECB7F1F8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84" y="1606144"/>
            <a:ext cx="399593" cy="39959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2423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DD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WEEK 3 · COMPLIANCE FRAMEWORKS &amp; REGULATORY REQUIREMENTS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7889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0A12E"/>
                </a:solidFill>
                <a:latin typeface="Calibri"/>
                <a:ea typeface="Calibri"/>
                <a:cs typeface="Calibri"/>
                <a:sym typeface="Calibri"/>
              </a:rPr>
              <a:t>Session C · 1.5 hours · Hands-on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200400"/>
            <a:ext cx="10607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Mapping &amp; Gap Assessment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48920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3E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7D3E0"/>
                </a:solidFill>
                <a:latin typeface="Calibri"/>
                <a:ea typeface="Calibri"/>
                <a:cs typeface="Calibri"/>
                <a:sym typeface="Calibri"/>
              </a:rPr>
              <a:t>Control crosswalks · comparison matrix · a full NIST CSF gap assessment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DD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NIST Function focus:  GOVERN  /  </a:t>
            </a:r>
            <a:r>
              <a:rPr i="1" lang="en-US" sz="1250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IDENTIFY—from</a:t>
            </a:r>
            <a:r>
              <a:rPr b="0" i="1" lang="en-US" sz="125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 frameworks to action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SESSION 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From overlap to a remediation plan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548640" y="1737360"/>
            <a:ext cx="3515258" cy="1371600"/>
          </a:xfrm>
          <a:prstGeom prst="roundRect">
            <a:avLst>
              <a:gd fmla="val 5333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68096" y="2011680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229" y="21598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1463040" y="1956816"/>
            <a:ext cx="24179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Control crosswalks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63040" y="2432304"/>
            <a:ext cx="2417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Map one control to many frameworks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338218" y="1737360"/>
            <a:ext cx="3515258" cy="1371600"/>
          </a:xfrm>
          <a:prstGeom prst="roundRect">
            <a:avLst>
              <a:gd fmla="val 5333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57674" y="201168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5807" y="21598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5252618" y="1956816"/>
            <a:ext cx="24179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Comparison matrix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252618" y="2432304"/>
            <a:ext cx="2417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CSF vs ISO 27001 vs CIS v8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127797" y="1737360"/>
            <a:ext cx="3515258" cy="1371600"/>
          </a:xfrm>
          <a:prstGeom prst="roundRect">
            <a:avLst>
              <a:gd fmla="val 5333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347253" y="2011680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95386" y="21598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9042197" y="1956816"/>
            <a:ext cx="24179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Gap assessment process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042197" y="2432304"/>
            <a:ext cx="2417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Current vs required, scored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3401568"/>
            <a:ext cx="3515258" cy="1371600"/>
          </a:xfrm>
          <a:prstGeom prst="roundRect">
            <a:avLst>
              <a:gd fmla="val 5333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68096" y="3675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6229" y="382402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1463040" y="3621024"/>
            <a:ext cx="24179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Hands-on gap analysis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463040" y="4096512"/>
            <a:ext cx="2417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10 CSF subcategories · a fintech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38218" y="3401568"/>
            <a:ext cx="3515258" cy="1371600"/>
          </a:xfrm>
          <a:prstGeom prst="roundRect">
            <a:avLst>
              <a:gd fmla="val 5333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557674" y="3675888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5807" y="382402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5252618" y="3621024"/>
            <a:ext cx="24179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Gap scoring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252618" y="4096512"/>
            <a:ext cx="2417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A 1–5 maturity rubric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127797" y="3401568"/>
            <a:ext cx="3515258" cy="1371600"/>
          </a:xfrm>
          <a:prstGeom prst="roundRect">
            <a:avLst>
              <a:gd fmla="val 5333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347253" y="3675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95386" y="382402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9042197" y="3621024"/>
            <a:ext cx="24179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Remediation roadmap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042197" y="4096512"/>
            <a:ext cx="2417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Prioritized, owned, time-boxed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The payoff: do the work once, and satisfy several frameworks and regulations at the same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THE CORE IDEA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Comply once, satisfy many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548640" y="1691640"/>
            <a:ext cx="5669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Frameworks overlap heavily — most controls answer to several at once.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Mapping (crosswalking) links an outcome in one framework to its equivalents in others.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Benefits: less duplicated effort, one set of evidence for many audits, a clearer roadmap.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It also exposes true gaps — outcomes that NO framework you run currently covers.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Crosswalks are the connective tissue between Session A (frameworks) and Session B (obligations).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675120" y="14630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Diagram: one control feeding four frameworks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3"/>
          <p:cNvCxnSpPr/>
          <p:nvPr/>
        </p:nvCxnSpPr>
        <p:spPr>
          <a:xfrm rot="10800000">
            <a:off x="9052560" y="1828800"/>
            <a:ext cx="0" cy="1783080"/>
          </a:xfrm>
          <a:prstGeom prst="straightConnector1">
            <a:avLst/>
          </a:prstGeom>
          <a:noFill/>
          <a:ln cap="flat" cmpd="sng" w="25400">
            <a:solidFill>
              <a:srgbClr val="8FCD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3"/>
          <p:cNvSpPr/>
          <p:nvPr/>
        </p:nvSpPr>
        <p:spPr>
          <a:xfrm>
            <a:off x="8275320" y="1536192"/>
            <a:ext cx="1554480" cy="585216"/>
          </a:xfrm>
          <a:prstGeom prst="roundRect">
            <a:avLst>
              <a:gd fmla="val 15625" name="adj"/>
            </a:avLst>
          </a:prstGeom>
          <a:solidFill>
            <a:srgbClr val="1E3A5F"/>
          </a:solidFill>
          <a:ln>
            <a:noFill/>
          </a:ln>
          <a:effectLst>
            <a:outerShdw blurRad="50800" rotWithShape="0" algn="bl" dir="5400000" dist="25400">
              <a:srgbClr val="9AA8B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275320" y="1536192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CSF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9052560" y="3611880"/>
            <a:ext cx="1783080" cy="0"/>
          </a:xfrm>
          <a:prstGeom prst="straightConnector1">
            <a:avLst/>
          </a:prstGeom>
          <a:noFill/>
          <a:ln cap="flat" cmpd="sng" w="25400">
            <a:solidFill>
              <a:srgbClr val="8FCD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10058400" y="3319272"/>
            <a:ext cx="1554480" cy="585216"/>
          </a:xfrm>
          <a:prstGeom prst="roundRect">
            <a:avLst>
              <a:gd fmla="val 15625" name="adj"/>
            </a:avLst>
          </a:prstGeom>
          <a:solidFill>
            <a:srgbClr val="1E3A5F"/>
          </a:solidFill>
          <a:ln>
            <a:noFill/>
          </a:ln>
          <a:effectLst>
            <a:outerShdw blurRad="50800" rotWithShape="0" algn="bl" dir="5400000" dist="25400">
              <a:srgbClr val="9AA8B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0058400" y="3319272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 27001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9052560" y="3611880"/>
            <a:ext cx="0" cy="1783080"/>
          </a:xfrm>
          <a:prstGeom prst="straightConnector1">
            <a:avLst/>
          </a:prstGeom>
          <a:noFill/>
          <a:ln cap="flat" cmpd="sng" w="25400">
            <a:solidFill>
              <a:srgbClr val="8FCD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3"/>
          <p:cNvSpPr/>
          <p:nvPr/>
        </p:nvSpPr>
        <p:spPr>
          <a:xfrm>
            <a:off x="8275320" y="5102352"/>
            <a:ext cx="1554480" cy="585216"/>
          </a:xfrm>
          <a:prstGeom prst="roundRect">
            <a:avLst>
              <a:gd fmla="val 15625" name="adj"/>
            </a:avLst>
          </a:prstGeom>
          <a:solidFill>
            <a:srgbClr val="1E3A5F"/>
          </a:solidFill>
          <a:ln>
            <a:noFill/>
          </a:ln>
          <a:effectLst>
            <a:outerShdw blurRad="50800" rotWithShape="0" algn="bl" dir="5400000" dist="25400">
              <a:srgbClr val="9AA8B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275320" y="5102352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 v8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 rot="10800000">
            <a:off x="7269480" y="3611880"/>
            <a:ext cx="1783080" cy="0"/>
          </a:xfrm>
          <a:prstGeom prst="straightConnector1">
            <a:avLst/>
          </a:prstGeom>
          <a:noFill/>
          <a:ln cap="flat" cmpd="sng" w="25400">
            <a:solidFill>
              <a:srgbClr val="8FCD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6492240" y="3319272"/>
            <a:ext cx="1554480" cy="585216"/>
          </a:xfrm>
          <a:prstGeom prst="roundRect">
            <a:avLst>
              <a:gd fmla="val 15625" name="adj"/>
            </a:avLst>
          </a:prstGeom>
          <a:solidFill>
            <a:srgbClr val="1E3A5F"/>
          </a:solidFill>
          <a:ln>
            <a:noFill/>
          </a:ln>
          <a:effectLst>
            <a:outerShdw blurRad="50800" rotWithShape="0" algn="bl" dir="5400000" dist="25400">
              <a:srgbClr val="9AA8B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492240" y="3319272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138160" y="2697480"/>
            <a:ext cx="1828800" cy="1828800"/>
          </a:xfrm>
          <a:prstGeom prst="ellipse">
            <a:avLst/>
          </a:prstGeom>
          <a:solidFill>
            <a:srgbClr val="E0A12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138160" y="31546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MFA 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admin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TECHNIQUE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Anatomy of a control crosswalk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548640" y="1691640"/>
            <a:ext cx="58521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Start from a stable anchor — usually a NIST CSF 2.0 Subcategory (an outcome statement).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For each anchor, find the matching control(s) in every other framework you operate.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Record the relationship strength: full, partial, or related — mappings are rarely 1-to-1.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Capture one piece of evidence that demonstrates the outcome across all of them.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Maintain it — frameworks revise (CSF 2.0, ISO 2022, CIS v8.1), so crosswalks need version control.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537960" y="1783080"/>
            <a:ext cx="5105095" cy="3840480"/>
          </a:xfrm>
          <a:prstGeom prst="roundRect">
            <a:avLst>
              <a:gd fmla="val 1905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812280" y="1938528"/>
            <a:ext cx="45564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Crosswalk row — worked 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812280" y="2377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Anchor (CSF)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549640" y="2377440"/>
            <a:ext cx="2819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PR.AA-05 — enforce least privilege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812280" y="2889504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ISO 27001:2022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549640" y="2889504"/>
            <a:ext cx="2819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A.5.15 Access control; A.5.18 Access rights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812280" y="3401568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CIS Controls v8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549640" y="3401568"/>
            <a:ext cx="2819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6.8 Role-based access; 5.4 Restrict admin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812280" y="391363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SOC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549640" y="3913632"/>
            <a:ext cx="2819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CC6.1 / CC6.3 logical access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812280" y="4425696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549640" y="4425696"/>
            <a:ext cx="2819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Quarterly access-review export + RBAC policy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812280" y="4937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549640" y="4937760"/>
            <a:ext cx="2819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Full (ISO, CIS) · Partial (SOC 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One control, satisfying many frameworks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Google Shape;129;p5"/>
          <p:cNvGraphicFramePr/>
          <p:nvPr/>
        </p:nvGraphicFramePr>
        <p:xfrm>
          <a:off x="54864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{86EE1636-2EB7-445D-9CE6-32ECB7F1F8BE}</a:tableStyleId>
              </a:tblPr>
              <a:tblGrid>
                <a:gridCol w="2834650"/>
                <a:gridCol w="5852150"/>
                <a:gridCol w="2404875"/>
              </a:tblGrid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 / regulation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“MFA on privileged access” maps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Relationship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NIST CSF 2.0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PR.AA-03 authenticate users; PR.AA-05 least privilege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C8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7C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Anchor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NIST SP 800-53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IA-2(1)/(2) MFA; AC-6 least privilege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 27001:2022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A.5.17 authentication info; A.8.5 secure authentication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 Controls v8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6.3 / 6.4 MFA; 6.8 role-based access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CC6.1 / CC6.6 logical access controls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PCI DSS v4.0.1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 8 — MFA into the CDE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(in CDE)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GLBA Safeguards Rule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MFA mandated for access to customer data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5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Implement MFA once — and produce a single piece of evidence that satisfies seven obligations.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HANDS-ON DELIVERABLE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Comparison matrix: CSF vs ISO 27001 vs CIS v8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6"/>
          <p:cNvGraphicFramePr/>
          <p:nvPr/>
        </p:nvGraphicFramePr>
        <p:xfrm>
          <a:off x="54864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{86EE1636-2EB7-445D-9CE6-32ECB7F1F8BE}</a:tableStyleId>
              </a:tblPr>
              <a:tblGrid>
                <a:gridCol w="1920250"/>
                <a:gridCol w="3246125"/>
                <a:gridCol w="3063250"/>
                <a:gridCol w="2862075"/>
              </a:tblGrid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Ideal use-case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NIST CSF 2.0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Flexible, outcome-based; great common language; free; GOVERN built 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prescriptive; needs controls beneath it; no certification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 structure &amp; board-level risk reporting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 27001:2022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Certifiable &amp; globally trusted; full management system; risk-based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&amp; audit overhead; documentation-heavy; slower to stand 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Proving a mature ISMS to global / enterprise customers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 Controls v8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Concrete &amp; prioritized; fast wins via IG1; strongly technical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Lighter on governance; not certifiable; narrower scope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prioritized starting baseline &amp; technical hardening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6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In practice: many teams use CSF to organize, CIS v8 to act, and ISO 27001 to certify — all mapped to each other.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HANDS-ON DELIVERABLE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The gap assessment process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548640" y="15544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Diagram: a five-step assessment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48640" y="2240280"/>
            <a:ext cx="1911645" cy="2240280"/>
          </a:xfrm>
          <a:prstGeom prst="roundRect">
            <a:avLst>
              <a:gd fmla="val 3827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156990" y="2496312"/>
            <a:ext cx="694944" cy="694944"/>
          </a:xfrm>
          <a:prstGeom prst="ellipse">
            <a:avLst/>
          </a:prstGeom>
          <a:solidFill>
            <a:srgbClr val="0E7C86"/>
          </a:solidFill>
          <a:ln>
            <a:noFill/>
          </a:ln>
          <a:effectLst>
            <a:outerShdw blurRad="63500" rotWithShape="0" algn="bl" dir="5400000" dist="25400">
              <a:srgbClr val="9AA8B5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156990" y="2496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58368" y="3319272"/>
            <a:ext cx="16921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Scope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94944" y="3703320"/>
            <a:ext cx="16190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Pick the framework &amp; subcategories; define the boundary.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478573" y="31318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CDD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844333" y="2240280"/>
            <a:ext cx="1911645" cy="2240280"/>
          </a:xfrm>
          <a:prstGeom prst="roundRect">
            <a:avLst>
              <a:gd fmla="val 3827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452683" y="2496312"/>
            <a:ext cx="694944" cy="694944"/>
          </a:xfrm>
          <a:prstGeom prst="ellipse">
            <a:avLst/>
          </a:prstGeom>
          <a:solidFill>
            <a:srgbClr val="1E3A5F"/>
          </a:solidFill>
          <a:ln>
            <a:noFill/>
          </a:ln>
          <a:effectLst>
            <a:outerShdw blurRad="63500" rotWithShape="0" algn="bl" dir="5400000" dist="25400">
              <a:srgbClr val="9AA8B5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452683" y="2496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954061" y="3319272"/>
            <a:ext cx="16921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Assess current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990637" y="3703320"/>
            <a:ext cx="16190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Evidence-based score of what exists today.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774265" y="31318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CDD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140025" y="2240280"/>
            <a:ext cx="1911645" cy="2240280"/>
          </a:xfrm>
          <a:prstGeom prst="roundRect">
            <a:avLst>
              <a:gd fmla="val 3827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748376" y="2496312"/>
            <a:ext cx="694944" cy="694944"/>
          </a:xfrm>
          <a:prstGeom prst="ellipse">
            <a:avLst/>
          </a:prstGeom>
          <a:solidFill>
            <a:srgbClr val="12959E"/>
          </a:solidFill>
          <a:ln>
            <a:noFill/>
          </a:ln>
          <a:effectLst>
            <a:outerShdw blurRad="63500" rotWithShape="0" algn="bl" dir="5400000" dist="25400">
              <a:srgbClr val="9AA8B5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748376" y="2496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249753" y="3319272"/>
            <a:ext cx="16921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Define required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286329" y="3703320"/>
            <a:ext cx="16190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Set the target from risk &amp; obligations.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069958" y="31318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CDD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435718" y="2240280"/>
            <a:ext cx="1911645" cy="2240280"/>
          </a:xfrm>
          <a:prstGeom prst="roundRect">
            <a:avLst>
              <a:gd fmla="val 3827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044068" y="2496312"/>
            <a:ext cx="694944" cy="694944"/>
          </a:xfrm>
          <a:prstGeom prst="ellipse">
            <a:avLst/>
          </a:prstGeom>
          <a:solidFill>
            <a:srgbClr val="E0A12E"/>
          </a:solidFill>
          <a:ln>
            <a:noFill/>
          </a:ln>
          <a:effectLst>
            <a:outerShdw blurRad="63500" rotWithShape="0" algn="bl" dir="5400000" dist="25400">
              <a:srgbClr val="9AA8B5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044068" y="2496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545446" y="3319272"/>
            <a:ext cx="16921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Score the gap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582022" y="3703320"/>
            <a:ext cx="16190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Required minus current; rate severity.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9365651" y="31318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CDD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731411" y="2240280"/>
            <a:ext cx="1911645" cy="2240280"/>
          </a:xfrm>
          <a:prstGeom prst="roundRect">
            <a:avLst>
              <a:gd fmla="val 3827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0339761" y="2496312"/>
            <a:ext cx="694944" cy="694944"/>
          </a:xfrm>
          <a:prstGeom prst="ellipse">
            <a:avLst/>
          </a:prstGeom>
          <a:solidFill>
            <a:srgbClr val="0E7C86"/>
          </a:solidFill>
          <a:ln>
            <a:noFill/>
          </a:ln>
          <a:effectLst>
            <a:outerShdw blurRad="63500" rotWithShape="0" algn="bl" dir="5400000" dist="25400">
              <a:srgbClr val="9AA8B5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10339761" y="2496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9841139" y="3319272"/>
            <a:ext cx="16921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Plan remediation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877715" y="3703320"/>
            <a:ext cx="16190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Prioritize, assign owners, time-box.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Repeatable and evidence-driven — the same loop runs annually and after major change.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Current state vs. required state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548640" y="1691640"/>
            <a:ext cx="58521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Current state = what you can evidence today, not what policy aspires to.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Required state = the target set by risk appetite and obligation — not always 5 / 5.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Gap = required − current. A small gap on a critical control can outrank a large gap on a minor one.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Weight the gap by risk: likelihood, impact, and whether a regulation mandates the outcome.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Right-size targets: a Series-A fintech may aim for 3–4, not perfection, on every control.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537960" y="1783080"/>
            <a:ext cx="5105095" cy="3840480"/>
          </a:xfrm>
          <a:prstGeom prst="roundRect">
            <a:avLst>
              <a:gd fmla="val 1905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812280" y="1938528"/>
            <a:ext cx="45564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Example — two subcategories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812280" y="2487168"/>
            <a:ext cx="4556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PR.AA-05  Least privilege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812280" y="285292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863840" y="2871216"/>
            <a:ext cx="636971" cy="219456"/>
          </a:xfrm>
          <a:prstGeom prst="roundRect">
            <a:avLst>
              <a:gd fmla="val 12500" name="adj"/>
            </a:avLst>
          </a:prstGeom>
          <a:solidFill>
            <a:srgbClr val="5B6B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8555675" y="2816352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812280" y="32004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863840" y="3218688"/>
            <a:ext cx="2547884" cy="219456"/>
          </a:xfrm>
          <a:prstGeom prst="roundRect">
            <a:avLst>
              <a:gd fmla="val 125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0466588" y="316382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545775" y="2487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gap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812280" y="3904488"/>
            <a:ext cx="4556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ID.RA-01  Vulnerabilities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812280" y="427024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863840" y="4288536"/>
            <a:ext cx="1273942" cy="219456"/>
          </a:xfrm>
          <a:prstGeom prst="roundRect">
            <a:avLst>
              <a:gd fmla="val 12500" name="adj"/>
            </a:avLst>
          </a:prstGeom>
          <a:solidFill>
            <a:srgbClr val="5B6B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9192646" y="4233672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812280" y="46177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863840" y="4636008"/>
            <a:ext cx="2547884" cy="219456"/>
          </a:xfrm>
          <a:prstGeom prst="roundRect">
            <a:avLst>
              <a:gd fmla="val 125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0466588" y="458114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0545775" y="39044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80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8032"/>
                </a:solidFill>
                <a:latin typeface="Calibri"/>
                <a:ea typeface="Calibri"/>
                <a:cs typeface="Calibri"/>
                <a:sym typeface="Calibri"/>
              </a:rPr>
              <a:t>gap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812280" y="5257800"/>
            <a:ext cx="4556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Scale 1–5 · grey = current, teal =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The maturity &amp; gap-severity rubric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548640" y="16276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Maturity scale (current and target)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1965960"/>
            <a:ext cx="676656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713232" y="2084832"/>
            <a:ext cx="365760" cy="365760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713232" y="20848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234440" y="2011680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Ad hoc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017520" y="2011680"/>
            <a:ext cx="4160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No process; relies on individuals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48640" y="2679192"/>
            <a:ext cx="6766560" cy="603504"/>
          </a:xfrm>
          <a:prstGeom prst="roundRect">
            <a:avLst>
              <a:gd fmla="val 12121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713232" y="2798064"/>
            <a:ext cx="365760" cy="365760"/>
          </a:xfrm>
          <a:prstGeom prst="ellipse">
            <a:avLst/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13232" y="27980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234440" y="2724912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Repeatable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017520" y="2724912"/>
            <a:ext cx="4160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Informal but consistent in practice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8640" y="3392424"/>
            <a:ext cx="676656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E0A1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234440" y="3438144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Defined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017520" y="3438144"/>
            <a:ext cx="4160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Documented, standardized, communicated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48640" y="4105656"/>
            <a:ext cx="6766560" cy="603504"/>
          </a:xfrm>
          <a:prstGeom prst="roundRect">
            <a:avLst>
              <a:gd fmla="val 12121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13232" y="4224528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713232" y="4224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234440" y="4151376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Managed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017520" y="4151376"/>
            <a:ext cx="4160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Measured, reviewed, evidence retained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48640" y="4818888"/>
            <a:ext cx="676656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713232" y="4937760"/>
            <a:ext cx="365760" cy="365760"/>
          </a:xfrm>
          <a:prstGeom prst="ellipse">
            <a:avLst/>
          </a:prstGeom>
          <a:solidFill>
            <a:srgbClr val="2E8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713232" y="4937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234440" y="4864608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Optimized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017520" y="4864608"/>
            <a:ext cx="4160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Continuously improved &amp; automated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635240" y="1627632"/>
            <a:ext cx="40078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Gap severity (required − current)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635240" y="1965960"/>
            <a:ext cx="4007815" cy="106070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7836408" y="2258568"/>
            <a:ext cx="777240" cy="475488"/>
          </a:xfrm>
          <a:prstGeom prst="roundRect">
            <a:avLst>
              <a:gd fmla="val 15385" name="adj"/>
            </a:avLst>
          </a:prstGeom>
          <a:solidFill>
            <a:srgbClr val="2E8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836408" y="2258568"/>
            <a:ext cx="777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0–1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778240" y="2093976"/>
            <a:ext cx="27276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Minor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778240" y="2468880"/>
            <a:ext cx="27276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Monitor; low priority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635240" y="3172968"/>
            <a:ext cx="4007815" cy="106070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836408" y="3465576"/>
            <a:ext cx="777240" cy="475488"/>
          </a:xfrm>
          <a:prstGeom prst="roundRect">
            <a:avLst>
              <a:gd fmla="val 15385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836408" y="3465576"/>
            <a:ext cx="777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8778240" y="3300984"/>
            <a:ext cx="27276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Moderate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778240" y="3675888"/>
            <a:ext cx="27276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Plan &amp; schedule remediation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635240" y="4379976"/>
            <a:ext cx="4007815" cy="106070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7836408" y="4672584"/>
            <a:ext cx="777240" cy="475488"/>
          </a:xfrm>
          <a:prstGeom prst="roundRect">
            <a:avLst>
              <a:gd fmla="val 15385" name="adj"/>
            </a:avLst>
          </a:prstGeom>
          <a:solidFill>
            <a:srgbClr val="C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7836408" y="4672584"/>
            <a:ext cx="777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778240" y="4507992"/>
            <a:ext cx="27276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Critical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8778240" y="4882896"/>
            <a:ext cx="27276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Prioritize; remediate now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THE CASE STUDY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Meet the company: Keystone Pay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/>
          <p:nvPr/>
        </p:nvSpPr>
        <p:spPr>
          <a:xfrm>
            <a:off x="548640" y="1737360"/>
            <a:ext cx="6126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Series-A fintech offering a payments API for small businesses; ~60 employees.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Cloud-native on a major IaaS; a small platform team shipping fast.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Handles cardholder data and consumer financial information.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Therefore in scope for PCI DSS and GLBA — and SOC 2 is demanded by enterprise customers.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380"/>
              <a:buFont typeface="Calibri"/>
              <a:buChar char="•"/>
            </a:pPr>
            <a:r>
              <a:rPr b="0" i="0" lang="en-US" sz="138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Security is currently founder-led; no dedicated security hire yet.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858000" y="1783080"/>
            <a:ext cx="2255368" cy="1078992"/>
          </a:xfrm>
          <a:prstGeom prst="roundRect">
            <a:avLst>
              <a:gd fmla="val 6780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7040880" y="1947672"/>
            <a:ext cx="1889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~60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7040880" y="2496312"/>
            <a:ext cx="1889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387688" y="1783080"/>
            <a:ext cx="2255368" cy="1078992"/>
          </a:xfrm>
          <a:prstGeom prst="roundRect">
            <a:avLst>
              <a:gd fmla="val 6780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9570568" y="1947672"/>
            <a:ext cx="1889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Series 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9570568" y="2496312"/>
            <a:ext cx="1889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funding stage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858000" y="3136392"/>
            <a:ext cx="2255368" cy="1078992"/>
          </a:xfrm>
          <a:prstGeom prst="roundRect">
            <a:avLst>
              <a:gd fmla="val 6780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7040880" y="3300984"/>
            <a:ext cx="1889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12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12E"/>
                </a:solidFill>
                <a:latin typeface="Cambria"/>
                <a:ea typeface="Cambria"/>
                <a:cs typeface="Cambria"/>
                <a:sym typeface="Cambria"/>
              </a:rPr>
              <a:t>PCI + GLBA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040880" y="3849624"/>
            <a:ext cx="1889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9387688" y="3136392"/>
            <a:ext cx="2255368" cy="1078992"/>
          </a:xfrm>
          <a:prstGeom prst="roundRect">
            <a:avLst>
              <a:gd fmla="val 6780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9570568" y="3300984"/>
            <a:ext cx="1889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959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2959E"/>
                </a:solidFill>
                <a:latin typeface="Cambria"/>
                <a:ea typeface="Cambria"/>
                <a:cs typeface="Cambria"/>
                <a:sym typeface="Cambria"/>
              </a:rPr>
              <a:t>SOC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9570568" y="3849624"/>
            <a:ext cx="1889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customer-driven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48640" y="5212080"/>
            <a:ext cx="11094415" cy="777240"/>
          </a:xfrm>
          <a:prstGeom prst="roundRect">
            <a:avLst>
              <a:gd fmla="val 9412" name="adj"/>
            </a:avLst>
          </a:prstGeom>
          <a:solidFill>
            <a:srgbClr val="EAF4F4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822960" y="5285232"/>
            <a:ext cx="105457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The brief:  </a:t>
            </a: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assess Keystone Pay against 10 NIST CSF 2.0 subcategories, score current vs. target, and produce a prioritized remediation roadmap to anchor its SOC 2 and PCI readiness.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GAP ASSESSMENT · 1 OF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Results: GOVERN &amp; IDENTIFY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11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{86EE1636-2EB7-445D-9CE6-32ECB7F1F8BE}</a:tableStyleId>
              </a:tblPr>
              <a:tblGrid>
                <a:gridCol w="2697475"/>
                <a:gridCol w="3200400"/>
                <a:gridCol w="960125"/>
                <a:gridCol w="576075"/>
                <a:gridCol w="3657600"/>
              </a:tblGrid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CSF 2.0 Subcategory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state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 → Tgt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Remediation action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GV.RR-02 · Roles &amp; responsibilities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Founders own security informally; no documented RACI or named lead.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3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0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80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Publish a security RACI, appoint a security lead / vCISO, set a board reporting cadence.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GV.SC-01 · Supply-chain risk mgmt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formal third-party risk program; subprocessors untracked.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3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0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80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 up TPRM: subprocessor inventory, security reviews, DPAs, SOC 2 checks.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ID.AM-01 · Hardware inventory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Laptops in a stale spreadsheet; BYOD is common.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→ 4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0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80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 MDM + asset discovery; tag by criticality; reconcile monthly.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ID.AM-02 · Software &amp; services inventory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inventory; shadow SaaS; no SBOM.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4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0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C05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SaaS discovery + CMDB; generate an SBOM in CI; track licenses &amp; end-of-life.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ID.RA-01 · Vulnerabilities identified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 penetration test only; no continuous scanning.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→ 4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0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80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SAST / DAST / SCA + infra scanning; risk-rank with remediation SLAs.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8" name="Google Shape;308;p11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Scored on the 1–5 maturity scale · gap colour: green minor, orange moderate, red critical.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GAP ASSESSMENT · 2 OF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Results: PROTECT, DETECT &amp; RESPOND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12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{86EE1636-2EB7-445D-9CE6-32ECB7F1F8BE}</a:tableStyleId>
              </a:tblPr>
              <a:tblGrid>
                <a:gridCol w="2697475"/>
                <a:gridCol w="3200400"/>
                <a:gridCol w="960125"/>
                <a:gridCol w="576075"/>
                <a:gridCol w="3657600"/>
              </a:tblGrid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CSF 2.0 Subcategory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state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 → Tgt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Remediation action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PR.AA-05 · Least privilege &amp; SoD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Broad production access; shared admin creds; no reviews.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4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0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C05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RBAC + JIT / PAM; remove shared creds; enforce MFA; quarterly access reviews.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PR.DS-01 · Data-at-rest protection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Cloud-default encryption; ad hoc key mgmt; no classification.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→ 4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0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80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 data classification; KMS with rotation; tokenize PAN; deploy DLP.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PR.AT-01 · Awareness &amp; training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Verbal mention at onboarding; no recurring training.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3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0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80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 + role-based training; quarterly phishing simulations; track completion.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DE.CM-01 · Networks monitored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logs exist but unmonitored; no SIEM or alerting.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4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0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C05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Centralize logs to SIEM / MDR; define detections; 24/7 alerting; tune use cases.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RS.MA-01 · Incident management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documented IR plan; ad hoc response in Slack.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4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0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C05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980"/>
                        <a:buFont typeface="Calibri"/>
                        <a:buNone/>
                      </a:pPr>
                      <a:r>
                        <a:rPr lang="en-US" sz="98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an IR plan + playbooks; on-call rotation; tabletop exercises; breach workflow.</a:t>
                      </a:r>
                      <a:endParaRPr sz="98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1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Largest gaps cluster in detection and response — expected for a fast-moving, early-stage team.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Reading the results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3"/>
          <p:cNvSpPr/>
          <p:nvPr/>
        </p:nvSpPr>
        <p:spPr>
          <a:xfrm>
            <a:off x="548640" y="162763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Gap size by subcategory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48640" y="1993392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GV.RR-02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920240" y="2039112"/>
            <a:ext cx="2621280" cy="237744"/>
          </a:xfrm>
          <a:prstGeom prst="roundRect">
            <a:avLst>
              <a:gd fmla="val 11538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587240" y="1993392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48640" y="2386584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GV.SC-01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920240" y="2432304"/>
            <a:ext cx="2621280" cy="237744"/>
          </a:xfrm>
          <a:prstGeom prst="roundRect">
            <a:avLst>
              <a:gd fmla="val 11538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4587240" y="2386584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48640" y="2779776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ID.AM-01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920240" y="2825496"/>
            <a:ext cx="2621280" cy="237744"/>
          </a:xfrm>
          <a:prstGeom prst="roundRect">
            <a:avLst>
              <a:gd fmla="val 11538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587240" y="2779776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48640" y="3172968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ID.AM-02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920240" y="3218688"/>
            <a:ext cx="3931920" cy="237744"/>
          </a:xfrm>
          <a:prstGeom prst="roundRect">
            <a:avLst>
              <a:gd fmla="val 11538" name="adj"/>
            </a:avLst>
          </a:prstGeom>
          <a:solidFill>
            <a:srgbClr val="C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5897880" y="317296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548640" y="3566160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ID.RA-01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920240" y="3611880"/>
            <a:ext cx="2621280" cy="237744"/>
          </a:xfrm>
          <a:prstGeom prst="roundRect">
            <a:avLst>
              <a:gd fmla="val 11538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587240" y="3566160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548640" y="3959352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PR.AA-05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1920240" y="4005072"/>
            <a:ext cx="3931920" cy="237744"/>
          </a:xfrm>
          <a:prstGeom prst="roundRect">
            <a:avLst>
              <a:gd fmla="val 11538" name="adj"/>
            </a:avLst>
          </a:prstGeom>
          <a:solidFill>
            <a:srgbClr val="C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5897880" y="3959352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48640" y="4352544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PR.DS-01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920240" y="4398264"/>
            <a:ext cx="2621280" cy="237744"/>
          </a:xfrm>
          <a:prstGeom prst="roundRect">
            <a:avLst>
              <a:gd fmla="val 11538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4587240" y="4352544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48640" y="4745736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PR.AT-01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920240" y="4791456"/>
            <a:ext cx="2621280" cy="237744"/>
          </a:xfrm>
          <a:prstGeom prst="roundRect">
            <a:avLst>
              <a:gd fmla="val 11538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587240" y="4745736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48640" y="5138928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DE.CM-01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920240" y="5184648"/>
            <a:ext cx="3931920" cy="237744"/>
          </a:xfrm>
          <a:prstGeom prst="roundRect">
            <a:avLst>
              <a:gd fmla="val 11538" name="adj"/>
            </a:avLst>
          </a:prstGeom>
          <a:solidFill>
            <a:srgbClr val="C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5897880" y="51389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548640" y="5532120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RS.MA-01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920240" y="5577840"/>
            <a:ext cx="3931920" cy="237744"/>
          </a:xfrm>
          <a:prstGeom prst="roundRect">
            <a:avLst>
              <a:gd fmla="val 11538" name="adj"/>
            </a:avLst>
          </a:prstGeom>
          <a:solidFill>
            <a:srgbClr val="C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5897880" y="5532120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6858000" y="1783080"/>
            <a:ext cx="4785055" cy="3886200"/>
          </a:xfrm>
          <a:prstGeom prst="roundRect">
            <a:avLst>
              <a:gd fmla="val 1882" name="adj"/>
            </a:avLst>
          </a:prstGeom>
          <a:solidFill>
            <a:srgbClr val="EAF4F4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7132320" y="1938528"/>
            <a:ext cx="4236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Key findings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7132320" y="2395728"/>
            <a:ext cx="4236415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Average maturity ≈ 1.4 / 5 today vs. a 3.6 target — early-stage, but typical for Series 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Critical gaps (3): software inventory, least privilege, monitoring, and incident response.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Regulatory pressure: as a payments fintech, PCI DSS and GLBA make access control, monitoring, and IR non-negotiable.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1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Quick wins: MFA, access reviews, an IR plan, and training — high impact, low cost.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HANDS-ON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Prioritized remediation roadmap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4"/>
          <p:cNvSpPr/>
          <p:nvPr/>
        </p:nvSpPr>
        <p:spPr>
          <a:xfrm>
            <a:off x="548640" y="1691640"/>
            <a:ext cx="3515258" cy="3977640"/>
          </a:xfrm>
          <a:prstGeom prst="roundRect">
            <a:avLst>
              <a:gd fmla="val 2081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731520" y="1892808"/>
            <a:ext cx="3149498" cy="512064"/>
          </a:xfrm>
          <a:prstGeom prst="roundRect">
            <a:avLst>
              <a:gd fmla="val 14286" name="adj"/>
            </a:avLst>
          </a:prstGeom>
          <a:solidFill>
            <a:srgbClr val="C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731520" y="1892808"/>
            <a:ext cx="314949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NOW · 0–3 months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777240" y="260604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PR.AA-05  Least privilege &amp; MFA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777240" y="295351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Security lead ·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777240" y="333756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DE.CM-01  Centralized monitoring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777240" y="368503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Platform · 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777240" y="406908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RS.MA-01  Incident response plan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777240" y="441655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Security lead · 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777240" y="480060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GV.RR-02  Roles &amp; accountability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777240" y="514807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Founders · 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338218" y="1691640"/>
            <a:ext cx="3515258" cy="3977640"/>
          </a:xfrm>
          <a:prstGeom prst="roundRect">
            <a:avLst>
              <a:gd fmla="val 2081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4521098" y="1892808"/>
            <a:ext cx="3149498" cy="512064"/>
          </a:xfrm>
          <a:prstGeom prst="roundRect">
            <a:avLst>
              <a:gd fmla="val 14286" name="adj"/>
            </a:avLst>
          </a:prstGeom>
          <a:solidFill>
            <a:srgbClr val="D98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4521098" y="1892808"/>
            <a:ext cx="314949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NEXT · 3–6 months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566818" y="260604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ID.RA-01  Continuous vuln scanning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4566818" y="295351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Platform ·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566818" y="333756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PR.DS-01  Classification &amp; tokenize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566818" y="368503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Platform ·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4566818" y="406908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ID.AM-01  Asset mgmt + MDM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566818" y="441655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IT ·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566818" y="480060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PR.AT-01  Training &amp; phishing sims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566818" y="514807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People Ops · 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8127797" y="1691640"/>
            <a:ext cx="3515258" cy="3977640"/>
          </a:xfrm>
          <a:prstGeom prst="roundRect">
            <a:avLst>
              <a:gd fmla="val 2081" name="adj"/>
            </a:avLst>
          </a:prstGeom>
          <a:solidFill>
            <a:srgbClr val="FFFFFF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8310677" y="1892808"/>
            <a:ext cx="3149498" cy="512064"/>
          </a:xfrm>
          <a:prstGeom prst="roundRect">
            <a:avLst>
              <a:gd fmla="val 14286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8310677" y="1892808"/>
            <a:ext cx="314949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LATER · 6–12 months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8356397" y="260604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ID.AM-02  Software inventory + SBOM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356397" y="295351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Platform ·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8356397" y="333756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GV.SC-01  Third-party risk program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8356397" y="368503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Security lead · 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8356397" y="406908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Surveillance &amp; SOC 2 Type II window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8356397" y="441655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Security lead · 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8356397" y="4800600"/>
            <a:ext cx="30580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Re-assess against target profile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8356397" y="5148072"/>
            <a:ext cx="30580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All · 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Sequenced by risk and obligation · owner &amp; effort (S / M / L) shown for each item.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"/>
          <p:cNvSpPr/>
          <p:nvPr/>
        </p:nvSpPr>
        <p:spPr>
          <a:xfrm>
            <a:off x="9966960" y="-1280160"/>
            <a:ext cx="4023360" cy="4023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E0A1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06" y="688086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5"/>
          <p:cNvSpPr/>
          <p:nvPr/>
        </p:nvSpPr>
        <p:spPr>
          <a:xfrm>
            <a:off x="1417320" y="548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DD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CDD1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1417320" y="841248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C — 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1234440" y="1737360"/>
            <a:ext cx="104086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DF4"/>
                </a:solidFill>
                <a:latin typeface="Calibri"/>
                <a:ea typeface="Calibri"/>
                <a:cs typeface="Calibri"/>
                <a:sym typeface="Calibri"/>
              </a:rPr>
              <a:t>Frameworks overlap — crosswalking lets one control satisfy many frameworks and regulations.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548640" y="2569464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548640" y="25694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1234440" y="2523744"/>
            <a:ext cx="104086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DF4"/>
                </a:solidFill>
                <a:latin typeface="Calibri"/>
                <a:ea typeface="Calibri"/>
                <a:cs typeface="Calibri"/>
                <a:sym typeface="Calibri"/>
              </a:rPr>
              <a:t>A crosswalk anchors on a CSF subcategory, maps equivalents, and records evidence and strength.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DF4"/>
                </a:solidFill>
                <a:latin typeface="Calibri"/>
                <a:ea typeface="Calibri"/>
                <a:cs typeface="Calibri"/>
                <a:sym typeface="Calibri"/>
              </a:rPr>
              <a:t>A gap assessment scores current vs. required, weights by risk, then plans remediation.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234440" y="4096512"/>
            <a:ext cx="104086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DF4"/>
                </a:solidFill>
                <a:latin typeface="Calibri"/>
                <a:ea typeface="Calibri"/>
                <a:cs typeface="Calibri"/>
                <a:sym typeface="Calibri"/>
              </a:rPr>
              <a:t>Keystone Pay sat near maturity 1.4 with critical gaps in access, monitoring, and incident response.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234440" y="4882896"/>
            <a:ext cx="104086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DF4"/>
                </a:solidFill>
                <a:latin typeface="Calibri"/>
                <a:ea typeface="Calibri"/>
                <a:cs typeface="Calibri"/>
                <a:sym typeface="Calibri"/>
              </a:rPr>
              <a:t>The output is a prioritized, owned, time-boxed roadmap — not just a score.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D58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4D58A"/>
                </a:solidFill>
                <a:latin typeface="Calibri"/>
                <a:ea typeface="Calibri"/>
                <a:cs typeface="Calibri"/>
                <a:sym typeface="Calibri"/>
              </a:rPr>
              <a:t>You can now justify a framework, map controls across them, and turn a gap assessment into a plan.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WEEK 3 WRAP-UP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Where this leaves you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>
            <a:noFill/>
          </a:ln>
          <a:effectLst>
            <a:outerShdw blurRad="76200" rotWithShape="0" algn="bl" dir="5400000" dist="25400">
              <a:srgbClr val="9AA8B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0" name="Google Shape;4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7567" y="621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6"/>
          <p:cNvSpPr/>
          <p:nvPr/>
        </p:nvSpPr>
        <p:spPr>
          <a:xfrm>
            <a:off x="548640" y="1737360"/>
            <a:ext cx="3515258" cy="1600200"/>
          </a:xfrm>
          <a:prstGeom prst="roundRect">
            <a:avLst>
              <a:gd fmla="val 4571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2013661" y="1975104"/>
            <a:ext cx="585216" cy="58521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670" y="2133112"/>
            <a:ext cx="269199" cy="2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6"/>
          <p:cNvSpPr/>
          <p:nvPr/>
        </p:nvSpPr>
        <p:spPr>
          <a:xfrm>
            <a:off x="731520" y="2651760"/>
            <a:ext cx="31494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Session 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777240" y="2953512"/>
            <a:ext cx="305805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Chose among 6 control frameworks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4338218" y="1737360"/>
            <a:ext cx="3515258" cy="1600200"/>
          </a:xfrm>
          <a:prstGeom prst="roundRect">
            <a:avLst>
              <a:gd fmla="val 4571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5803240" y="1975104"/>
            <a:ext cx="585216" cy="58521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8" name="Google Shape;4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1248" y="2133112"/>
            <a:ext cx="269199" cy="2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6"/>
          <p:cNvSpPr/>
          <p:nvPr/>
        </p:nvSpPr>
        <p:spPr>
          <a:xfrm>
            <a:off x="4521098" y="2651760"/>
            <a:ext cx="31494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Session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4566818" y="2953512"/>
            <a:ext cx="305805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Mapped 6 laws &amp; regulations to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8127797" y="1737360"/>
            <a:ext cx="3515258" cy="1600200"/>
          </a:xfrm>
          <a:prstGeom prst="roundRect">
            <a:avLst>
              <a:gd fmla="val 4571" name="adj"/>
            </a:avLst>
          </a:prstGeom>
          <a:solidFill>
            <a:srgbClr val="F1F5F9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9592818" y="1975104"/>
            <a:ext cx="585216" cy="585216"/>
          </a:xfrm>
          <a:prstGeom prst="ellipse">
            <a:avLst/>
          </a:prstGeom>
          <a:solidFill>
            <a:srgbClr val="1295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50826" y="2133112"/>
            <a:ext cx="269199" cy="2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6"/>
          <p:cNvSpPr/>
          <p:nvPr/>
        </p:nvSpPr>
        <p:spPr>
          <a:xfrm>
            <a:off x="8310677" y="2651760"/>
            <a:ext cx="31494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Session 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8356397" y="2953512"/>
            <a:ext cx="305805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Crosswalked controls &amp; ran a gap 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48640" y="3703320"/>
            <a:ext cx="11094415" cy="1828800"/>
          </a:xfrm>
          <a:prstGeom prst="roundRect">
            <a:avLst>
              <a:gd fmla="val 4000" name="adj"/>
            </a:avLst>
          </a:prstGeom>
          <a:solidFill>
            <a:srgbClr val="EAF4F4"/>
          </a:solidFill>
          <a:ln cap="flat" cmpd="sng" w="12700">
            <a:solidFill>
              <a:srgbClr val="D7E0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8B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868680" y="385876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Looking ahead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868680" y="4224528"/>
            <a:ext cx="1045433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You can now justify a framework choice for a given industry, map controls across frameworks, and turn a gap assessment into a remediation plan.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Carry the Keystone Pay roadmap forward — later weeks build the PROTECT, DETECT, RESPOND, and RECOVER controls that close these gaps.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Next week: implementing the priority controls and standing up the evidence that audits and certifications require.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Week 3 · Session C · Mapping &amp; Gap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2026-06-28T01:27:50Z</dcterms:created>
  <dc:creator>GRC Course</dc:creator>
</cp:coreProperties>
</file>