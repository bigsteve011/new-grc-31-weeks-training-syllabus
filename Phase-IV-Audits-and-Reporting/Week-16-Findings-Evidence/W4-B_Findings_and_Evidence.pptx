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52360" y="-822960"/>
            <a:ext cx="2926080" cy="2926080"/>
          </a:xfrm>
          <a:prstGeom prst="ellipse">
            <a:avLst/>
          </a:prstGeom>
          <a:solidFill>
            <a:srgbClr val="141B47"/>
          </a:solidFill>
          <a:ln/>
        </p:spPr>
      </p:sp>
      <p:sp>
        <p:nvSpPr>
          <p:cNvPr id="3" name="Shape 1"/>
          <p:cNvSpPr/>
          <p:nvPr/>
        </p:nvSpPr>
        <p:spPr>
          <a:xfrm>
            <a:off x="8092440" y="-274320"/>
            <a:ext cx="1828800" cy="18288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365760" y="3931920"/>
            <a:ext cx="1463040" cy="1463040"/>
          </a:xfrm>
          <a:prstGeom prst="ellipse">
            <a:avLst/>
          </a:prstGeom>
          <a:solidFill>
            <a:srgbClr val="028090">
              <a:alpha val="2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34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· AUDITS, ASSESSMENTS &amp; REPORTING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B: Findings &amp; Evidence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29718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6F3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defensible findings with the 5 C's, rating severity, and building the audit trail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3977640"/>
            <a:ext cx="237744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9776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24-25 · 1.5 hrs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· Findings &amp; Evidence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|  Audits, Assessments &amp; Reporting  | 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strong audit finding using the 5 C's: Condition, Criteria, Cause, Consequence, Recommendation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findings by severity and underlying risk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realistic, risk-based remediation timeline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role of working papers and audit trails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all of the above to case-study evidence from MarketNest and Quanta Labs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 Finding Defensible?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· Findings &amp; Evidence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|  Audits, Assessments &amp; Reporting  |  3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5F7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71600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weak finding says:</a:t>
            </a:r>
            <a:endParaRPr lang="en-US" sz="13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“Access control is bad.”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evidence. No standard. Not actionable. Easily disputed by the auditee.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1430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E6F3F4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892040" y="1371600"/>
            <a:ext cx="34747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 finding is: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Specific, evidenced, tied to criteria, and paired with a proportionate fix.</a:t>
            </a:r>
            <a:endParaRPr lang="en-US" sz="1300" dirty="0"/>
          </a:p>
          <a:p>
            <a:pPr indent="0" marL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structure is the 5 C's — next slide.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5 C's Framework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FOR EVERY FINDING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· Findings &amp; Evidence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|  Audits, Assessments &amp; Reporting  |  4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536192" cy="2651760"/>
          </a:xfrm>
          <a:prstGeom prst="roundRect">
            <a:avLst>
              <a:gd name="adj" fmla="val 5952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0876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0352" y="269748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actually found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084832" y="1371600"/>
            <a:ext cx="1536192" cy="2651760"/>
          </a:xfrm>
          <a:prstGeom prst="roundRect">
            <a:avLst>
              <a:gd name="adj" fmla="val 5952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2084832" y="150876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30552" y="2011680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157984" y="269748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it should meet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712464" y="1371600"/>
            <a:ext cx="1536192" cy="2651760"/>
          </a:xfrm>
          <a:prstGeom prst="roundRect">
            <a:avLst>
              <a:gd name="adj" fmla="val 5952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3712464" y="150876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758184" y="2011680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785616" y="269748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gap exists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340096" y="1371600"/>
            <a:ext cx="1536192" cy="2651760"/>
          </a:xfrm>
          <a:prstGeom prst="roundRect">
            <a:avLst>
              <a:gd name="adj" fmla="val 5952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5340096" y="150876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385816" y="2011680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Consequence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413248" y="269748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could happen as a result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967728" y="1371600"/>
            <a:ext cx="1536192" cy="2651760"/>
          </a:xfrm>
          <a:prstGeom prst="roundRect">
            <a:avLst>
              <a:gd name="adj" fmla="val 5952"/>
            </a:avLst>
          </a:prstGeom>
          <a:solidFill>
            <a:srgbClr val="1E2761"/>
          </a:solidFill>
          <a:ln/>
        </p:spPr>
      </p:sp>
      <p:sp>
        <p:nvSpPr>
          <p:cNvPr id="23" name="Text 21"/>
          <p:cNvSpPr/>
          <p:nvPr/>
        </p:nvSpPr>
        <p:spPr>
          <a:xfrm>
            <a:off x="6967728" y="1508760"/>
            <a:ext cx="15361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13448" y="2011680"/>
            <a:ext cx="1444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040880" y="2697480"/>
            <a:ext cx="138988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 to close the gap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strong finding answers all five questions — skipping Cause or Consequence produces a finding that's easy to argue with.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C's: Condition &amp; Criteria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· Findings &amp; Evidence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|  Audits, Assessments &amp; Reporting  |  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E6F3F4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732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20116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factual, observed state — what the evidence actually shows, with no interpretation added.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297180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“14 of 40 sampled user accounts retained production database access more than 30 days after termination.”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5F7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3716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2356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Criteria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92040" y="20116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standard, policy, or regulatory requirement the condition is measured against.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92040" y="297180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“Access Control Policy §4.2 requires deprovisioning within 24 hours of termination.”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C's: Cause &amp; Consequence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· Findings &amp; Evidence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|  Audits, Assessments &amp; Reporting  |  6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E6F3F4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716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1732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Cause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85800" y="20116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reason the gap exists — a process failure, not just “human error.”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85800" y="297180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“The HR-to-IT offboarding ticket is a manual step with no automated trigger or SLA.”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1430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5F7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937760" y="13716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623560" y="13716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Consequence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892040" y="201168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realistic business or security impact if the gap remains unaddressed.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892040" y="2971800"/>
            <a:ext cx="3520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“Former staff could retain access to PHI, increasing breach and HIPAA-violation exposure.”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C's: Recommendation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· Findings &amp; Evidence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|  Audits, Assessments &amp; Reporting  |  7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3291840"/>
          </a:xfrm>
          <a:prstGeom prst="roundRect">
            <a:avLst>
              <a:gd name="adj" fmla="val 2222"/>
            </a:avLst>
          </a:prstGeom>
          <a:solidFill>
            <a:srgbClr val="E6F3F4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7240" y="141732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173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508760" y="14630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822960" y="2148840"/>
            <a:ext cx="7498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Proportionate to the risk — don't recommend a full IAM overhaul for a low-severity gap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— names a control change, an owner, and a rough timeframe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the Cause, not just the Condition — fixing the trigger, not just this instance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56616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“Implement an automated offboarding trigger linking HR termination records to IT access revocation within 24 hours; retest in 90 days.”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 5 C's: MarketNest (E-Commerce)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· Findings &amp; Evidence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|  Audits, Assessments &amp; Reporting  |  8</a:t>
            </a:r>
            <a:endParaRPr lang="en-US" sz="9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383280"/>
        </p:xfrm>
        <a:graphic>
          <a:graphicData uri="http://schemas.openxmlformats.org/drawingml/2006/table">
            <a:tbl>
              <a:tblPr/>
              <a:tblGrid>
                <a:gridCol w="1371600"/>
                <a:gridCol w="6858000"/>
              </a:tblGrid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 Detail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database access was granted to 3 marketing SaaS tools with no security review; one tool's plugin was exploited to exfiltrate ~400,000 records.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Vendor Risk Management Policy requires a security review before any tool receives production data access.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formal shadow-IT intake process; teams self-provision SaaS tools without GRC or security involvement.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Consequence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Regulatory exposure under UK GDPR, ICO inquiry, and loss of enterprise seller trust.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 up a SaaS intake and vendor risk review gate; retroactively review all connected tools within 60 days.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Case Study 5 C's: Quanta Labs (Cloud / SaaS)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THE FRAMEWORK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· Findings &amp; Evidence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|  Audits, Assessments &amp; Reporting  |  9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383280"/>
        </p:xfrm>
        <a:graphic>
          <a:graphicData uri="http://schemas.openxmlformats.org/drawingml/2006/table">
            <a:tbl>
              <a:tblPr/>
              <a:tblGrid>
                <a:gridCol w="1371600"/>
                <a:gridCol w="6858000"/>
              </a:tblGrid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 Detail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Condition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 of 35 engineers hold standing production database credentials; no just-in-time access or approval workflow exists.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Criteria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 2 CC6.1 requires logical access to be restricted to authorized users based on least privilege.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IAM was never formalized during rapid scale-up from 30 to 180 employees; access requests are granted ad hoc in Slack.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Consequence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Increases blast radius of a compromised credential and jeopardizes the SOC 2 Type II opinion needed to close two pending enterprise deals.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Recommendation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8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Implement role-based access control with quarterly access reviews and a documented approval workflow before the SOC 2 observation period.</a:t>
                      </a:r>
                      <a:endParaRPr lang="en-US" sz="10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Realistic Evidence Samples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EVIDENCE LOOKS LIKE IN PRACTICE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· Findings &amp; Evidence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|  Audits, Assessments &amp; Reporting  |  10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5F7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 excerpt (MarketNest)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69164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2026-03-11 02:14:07 UTC  plugin=support-chat-v2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user=svc_helpdesk  action=EXPORT_TABLE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table=customers  rows=398,214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auth=API_KEY (no MFA, no approval record)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35661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Described in text rather than a screenshot — captures the same evidentiary detail for the working papers.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1430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5F7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2801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 excerpt (Quanta Labs IAM)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69164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role: prod-db-standing-access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members: 22 engineers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expiry: none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approval_workflow: not_configured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846320" y="356616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papers should reference the exact export date, sample size, and requester to make evidence traceable.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Rating Findings by Severity &amp; Risk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· Findings &amp; Evidence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|  Audits, Assessments &amp; Reporting  |  11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291840"/>
        </p:xfrm>
        <a:graphic>
          <a:graphicData uri="http://schemas.openxmlformats.org/drawingml/2006/table">
            <a:tbl>
              <a:tblPr/>
              <a:tblGrid>
                <a:gridCol w="1463040"/>
                <a:gridCol w="4297680"/>
                <a:gridCol w="2468880"/>
              </a:tblGrid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Severity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 x Impact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Remediation Window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3261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likelihood, severe impact (regulatory, safety, breach)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Immediate / within 7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7F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likelihood or high impact, not both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D3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Moderate likelihood and impact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 days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E7E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likelihood, limited impact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 days / next cycle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Severity Walkthrough: Applying the Matrix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 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· Findings &amp; Evidence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|  Audits, Assessments &amp; Reporting  |  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8872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F5F7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0876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B3261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5087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Critical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194560" y="129844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MarketNest — Shadow IT / Data Exfiltration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194560" y="166420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exploited; active regulatory inquiry (ICO) and PII exposure.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65176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F5F7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97180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C97F1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97180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194560" y="2761488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Quanta Labs — Standing DB Access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194560" y="3127248"/>
            <a:ext cx="6309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exploited, but broad blast radius and blocks a business-critical SOC 2 outcome.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Designing Remediation Timelines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· Findings &amp; Evidence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|  Audits, Assessments &amp; Reporting  |  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114300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the deadline to severity, not to what's convenient for the control owner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Distinguish an interim compensating control from the permanent fix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single accountable owner — shared ownership means no ownership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a retest date, not just a “fixed by” date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remediation plan without an owner and a retest date is a wish list, not a plan.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Remediation Timeline Example: MarketNest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· Findings &amp; Evidence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|  Audits, Assessments &amp; Reporting  |  14</a:t>
            </a:r>
            <a:endParaRPr lang="en-US" sz="9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3383280"/>
        </p:xfrm>
        <a:graphic>
          <a:graphicData uri="http://schemas.openxmlformats.org/drawingml/2006/table">
            <a:tbl>
              <a:tblPr/>
              <a:tblGrid>
                <a:gridCol w="3291840"/>
                <a:gridCol w="1828800"/>
                <a:gridCol w="1463040"/>
                <a:gridCol w="1645920"/>
              </a:tblGrid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Disable exposed support-chat plugin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of Engineering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1 (interim)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Rotate all API keys with vendor access to customer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Lead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 up SaaS/vendor intake review process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GRC Analyst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 progress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Complete retrospective review of all connected tools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GRC Analyst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started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3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Independent retest of access controls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Internal Audit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 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7E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Papers &amp; Audit Trails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· Findings &amp; Evidence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|  Audits, Assessments &amp; Reporting  |  15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E6F3F4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papers document...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32918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test procedure performed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population and sample selected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evidence obtained and its source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conclusion reached and by whom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 to the finding it supports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143000"/>
            <a:ext cx="3931920" cy="3291840"/>
          </a:xfrm>
          <a:prstGeom prst="roundRect">
            <a:avLst>
              <a:gd name="adj" fmla="val 2222"/>
            </a:avLst>
          </a:prstGeom>
          <a:solidFill>
            <a:srgbClr val="F5F7FA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92040" y="13258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92040" y="1783080"/>
            <a:ext cx="3474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finding is only as defensible as the trail behind it. If a regulator, external auditor, or the auditee challenges a conclusion, the working papers must independently substantiate it — without needing the auditor's memory.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Activity: Draft a 5 C's Finding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IN-CLASS EXERCISE · 25 MIN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· Findings &amp; Evidence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|  Audits, Assessments &amp; Reporting  |  16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8229600" cy="3291840"/>
          </a:xfrm>
          <a:prstGeom prst="roundRect">
            <a:avLst>
              <a:gd name="adj" fmla="val 2222"/>
            </a:avLst>
          </a:prstGeom>
          <a:solidFill>
            <a:srgbClr val="E6F3F4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1371600"/>
            <a:ext cx="75895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evidence samples from this session (or the mock-audit company you scoped in Session A), write one complete finding.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all 5 C's — Condition, Criteria, Cause, Consequence, Recommendation.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severity rating using the matrix and justify it in one sentence.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with a partner and challenge one part of their finding — can they defend it with evidence?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The 5 C's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· Findings &amp; Evidence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|  Audits, Assessments &amp; Reporting  |  17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954780" cy="1051560"/>
          </a:xfrm>
          <a:prstGeom prst="roundRect">
            <a:avLst>
              <a:gd name="adj" fmla="val 6957"/>
            </a:avLst>
          </a:prstGeom>
          <a:solidFill>
            <a:srgbClr val="E6F3F4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3441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44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1234440"/>
            <a:ext cx="29946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 = what was found; Criteria = the standard it's measured against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32020" y="1143000"/>
            <a:ext cx="3954780" cy="1051560"/>
          </a:xfrm>
          <a:prstGeom prst="roundRect">
            <a:avLst>
              <a:gd name="adj" fmla="val 6957"/>
            </a:avLst>
          </a:prstGeom>
          <a:solidFill>
            <a:srgbClr val="E6F3F4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14900" y="13441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914900" y="1344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09260" y="1234440"/>
            <a:ext cx="29946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 = the root process failure; Consequence = the realistic impact if unaddressed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3954780" cy="1051560"/>
          </a:xfrm>
          <a:prstGeom prst="roundRect">
            <a:avLst>
              <a:gd name="adj" fmla="val 6957"/>
            </a:avLst>
          </a:prstGeom>
          <a:solidFill>
            <a:srgbClr val="E6F3F4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5786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2468880"/>
            <a:ext cx="29946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 must be proportionate, actionable, and aimed at the Cause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32020" y="2377440"/>
            <a:ext cx="3954780" cy="1051560"/>
          </a:xfrm>
          <a:prstGeom prst="roundRect">
            <a:avLst>
              <a:gd name="adj" fmla="val 6957"/>
            </a:avLst>
          </a:prstGeom>
          <a:solidFill>
            <a:srgbClr val="E6F3F4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14900" y="25786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491490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09260" y="2468880"/>
            <a:ext cx="29946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finding missing any of the 5 C's is easy for the auditee to dispute</a:t>
            </a:r>
            <a:endParaRPr lang="en-US" sz="12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Recap: Rating, Timelines &amp; What's Next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4864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B · Findings &amp; Evidence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0" y="486460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 |  Audits, Assessments &amp; Reporting  |  18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3954780" cy="1051560"/>
          </a:xfrm>
          <a:prstGeom prst="roundRect">
            <a:avLst>
              <a:gd name="adj" fmla="val 6957"/>
            </a:avLst>
          </a:prstGeom>
          <a:solidFill>
            <a:srgbClr val="E6F3F4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3441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344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34440" y="1234440"/>
            <a:ext cx="29946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rating drives the remediation window — Critical findings move in days, not months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732020" y="1143000"/>
            <a:ext cx="3954780" cy="1051560"/>
          </a:xfrm>
          <a:prstGeom prst="roundRect">
            <a:avLst>
              <a:gd name="adj" fmla="val 6957"/>
            </a:avLst>
          </a:prstGeom>
          <a:solidFill>
            <a:srgbClr val="E6F3F4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14900" y="134416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4914900" y="13441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509260" y="1234440"/>
            <a:ext cx="29946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remediation item needs a named owner and a retest date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57200" y="2377440"/>
            <a:ext cx="3954780" cy="1051560"/>
          </a:xfrm>
          <a:prstGeom prst="roundRect">
            <a:avLst>
              <a:gd name="adj" fmla="val 6957"/>
            </a:avLst>
          </a:prstGeom>
          <a:solidFill>
            <a:srgbClr val="E6F3F4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5786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2468880"/>
            <a:ext cx="29946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papers make findings defensible independent of the auditor's memory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732020" y="2377440"/>
            <a:ext cx="3954780" cy="1051560"/>
          </a:xfrm>
          <a:prstGeom prst="roundRect">
            <a:avLst>
              <a:gd name="adj" fmla="val 6957"/>
            </a:avLst>
          </a:prstGeom>
          <a:solidFill>
            <a:srgbClr val="E6F3F4"/>
          </a:solidFill>
          <a:ln/>
          <a:effectLst>
            <a:outerShdw sx="100000" sy="100000" kx="0" ky="0" algn="bl" rotWithShape="0" blurRad="63500" dist="25400" dir="27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14900" y="2578608"/>
            <a:ext cx="457200" cy="45720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491490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509260" y="2468880"/>
            <a:ext cx="29946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Session C turns these findings into a professional audit report and a full mock audit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4 Session B - Findings &amp; Evidence</dc:title>
  <dc:subject>PptxGenJS Presentation</dc:subject>
  <dc:creator>GRC Mastery Program</dc:creator>
  <cp:lastModifiedBy>GRC Mastery Program</cp:lastModifiedBy>
  <cp:revision>1</cp:revision>
  <dcterms:created xsi:type="dcterms:W3CDTF">2026-07-05T10:13:31Z</dcterms:created>
  <dcterms:modified xsi:type="dcterms:W3CDTF">2026-07-05T10:13:31Z</dcterms:modified>
</cp:coreProperties>
</file>