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/cg8ERpAZ+d13TXNsuaPXSkNO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5C7ED4-A794-4C81-8159-027B1AC6ADE9}">
  <a:tblStyle styleId="{495C7ED4-A794-4C81-8159-027B1AC6AD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452360" y="-822960"/>
            <a:ext cx="2926080" cy="2926080"/>
          </a:xfrm>
          <a:prstGeom prst="ellipse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8092440" y="-274320"/>
            <a:ext cx="1828800" cy="1828800"/>
          </a:xfrm>
          <a:prstGeom prst="ellipse">
            <a:avLst/>
          </a:prstGeom>
          <a:solidFill>
            <a:srgbClr val="02809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365760" y="3931920"/>
            <a:ext cx="1463040" cy="1463040"/>
          </a:xfrm>
          <a:prstGeom prst="ellipse">
            <a:avLst/>
          </a:prstGeom>
          <a:solidFill>
            <a:srgbClr val="028090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WEEK 4 · AUDITS, ASSESSMENTS &amp; REPORTING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C: The Audit Report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0080" y="2971800"/>
            <a:ext cx="7498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3F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E6F3F4"/>
                </a:solidFill>
                <a:latin typeface="Calibri"/>
                <a:ea typeface="Calibri"/>
                <a:cs typeface="Calibri"/>
                <a:sym typeface="Calibri"/>
              </a:rPr>
              <a:t>Structuring the report, speaking to two audiences, and a full mock audit of NovaCare Health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26-28 · 1.5 hrs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Session Objectives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Structure a professional audit report end to end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Write executive summaries, scope/methodology, findings, and recommendations sections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Adapt the same findings for technical vs. executive audiences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Recognize DETECT and GOVERN in what an audit report communicates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Complete a full mock audit of NovaCare Health, from scope through management response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Structure of a Professional Audit Report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SIX SECTIONS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57200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57200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02920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892808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892808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938528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Scope &amp;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3328416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3328416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374136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764024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764024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809744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Recommend-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199632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199632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245352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635240" y="1463040"/>
            <a:ext cx="1298448" cy="1371600"/>
          </a:xfrm>
          <a:prstGeom prst="roundRect">
            <a:avLst>
              <a:gd fmla="val 5634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7635240" y="1554480"/>
            <a:ext cx="12984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680960" y="1828800"/>
            <a:ext cx="12070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Appendices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Every section serves a different reader — the executive summary is read by leadership who will never open the appendices.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 report is only as strong as its weakest section — a brilliant findings section buried in a confusing executive summary still fails the reader.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Executive Summary — Purpose &amp; Content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page maximum — leadership decides whether to keep reading based on this alone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States the audit objective, overall opinion, and headline risk in plain business language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Names the number and severity mix of findings, not every detail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Ends with the single most important ask of leadership (funding, a decision, a deadline)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Write this section last, even though it appears first — you can't summarize findings you haven't finished analyzing.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Scope &amp; Methodology Section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Restates what was and was not covered — protects both the auditor and the auditee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Names the criteria/framework used (e.g., HIPAA Security Rule, NIST CSF, ISO 27001)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Describes the testing approach: sampling method, sample sizes, time period covered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Lists any scope limitations encountered (access denied, data unavailable, timing)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Scope limitations must be disclosed, not hidden — an undisclosed limitation undermines the credibility of the whole report.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Findings Section — Best Practices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One finding per control gap, each using the full 5 C's structure from Session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Order findings by severity, Critical first, so the highest risk is impossible to miss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Reference the specific evidence and working paper ID for traceability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consistent, unambiguous language — avoid vague terms like “concerning” or “issues”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Recommendations Section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Grouped by finding, but summarized together so leadership sees the full remediation ask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Includes proposed owner, target date, and estimated effort where known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Distinguishes quick wins from structural, longer-term fixes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Avoids prescribing a specific technical product — recommend the control outcome, not the vendor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Management Response Section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REPORT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Auditee formally agrees, partially agrees, or disagrees with each finding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disagreement must include the auditee's rationale and alternative action, not silence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Response includes a committed remediation date the auditee — not the auditor — owns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Signed by an accountable manager, closing the loop on formal follow-up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This section is what makes follow-up (lifecycle stage 6) enforceable rather than aspirational.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Communicating to a Technical Audience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fmla="val 2222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777240" y="1371600"/>
            <a:ext cx="75895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precise technical terms: control IDs, config values, log fields, framework clause numbers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Include reproducible detail — sample size, dates, system names — so engineers can locate the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Frame Recommendation as a specific control change they can implement and test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 audience: NovaCare's IT/engineering team reviewing the EHR access-control finding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Communicating to an Executive Audience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fmla="val 2222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777240" y="1371600"/>
            <a:ext cx="75895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Translate technical risk into business terms: financial, regulatory, reputational, patient-safety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Lead with the decision needed, not the technical mechanism of the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severity language and dollar/regulatory exposure rather than control jargon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Char char="•"/>
            </a:pPr>
            <a:r>
              <a:rPr lang="en-US" sz="14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Example audience: NovaCare's board, weighing the SOC 2/HITRUST renewal deadline against remediation cost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DETECT &amp; GOVERN in Audit Reporting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NIST CSF 2.0 CONNECTION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457200" y="487036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fmla="val 2222" name="adj"/>
            </a:avLst>
          </a:prstGeom>
          <a:solidFill>
            <a:srgbClr val="1E2761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685800" y="1325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DETECT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685800" y="182880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fieldwork and evidence-gathbigsteve011ering are DETECT activities — they surface anomalies and control gaps that would otherwise go unnoticed. Findings are, in effect, detected weaknesses in the control environment.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fmla="val 2222" name="adj"/>
            </a:avLst>
          </a:prstGeom>
          <a:solidFill>
            <a:srgbClr val="028090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"/>
          <p:cNvSpPr/>
          <p:nvPr/>
        </p:nvSpPr>
        <p:spPr>
          <a:xfrm>
            <a:off x="4892040" y="1325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2000"/>
              <a:buFont typeface="Cambria"/>
              <a:buNone/>
            </a:pPr>
            <a:r>
              <a:rPr b="1" lang="en-US" sz="20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GOVERN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4892040" y="1828800"/>
            <a:ext cx="34747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report itself, management response, and follow-up are GOVERN activities — they turn detected gaps into accountable decisions, resourcing, and oversight at the leadership level.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NovaCare Health — Scope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Audit objective: assess whether NovaCare's access control, vendor oversight, and incident-response capabilities meet HIPAA Security Rule requirements ahead of its first third-party SOC 2 / HITRUST assessment.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12"/>
          <p:cNvGraphicFramePr/>
          <p:nvPr/>
        </p:nvGraphicFramePr>
        <p:xfrm>
          <a:off x="457200" y="1965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{495C7ED4-A794-4C81-8159-027B1AC6ADE9}</a:tableStyleId>
              </a:tblPr>
              <a:tblGrid>
                <a:gridCol w="548650"/>
                <a:gridCol w="76809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Area (8-10 in scope)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access provisioning and deprovisioning (EHR &amp; telehealth platform)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Shared-account and generic-login usage at clinical workstations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Third-party / Business Associate Agreement (BAA) vendor oversight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Backup and restoration testing for the EHR system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Formal HIPAA Security Rule risk analysis (existence and currency)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Incident response plan — existence, testing, ransomware readiness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segmentation for connected medical devices (IoMT)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Patient data handling — email and portal disclosure controls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Evidence Gathered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13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{495C7ED4-A794-4C81-8159-027B1AC6ADE9}</a:tableStyleId>
              </a:tblPr>
              <a:tblGrid>
                <a:gridCol w="1645925"/>
                <a:gridCol w="1554475"/>
                <a:gridCol w="5029200"/>
              </a:tblGrid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Area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 Obtained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provisioning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 Directory export of 40 sampled accounts vs. current HR roster and termination dates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Shared logins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Walkthrough of 3 nursing stations; observed shared badge/login use at 2 of 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BAA vendor oversight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 contract register; 5 of 12 active vendors missing a signed, current BAA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Backup restoration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Re-performance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re-performed a test restore of the EHR backup; restore failed on first attempt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analysis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Inquiry + Inspection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Confirmed via interview and document request that no formal HIPAA risk analysis exists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Incident response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 IR plan dated 3 years ago; no tabletop exercise record found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Findings (5 C's)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 · FINDING 1 OF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457200" y="1097280"/>
            <a:ext cx="8229600" cy="3429000"/>
          </a:xfrm>
          <a:prstGeom prst="roundRect">
            <a:avLst>
              <a:gd fmla="val 2133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685800" y="1280160"/>
            <a:ext cx="1188720" cy="457200"/>
          </a:xfrm>
          <a:prstGeom prst="roundRect">
            <a:avLst>
              <a:gd fmla="val 12000" name="adj"/>
            </a:avLst>
          </a:prstGeom>
          <a:solidFill>
            <a:srgbClr val="B326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685800" y="128016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mbria"/>
              <a:buNone/>
            </a:pPr>
            <a:r>
              <a:rPr b="1" lang="en-US" sz="1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CRITICAL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2011680" y="1298448"/>
            <a:ext cx="6492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F1: No Formal HIPAA Security Risk Analysis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685800" y="1984621"/>
            <a:ext cx="7772400" cy="2120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Condition: </a:t>
            </a: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NovaCare has never performed a formal, documented HIPAA Security Rule risk analysis across its EHR, telehealth platform, and connected medical devices.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Criteria: </a:t>
            </a: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45 CFR §164.308(a)(1)(ii)(A) requires a documented, periodic risk analysis.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Cause: </a:t>
            </a: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Security ownership was never formally assigned as the organization scaled from a single practice to a 600-employee, multi-site provider.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Consequence: </a:t>
            </a: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Regulatory penalty exposure, and no basis for prioritizing security investment.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Recommendation: </a:t>
            </a: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Commission a full HIPAA risk analysis within 30 days; assign an accountable Security Officer.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Findings 2 &amp; 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457200" y="1097280"/>
            <a:ext cx="8229600" cy="1600200"/>
          </a:xfrm>
          <a:prstGeom prst="roundRect">
            <a:avLst>
              <a:gd fmla="val 4571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594360" y="1234440"/>
            <a:ext cx="914400" cy="365760"/>
          </a:xfrm>
          <a:prstGeom prst="roundRect">
            <a:avLst>
              <a:gd fmla="val 15000" name="adj"/>
            </a:avLst>
          </a:prstGeom>
          <a:solidFill>
            <a:srgbClr val="C97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594360" y="12344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lang="en-US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HIGH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1645920" y="121615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F2: Untested Backup Restoration for EHR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594360" y="1645920"/>
            <a:ext cx="7955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Condition: Backup restore test of the EHR system failed on first attempt during fieldwork. Criteria: Business Continuity Policy requires quarterly restore testing. Cause: Restoration was never tested end-to-end; backups were assumed reliable. Consequence: A ransomware event could leave patient records unrecoverable. Recommendation: Fix and re-test restoration within 30 days; institute quarterly restore drills.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457200" y="2834640"/>
            <a:ext cx="8229600" cy="1600200"/>
          </a:xfrm>
          <a:prstGeom prst="roundRect">
            <a:avLst>
              <a:gd fmla="val 4571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594360" y="2971800"/>
            <a:ext cx="914400" cy="365760"/>
          </a:xfrm>
          <a:prstGeom prst="roundRect">
            <a:avLst>
              <a:gd fmla="val 15000" name="adj"/>
            </a:avLst>
          </a:prstGeom>
          <a:solidFill>
            <a:srgbClr val="C97F1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594360" y="2971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mbria"/>
              <a:buNone/>
            </a:pPr>
            <a:r>
              <a:rPr b="1" lang="en-US" sz="1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HIGH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1645920" y="295351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F3: Missing Business Associate Agreements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94360" y="3383280"/>
            <a:ext cx="7955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Condition: 5 of 12 sampled vendors with access to PHI have no current signed BAA on file. Criteria: HIPAA requires a BAA with any vendor handling PHI on the organization's behalf. Cause: Vendor onboarding has no security/legal gate requiring a BAA before data access is granted. Consequence: Uncontrolled third-party PHI exposure and direct HIPAA non-compliance. Recommendation: Execute missing BAAs within 45 days; add a BAA gate to vendor onboarding.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Remediation Plan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16"/>
          <p:cNvGraphicFramePr/>
          <p:nvPr/>
        </p:nvGraphicFramePr>
        <p:xfrm>
          <a:off x="45720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{495C7ED4-A794-4C81-8159-027B1AC6ADE9}</a:tableStyleId>
              </a:tblPr>
              <a:tblGrid>
                <a:gridCol w="3291850"/>
                <a:gridCol w="1463050"/>
                <a:gridCol w="2194550"/>
                <a:gridCol w="12801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F1: No HIPAA risk analysis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Chief Compliance Officer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F2: Untested backup restoration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Infrastructure Lead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 days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F3: Missing BAAs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Vendor Management / Legal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 days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Independent retest of all 3 findings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Audit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 90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16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Interim compensating control: manual weekly access-log review for EHR while F1 remediation is underway.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Hands-On Mock Audit: Executive Summary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 · WRITTEN FOR LEADERSHIP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457200" y="1097280"/>
            <a:ext cx="8229600" cy="3429000"/>
          </a:xfrm>
          <a:prstGeom prst="roundRect">
            <a:avLst>
              <a:gd fmla="val 2133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777240" y="1325880"/>
            <a:ext cx="75895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This audit evaluated NovaCare Health's access control, vendor oversight, and resilience practices against the HIPAA Security Rule, ahead of a required third-party SOC 2/HITRUST assessment. We identified one Critical and two High-severity gaps: the organization has never performed a formal risk analysis, its EHR backup could not be restored on first test, and five active vendors handling patient data lack a signed Business Associate Agreement. Left unaddressed, these gaps create direct regulatory exposure and materially increase the impact of a ransomware event similar to the one that recently affected a neighboring hospital. Management has committed to remediation within 30-45 days, with independent retesting at day 90. We recommend the Board approve the requested Security Officer role and remediation budget without delay.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Management Response &amp; Week 4 Wrap-Up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MANDATORY DELIVERABLE + RECAP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Session C · Audit Reporting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Week 4  |  Audits, Assessments &amp; Reporting  |  18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57200" y="1097280"/>
            <a:ext cx="3931920" cy="3337560"/>
          </a:xfrm>
          <a:prstGeom prst="roundRect">
            <a:avLst>
              <a:gd fmla="val 2192" name="adj"/>
            </a:avLst>
          </a:prstGeom>
          <a:solidFill>
            <a:srgbClr val="F5F7FA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Management Response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457200" y="1796859"/>
            <a:ext cx="3816220" cy="2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NovaCare management agrees with all three findings. A Security Officer will be hired within 30 days and will own F1. IT accepts F2 and has already scheduled a corrective restore test. Legal accepts F3 and will prioritize the five outstanding BAAs. Signed: VP of Operations.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4663440" y="1097280"/>
            <a:ext cx="3931920" cy="3337560"/>
          </a:xfrm>
          <a:prstGeom prst="roundRect">
            <a:avLst>
              <a:gd fmla="val 2192" name="adj"/>
            </a:avLst>
          </a:prstGeom>
          <a:solidFill>
            <a:srgbClr val="E6F3F4"/>
          </a:solidFill>
          <a:ln>
            <a:noFill/>
          </a:ln>
          <a:effectLst>
            <a:outerShdw blurRad="635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4846320" y="1234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Week 4 Recap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4663440" y="1749490"/>
            <a:ext cx="37490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Audit types, lifecycle, and evidence methods (Session 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5 C's, severity rating, and remediation timelines (Session 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Report structure, dual-audience communication, and a full mock audit (Session C)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Next: Week 5 — Asset Management &amp; Identity/Access Management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2026-07-05T10:15:04Z</dcterms:created>
  <dc:creator>GRC Mastery Program</dc:creator>
</cp:coreProperties>
</file>