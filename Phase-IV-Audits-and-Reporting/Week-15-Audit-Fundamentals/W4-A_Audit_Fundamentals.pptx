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/MTV2R2jgiRKfTTHs3+wVItJ1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A758F8-BC37-4BF5-B32A-7D369AEDEE44}">
  <a:tblStyle styleId="{8CA758F8-BC37-4BF5-B32A-7D369AEDEE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452360" y="-822960"/>
            <a:ext cx="2926080" cy="2926080"/>
          </a:xfrm>
          <a:prstGeom prst="ellipse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092440" y="-274320"/>
            <a:ext cx="1828800" cy="1828800"/>
          </a:xfrm>
          <a:prstGeom prst="ellipse">
            <a:avLst/>
          </a:prstGeom>
          <a:solidFill>
            <a:srgbClr val="02809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365760" y="3931920"/>
            <a:ext cx="1463040" cy="1463040"/>
          </a:xfrm>
          <a:prstGeom prst="ellipse">
            <a:avLst/>
          </a:prstGeom>
          <a:solidFill>
            <a:srgbClr val="02809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WEEK 4 · AUDITS, ASSESSMENTS &amp;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A: Audit Fundamentals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97180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3F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6F3F4"/>
                </a:solidFill>
                <a:latin typeface="Calibri"/>
                <a:ea typeface="Calibri"/>
                <a:cs typeface="Calibri"/>
                <a:sym typeface="Calibri"/>
              </a:rPr>
              <a:t>Audit types, the audit lifecycle, and evidence-gathering methods — DETECT / GOVERN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22-23 · 2 hrs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Session Objectives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Distinguish internal, external, and 1st/2nd/3rd-party audits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Differentiate a compliance audit, a risk assessment, and a penetration test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Walk the full audit lifecycle from scoping to follow-up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Apply the four evidence-gathering methods: inquiry, observation, inspection, re-performance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Scope an audit realistically for different organization types using case-study companies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Is an Audit?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fmla="val 2222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85800" y="2148840"/>
            <a:ext cx="3474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structured, independent examination of controls, processes, or records against a defined set of criteria to form an opinion on adequacy and effectiveness.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892040" y="2148840"/>
            <a:ext cx="3474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Key traits of a real audit: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Independence from the process owner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Evidence-based conclusions, not opinions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Measured against a stated criteria (framework, policy, regulation)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Produces a documented, defensible trail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Internal vs. External Audits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{8CA758F8-BC37-4BF5-B32A-7D369AEDEE44}</a:tableStyleId>
              </a:tblPr>
              <a:tblGrid>
                <a:gridCol w="1645925"/>
                <a:gridCol w="3291850"/>
                <a:gridCol w="3291850"/>
              </a:tblGrid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Audit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External Audit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Performed by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 / internal audit function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third-party firm or regulator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purpose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improvement, management assurance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Certification, regulatory or contractual attestation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Reports 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committee / senior management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Board, regulator, or requesting customer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Ongoing, risk-based cadence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 or per-contract cycle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PayFlow's quarterly access-review self-audit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Quanta Labs' SOC 2 Type II examination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1st, 2nd, and 3rd-Party Audits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1st Party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233172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Self-assessment performed by the organization on itself (internal audit team).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NovaCare's internal HIPAA readiness self-check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91840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52044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2nd Party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474720" y="233172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organization audits another with which it has a direct relationship, usually a customer auditing a supplier.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7472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 enterprise client auditing Quanta Labs before signing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126480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35508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3550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3rd Party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309360" y="233172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 independent, unaffiliated body audits the organization for certification or attestation.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30936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 accredited CPA firm issuing PayFlow's SOC 2 report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Compliance Audit vs. Risk Assessment vs. Penetration Test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" name="Google Shape;88;p6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{8CA758F8-BC37-4BF5-B32A-7D369AEDEE44}</a:tableStyleId>
              </a:tblPr>
              <a:tblGrid>
                <a:gridCol w="1463050"/>
                <a:gridCol w="2286000"/>
                <a:gridCol w="2194550"/>
                <a:gridCol w="22860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Compliance Audit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Assessment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Penetration Test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asked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we meet the required standard?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could go wrong and how badly?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an attacker actually get in?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testing vs. framework criteria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Threat, likelihood, impact analysis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Simulated attack / exploitation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Findings + compliance rating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register with ratings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Exploited vulnerabilities + proof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 example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NovaCare's HIPAA Security Rule audit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Helios Grid's IT/OT risk register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MarketNest's post-breach pen test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Audit Lifecycle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SIX-STAGE PROCESS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57200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755648" y="205740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892808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892808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938528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191256" y="205740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328416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328416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374136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Fieldwork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626864" y="205740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764024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764024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809744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062472" y="205740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199632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199632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245352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498080" y="205740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635240" y="1920240"/>
            <a:ext cx="1298448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635240" y="196596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680960" y="2286000"/>
            <a:ext cx="1207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Follow-Up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Each stage feeds the next — weak scoping produces weak evidence; weak evidence produces indefensible findings.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Teaching note: this six-stage model recurs in Sessions B and C — findings live in Fieldwork/Analysis, the report lives in Reporting.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Lifecycle Stage: Scoping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AUDIT LIFECYCLE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1097280"/>
            <a:ext cx="2377440" cy="3337560"/>
          </a:xfrm>
          <a:prstGeom prst="roundRect">
            <a:avLst>
              <a:gd fmla="val 3077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STAGE 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SCOPING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063240" y="1188720"/>
            <a:ext cx="5623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Define audit objective, boundaries, and the criteria being tested against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Identify in-scope systems, processes, locations, and time period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Agree stakeholders, timeline, and resource needs with the auditee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Set materiality — which controls matter most given the organization's risk profile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063240" y="39776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Example: scoping PayFlow's audit around the exposed API key means including secrets management and access control, not the entire IT estate.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Lifecycle Stage: Planning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AUDIT LIFECYCLE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7200" y="1097280"/>
            <a:ext cx="2377440" cy="3337560"/>
          </a:xfrm>
          <a:prstGeom prst="roundRect">
            <a:avLst>
              <a:gd fmla="val 3077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STAGE 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063240" y="1188720"/>
            <a:ext cx="5623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Select the audit framework/criteria (ISO 27001, NIST CSF, HIPAA, PCI DSS, etc.)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Build the audit program: control list, test procedures, sampling approach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Assign auditors, schedule fieldwork, and request evidence in advance (PBC list)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Perform a preliminary risk assessment to prioritize higher-risk areas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063240" y="39776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Example: planning NovaCare's audit prioritizes access control and vendor management given prior incident history.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Lifecycle Stage: Fieldwork (Evidence Gathering)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AUDIT LIFECYCLE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" y="1097280"/>
            <a:ext cx="2377440" cy="3337560"/>
          </a:xfrm>
          <a:prstGeom prst="roundRect">
            <a:avLst>
              <a:gd fmla="val 3077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STAGE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FIELDWORK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3063240" y="1188720"/>
            <a:ext cx="5623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Execute the test procedures defined in planning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Collect evidence through inquiry, observation, inspection, and re-performance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Document every test step, sample selected, and result in working papers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Escalate scope changes or access issues immediately, not at reporting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063240" y="39776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This is where the four evidence-gathering methods (next slide) are actually applied.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Lifecycle Stage: Analysis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AUDIT LIFECYCLE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57200" y="1097280"/>
            <a:ext cx="2377440" cy="3337560"/>
          </a:xfrm>
          <a:prstGeom prst="roundRect">
            <a:avLst>
              <a:gd fmla="val 3077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STAGE 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3063240" y="1188720"/>
            <a:ext cx="5623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Compare evidence collected against the stated criteria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Determine whether each control is designed and operating effectively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Draft preliminary findings and validate them with the control owner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Rate severity/risk of confirmed gaps (covered in depth in Session B)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063240" y="39776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Analysis is where raw evidence becomes a defensible conclusion — this is the bridge into Session B's 5 C's.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Lifecycle Stages: Reporting &amp; Follow-Up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AUDIT LIFECYCLE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457200" y="1097280"/>
            <a:ext cx="2377440" cy="3337560"/>
          </a:xfrm>
          <a:prstGeom prst="roundRect">
            <a:avLst>
              <a:gd fmla="val 3077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594360" y="23774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STAGES 5-6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REPORTING &amp;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FOLLOW-UP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3063240" y="1188720"/>
            <a:ext cx="5623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Reporting: communicate findings, ratings, and recommendations to stakeholders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Management provides a formal response and remediation commitments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Follow-up: verify remediation was actually implemented and is operating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Closed findings are retested; overdue findings are escalated to governance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3063240" y="39776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Reporting is the full focus of Session C — including how to write for technical vs. executive audiences.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Evidence-Gathering &amp; Testing Methods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3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{8CA758F8-BC37-4BF5-B32A-7D369AEDEE44}</a:tableStyleId>
              </a:tblPr>
              <a:tblGrid>
                <a:gridCol w="1828800"/>
                <a:gridCol w="3840475"/>
                <a:gridCol w="2560325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Involves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 of Evidence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Inquiry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Asking process owners how a control operates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Weakest alone — corroborate with other methods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Watching a control being performed in real time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— reflects one point in time only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Reviewing documents, configs, logs, screenshots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— provides a durable, reviewable record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Re-performance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Independently redoing the control to confirm the result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Strongest — directly validates operating effectiveness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Study: Scoping Differs by Organization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APPLYING THE FRAMEWORK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640080" y="1325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1417320" y="12344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PayFlow (Fintech Startup)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251960" y="1234440"/>
            <a:ext cx="4251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API/secrets management, access control, PCI DSS cardholder-data flow ahead of partner onboarding.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640080" y="2468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417320" y="23774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NovaCare Health (Healthcare)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4251960" y="2377440"/>
            <a:ext cx="4251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HIPAA Security Rule risk analysis, EHR/telehealth access control, vendor (BAA) oversight.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640080" y="3611880"/>
            <a:ext cx="594360" cy="594360"/>
          </a:xfrm>
          <a:prstGeom prst="ellipse">
            <a:avLst/>
          </a:prstGeom>
          <a:solidFill>
            <a:srgbClr val="C97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40080" y="3611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417320" y="35204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Quanta Labs (B2B SaaS)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251960" y="3520440"/>
            <a:ext cx="4251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SOC 2 Trust Services Criteria: access management, change management, vendor risk, logging.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Case Study: Example Evidence by Company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1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{8CA758F8-BC37-4BF5-B32A-7D369AEDEE44}</a:tableStyleId>
              </a:tblPr>
              <a:tblGrid>
                <a:gridCol w="1554475"/>
                <a:gridCol w="2560325"/>
                <a:gridCol w="4114800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Tested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 Example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PayFlow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Secrets/credential management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Screenshot of secrets vault config showing no hard-coded keys in the repo; GitHub secret-scanning alert log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NovaCare Health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control over EHR/PHI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Directory user-access export vs. current staff roster; sample of shared-login incident tickets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Quanta Labs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management for production deploys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CI/CD pipeline log showing peer-reviewed pull requests and approval gates for the last quarter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Activity: Scope a Mock Audit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IN-CLASS EXERCISE · 20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fmla="val 2222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777240" y="1371600"/>
            <a:ext cx="75895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pairs, pick one case-study company (PayFlow, NovaCare Health, or Quanta Labs).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Draft a one-paragraph audit scope statement: objective, criteria/framework, in-scope systems, and time period.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 3 evidence items you would request before fieldwork begins (the PBC list).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 ready to justify why you excluded something from the scope.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Recap: Audit Types &amp; Structure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457200" y="114300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234440" y="123444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Internal audits build management assurance; external audits deliver certification or attestation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732020" y="114300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4914900" y="13441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491490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509260" y="123444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1st-party = self-audit, 2nd-party = customer-led, 3rd-party = independent certifying body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57200" y="237744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1234440" y="246888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Compliance audits, risk assessments, and penetration tests answer different questions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4732020" y="237744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4914900" y="25786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4914900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509260" y="246888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Scope must reflect the organization's actual risk profile — no two companies scope the same way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Recap: The Lifecycle &amp; What's Next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A · Audit Fundamentals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457200" y="114300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1234440" y="123444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audit lifecycle runs Scoping → Planning → Fieldwork → Analysis → Reporting → Follow-Up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4732020" y="114300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4914900" y="13441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491490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5509260" y="123444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Inspection and re-performance produce the strongest evidence; inquiry alone is the weakest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457200" y="237744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1234440" y="246888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Analysis converts evidence into defensible findings — that's where Session B begins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4732020" y="2377440"/>
            <a:ext cx="3954780" cy="1051560"/>
          </a:xfrm>
          <a:prstGeom prst="roundRect">
            <a:avLst>
              <a:gd fmla="val 6957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4914900" y="25786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4914900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5509260" y="2468880"/>
            <a:ext cx="29946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Next: Session B turns fieldwork evidence into strong findings using the 5 C's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2026-07-05T10:11:32Z</dcterms:created>
  <dc:creator>GRC Mastery Program</dc:creator>
</cp:coreProperties>
</file>