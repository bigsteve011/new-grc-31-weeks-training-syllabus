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3xdIIfZ/eybtJgjI7pc6IGbWO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" name="Google Shape;38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" name="Google Shape;109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" name="Google Shape;168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2" name="Google Shape;182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9692640" y="-2194560"/>
            <a:ext cx="5943600" cy="5943600"/>
          </a:xfrm>
          <a:prstGeom prst="ellipse">
            <a:avLst/>
          </a:prstGeom>
          <a:solidFill>
            <a:srgbClr val="141B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"/>
          <p:cNvSpPr/>
          <p:nvPr/>
        </p:nvSpPr>
        <p:spPr>
          <a:xfrm>
            <a:off x="-2011680" y="4572000"/>
            <a:ext cx="4206240" cy="4206240"/>
          </a:xfrm>
          <a:prstGeom prst="ellipse">
            <a:avLst/>
          </a:prstGeom>
          <a:solidFill>
            <a:srgbClr val="015F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"/>
          <p:cNvSpPr/>
          <p:nvPr/>
        </p:nvSpPr>
        <p:spPr>
          <a:xfrm>
            <a:off x="822960" y="196596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WEEK 6  ·  SESSION B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822960" y="2377440"/>
            <a:ext cx="102412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Incident Response Lifecycle &amp; Practical Runbooks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822960" y="3886200"/>
            <a:ext cx="9784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1E0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C7D1E0"/>
                </a:solidFill>
                <a:latin typeface="Calibri"/>
                <a:ea typeface="Calibri"/>
                <a:cs typeface="Calibri"/>
                <a:sym typeface="Calibri"/>
              </a:rPr>
              <a:t>From detection to lessons learned — building a repeatable response capability under NIST SP 800-61.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822960" y="4892040"/>
            <a:ext cx="1005840" cy="45720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6C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AA6C0"/>
                </a:solidFill>
                <a:latin typeface="Calibri"/>
                <a:ea typeface="Calibri"/>
                <a:cs typeface="Calibri"/>
                <a:sym typeface="Calibri"/>
              </a:rPr>
              <a:t>Case studies: NovaCare Health (Healthcare) · MarketNest (E-commerce) · PayFlow (Fintech)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22960" y="6309360"/>
            <a:ext cx="9601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BA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7BA0"/>
                </a:solidFill>
                <a:latin typeface="Calibri"/>
                <a:ea typeface="Calibri"/>
                <a:cs typeface="Calibri"/>
                <a:sym typeface="Calibri"/>
              </a:rPr>
              <a:t>GRC Mastery Program  •  NIST CSF: Protect / Respond / Recover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/>
          <p:nvPr/>
        </p:nvSpPr>
        <p:spPr>
          <a:xfrm>
            <a:off x="457200" y="32004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FRAMING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457200" y="576072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500"/>
              <a:buFont typeface="Cambria"/>
              <a:buNone/>
            </a:pPr>
            <a:r>
              <a:rPr b="1" lang="en-US" sz="25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Incident Response Sits at RESPOND and RECOVER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B78"/>
                </a:solidFill>
                <a:latin typeface="Calibri"/>
                <a:ea typeface="Calibri"/>
                <a:cs typeface="Calibri"/>
                <a:sym typeface="Calibri"/>
              </a:rPr>
              <a:t>Framing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10607040" y="6547104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B78"/>
                </a:solidFill>
                <a:latin typeface="Calibri"/>
                <a:ea typeface="Calibri"/>
                <a:cs typeface="Calibri"/>
                <a:sym typeface="Calibri"/>
              </a:rPr>
              <a:t>Week 6  |  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57200" y="1417320"/>
            <a:ext cx="777240" cy="777240"/>
          </a:xfrm>
          <a:prstGeom prst="ellipse">
            <a:avLst/>
          </a:prstGeom>
          <a:solidFill>
            <a:srgbClr val="B3432F"/>
          </a:solidFill>
          <a:ln>
            <a:noFill/>
          </a:ln>
          <a:effectLst>
            <a:outerShdw blurRad="88900" rotWithShape="0" algn="bl" dir="5400000" dist="38100">
              <a:srgbClr val="141B47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" name="Google Shape;3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738" y="1603858"/>
            <a:ext cx="404165" cy="40416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"/>
          <p:cNvSpPr/>
          <p:nvPr/>
        </p:nvSpPr>
        <p:spPr>
          <a:xfrm>
            <a:off x="457200" y="2423160"/>
            <a:ext cx="5212080" cy="374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450"/>
              <a:buFont typeface="Calibri"/>
              <a:buChar char="●"/>
            </a:pPr>
            <a:r>
              <a:rPr lang="en-US" sz="1450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PROTECT controls reduce likelihood; IR determines how much damage an incident actually does once prevention fails.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800"/>
              </a:spcBef>
              <a:spcAft>
                <a:spcPts val="0"/>
              </a:spcAft>
              <a:buClr>
                <a:srgbClr val="1B2430"/>
              </a:buClr>
              <a:buSzPts val="1450"/>
              <a:buFont typeface="Calibri"/>
              <a:buChar char="●"/>
            </a:pPr>
            <a:r>
              <a:rPr lang="en-US" sz="1450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NIST SP 800-61 Rev. 2 defines a four-phase lifecycle: Preparation; Detection &amp; Analysis; Containment, Eradication &amp; Recovery; Post-Incident Activity.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800"/>
              </a:spcBef>
              <a:spcAft>
                <a:spcPts val="0"/>
              </a:spcAft>
              <a:buClr>
                <a:srgbClr val="1B2430"/>
              </a:buClr>
              <a:buSzPts val="1450"/>
              <a:buFont typeface="Calibri"/>
              <a:buChar char="●"/>
            </a:pPr>
            <a:r>
              <a:rPr lang="en-US" sz="1450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A written runbook turns a chaotic first hour into a checklist — the difference between a contained incident and a headline.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6035040" y="1417320"/>
            <a:ext cx="5669280" cy="4572000"/>
          </a:xfrm>
          <a:prstGeom prst="roundRect">
            <a:avLst>
              <a:gd fmla="val 1600" name="adj"/>
            </a:avLst>
          </a:prstGeom>
          <a:solidFill>
            <a:srgbClr val="EEF3F5"/>
          </a:solidFill>
          <a:ln cap="flat" cmpd="sng" w="12700">
            <a:solidFill>
              <a:srgbClr val="D9E2E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141B4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6355080" y="164592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Why This Week Matters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6355080" y="2011680"/>
            <a:ext cx="5029200" cy="374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300"/>
              <a:buFont typeface="Calibri"/>
              <a:buChar char="●"/>
            </a:pPr>
            <a:r>
              <a:rPr lang="en-US" sz="1300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A nearby hospital's ransomware outage alarmed NovaCare's board before NovaCare had ever tested its own backups.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800"/>
              </a:spcBef>
              <a:spcAft>
                <a:spcPts val="0"/>
              </a:spcAft>
              <a:buClr>
                <a:srgbClr val="1B2430"/>
              </a:buClr>
              <a:buSzPts val="1300"/>
              <a:buFont typeface="Calibri"/>
              <a:buChar char="●"/>
            </a:pPr>
            <a:r>
              <a:rPr lang="en-US" sz="1300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MarketNest's breach reached the news and triggered an ICO inquiry within days — the speed of the public response mattered as much as the technical fix.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800"/>
              </a:spcBef>
              <a:spcAft>
                <a:spcPts val="0"/>
              </a:spcAft>
              <a:buClr>
                <a:srgbClr val="015F67"/>
              </a:buClr>
              <a:buSzPts val="1300"/>
              <a:buFont typeface="Calibri"/>
              <a:buChar char="●"/>
            </a:pPr>
            <a:r>
              <a:rPr b="1" lang="en-US" sz="1300">
                <a:solidFill>
                  <a:srgbClr val="015F67"/>
                </a:solidFill>
                <a:latin typeface="Calibri"/>
                <a:ea typeface="Calibri"/>
                <a:cs typeface="Calibri"/>
                <a:sym typeface="Calibri"/>
              </a:rPr>
              <a:t>Neither company had a tested IR plan going in. That is the gap this session closes.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"/>
          <p:cNvSpPr/>
          <p:nvPr/>
        </p:nvSpPr>
        <p:spPr>
          <a:xfrm>
            <a:off x="457200" y="32004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NIST SP 800-61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457200" y="576072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500"/>
              <a:buFont typeface="Cambria"/>
              <a:buNone/>
            </a:pPr>
            <a:r>
              <a:rPr b="1" lang="en-US" sz="25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The Four-Phase Incident Response Lifecycle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B78"/>
                </a:solidFill>
                <a:latin typeface="Calibri"/>
                <a:ea typeface="Calibri"/>
                <a:cs typeface="Calibri"/>
                <a:sym typeface="Calibri"/>
              </a:rPr>
              <a:t>NIST SP 800-61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10607040" y="6547104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B78"/>
                </a:solidFill>
                <a:latin typeface="Calibri"/>
                <a:ea typeface="Calibri"/>
                <a:cs typeface="Calibri"/>
                <a:sym typeface="Calibri"/>
              </a:rPr>
              <a:t>Week 6  |  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457200" y="1417320"/>
            <a:ext cx="2706624" cy="4572000"/>
          </a:xfrm>
          <a:prstGeom prst="roundRect">
            <a:avLst>
              <a:gd fmla="val 2703" name="adj"/>
            </a:avLst>
          </a:prstGeom>
          <a:solidFill>
            <a:srgbClr val="F4F7F9"/>
          </a:solidFill>
          <a:ln cap="flat" cmpd="sng" w="12700">
            <a:solidFill>
              <a:srgbClr val="D9E2E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141B4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1444752" y="1691640"/>
            <a:ext cx="731520" cy="731520"/>
          </a:xfrm>
          <a:prstGeom prst="ellipse">
            <a:avLst/>
          </a:prstGeom>
          <a:solidFill>
            <a:srgbClr val="028090"/>
          </a:solidFill>
          <a:ln>
            <a:noFill/>
          </a:ln>
          <a:effectLst>
            <a:outerShdw blurRad="88900" rotWithShape="0" algn="bl" dir="5400000" dist="38100">
              <a:srgbClr val="141B47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" name="Google Shape;4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0317" y="186720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3"/>
          <p:cNvSpPr/>
          <p:nvPr/>
        </p:nvSpPr>
        <p:spPr>
          <a:xfrm>
            <a:off x="594360" y="2606040"/>
            <a:ext cx="243230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1. Preparation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658368" y="3246120"/>
            <a:ext cx="2304288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IR plan, trained team, tooling (EDR, SIEM), playbooks, contact lists, and tested backups — before anything happens.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3328416" y="1417320"/>
            <a:ext cx="2706624" cy="4572000"/>
          </a:xfrm>
          <a:prstGeom prst="roundRect">
            <a:avLst>
              <a:gd fmla="val 2703" name="adj"/>
            </a:avLst>
          </a:prstGeom>
          <a:solidFill>
            <a:srgbClr val="F4F7F9"/>
          </a:solidFill>
          <a:ln cap="flat" cmpd="sng" w="12700">
            <a:solidFill>
              <a:srgbClr val="D9E2E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141B4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4315968" y="1691640"/>
            <a:ext cx="731520" cy="731520"/>
          </a:xfrm>
          <a:prstGeom prst="ellipse">
            <a:avLst/>
          </a:prstGeom>
          <a:solidFill>
            <a:srgbClr val="028090"/>
          </a:solidFill>
          <a:ln>
            <a:noFill/>
          </a:ln>
          <a:effectLst>
            <a:outerShdw blurRad="88900" rotWithShape="0" algn="bl" dir="5400000" dist="38100">
              <a:srgbClr val="141B47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" name="Google Shape;5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1533" y="186720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3"/>
          <p:cNvSpPr/>
          <p:nvPr/>
        </p:nvSpPr>
        <p:spPr>
          <a:xfrm>
            <a:off x="3465576" y="2606040"/>
            <a:ext cx="243230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2. Detection &amp; Analysis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3529584" y="3246120"/>
            <a:ext cx="2304288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Alert triage, scoping, and confirming an incident occurred. Determine severity, affected systems, and likely data exposure.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6199632" y="1417320"/>
            <a:ext cx="2706624" cy="4572000"/>
          </a:xfrm>
          <a:prstGeom prst="roundRect">
            <a:avLst>
              <a:gd fmla="val 2703" name="adj"/>
            </a:avLst>
          </a:prstGeom>
          <a:solidFill>
            <a:srgbClr val="F4F7F9"/>
          </a:solidFill>
          <a:ln cap="flat" cmpd="sng" w="12700">
            <a:solidFill>
              <a:srgbClr val="D9E2E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141B4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7187184" y="1691640"/>
            <a:ext cx="731520" cy="731520"/>
          </a:xfrm>
          <a:prstGeom prst="ellipse">
            <a:avLst/>
          </a:prstGeom>
          <a:solidFill>
            <a:srgbClr val="B3432F"/>
          </a:solidFill>
          <a:ln>
            <a:noFill/>
          </a:ln>
          <a:effectLst>
            <a:outerShdw blurRad="88900" rotWithShape="0" algn="bl" dir="5400000" dist="38100">
              <a:srgbClr val="141B47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" name="Google Shape;57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62749" y="186720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3"/>
          <p:cNvSpPr/>
          <p:nvPr/>
        </p:nvSpPr>
        <p:spPr>
          <a:xfrm>
            <a:off x="6336792" y="2606040"/>
            <a:ext cx="243230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3. Containment, Eradication &amp; Recovery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6400800" y="3246120"/>
            <a:ext cx="2304288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Isolate affected systems, remove the threat (malware, attacker access), restore from clean backups, and validate integrity.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9070848" y="1417320"/>
            <a:ext cx="2706624" cy="4572000"/>
          </a:xfrm>
          <a:prstGeom prst="roundRect">
            <a:avLst>
              <a:gd fmla="val 2703" name="adj"/>
            </a:avLst>
          </a:prstGeom>
          <a:solidFill>
            <a:srgbClr val="F4F7F9"/>
          </a:solidFill>
          <a:ln cap="flat" cmpd="sng" w="12700">
            <a:solidFill>
              <a:srgbClr val="D9E2E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141B4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10058400" y="1691640"/>
            <a:ext cx="731520" cy="731520"/>
          </a:xfrm>
          <a:prstGeom prst="ellipse">
            <a:avLst/>
          </a:prstGeom>
          <a:solidFill>
            <a:srgbClr val="028090"/>
          </a:solidFill>
          <a:ln>
            <a:noFill/>
          </a:ln>
          <a:effectLst>
            <a:outerShdw blurRad="88900" rotWithShape="0" algn="bl" dir="5400000" dist="38100">
              <a:srgbClr val="141B47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" name="Google Shape;62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33965" y="186720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3"/>
          <p:cNvSpPr/>
          <p:nvPr/>
        </p:nvSpPr>
        <p:spPr>
          <a:xfrm>
            <a:off x="9208008" y="2606040"/>
            <a:ext cx="243230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4. Post-Incident Activity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9272016" y="3246120"/>
            <a:ext cx="2304288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Lessons-learned review, root-cause analysis, updated controls and playbooks, and regulatory/contractual reporting.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"/>
          <p:cNvSpPr/>
          <p:nvPr/>
        </p:nvSpPr>
        <p:spPr>
          <a:xfrm>
            <a:off x="457200" y="32004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PEOPLE &amp; PROCESS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457200" y="576072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500"/>
              <a:buFont typeface="Cambria"/>
              <a:buNone/>
            </a:pPr>
            <a:r>
              <a:rPr b="1" lang="en-US" sz="25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Roles, Escalation, and Communication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B78"/>
                </a:solidFill>
                <a:latin typeface="Calibri"/>
                <a:ea typeface="Calibri"/>
                <a:cs typeface="Calibri"/>
                <a:sym typeface="Calibri"/>
              </a:rPr>
              <a:t>People &amp; Process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10607040" y="6547104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B78"/>
                </a:solidFill>
                <a:latin typeface="Calibri"/>
                <a:ea typeface="Calibri"/>
                <a:cs typeface="Calibri"/>
                <a:sym typeface="Calibri"/>
              </a:rPr>
              <a:t>Week 6  |  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457200" y="1508760"/>
            <a:ext cx="6583680" cy="841248"/>
          </a:xfrm>
          <a:prstGeom prst="roundRect">
            <a:avLst>
              <a:gd fmla="val 8696" name="adj"/>
            </a:avLst>
          </a:prstGeom>
          <a:solidFill>
            <a:srgbClr val="F4F7F9"/>
          </a:solidFill>
          <a:ln cap="flat" cmpd="sng" w="12700">
            <a:solidFill>
              <a:srgbClr val="D9E2E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141B4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685800" y="1600200"/>
            <a:ext cx="2194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mbria"/>
              <a:buNone/>
            </a:pPr>
            <a:r>
              <a:rPr b="1" lang="en-US" sz="135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Incident Commander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2971800" y="1600200"/>
            <a:ext cx="3931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Owns the response, makes containment calls, coordinates all workstreams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457200" y="2441448"/>
            <a:ext cx="6583680" cy="841248"/>
          </a:xfrm>
          <a:prstGeom prst="roundRect">
            <a:avLst>
              <a:gd fmla="val 8696" name="adj"/>
            </a:avLst>
          </a:prstGeom>
          <a:solidFill>
            <a:srgbClr val="F4F7F9"/>
          </a:solidFill>
          <a:ln cap="flat" cmpd="sng" w="12700">
            <a:solidFill>
              <a:srgbClr val="D9E2E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141B4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685800" y="2532888"/>
            <a:ext cx="2194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mbria"/>
              <a:buNone/>
            </a:pPr>
            <a:r>
              <a:rPr b="1" lang="en-US" sz="135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Technical Lead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2971800" y="2532888"/>
            <a:ext cx="3931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Directs detection, containment, eradication, and recovery activities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457200" y="3374136"/>
            <a:ext cx="6583680" cy="841248"/>
          </a:xfrm>
          <a:prstGeom prst="roundRect">
            <a:avLst>
              <a:gd fmla="val 8696" name="adj"/>
            </a:avLst>
          </a:prstGeom>
          <a:solidFill>
            <a:srgbClr val="F4F7F9"/>
          </a:solidFill>
          <a:ln cap="flat" cmpd="sng" w="12700">
            <a:solidFill>
              <a:srgbClr val="D9E2E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141B4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685800" y="3465576"/>
            <a:ext cx="2194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mbria"/>
              <a:buNone/>
            </a:pPr>
            <a:r>
              <a:rPr b="1" lang="en-US" sz="135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Communications / PR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2971800" y="3465576"/>
            <a:ext cx="3931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Manages internal updates, customer notices, and media response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457200" y="4306824"/>
            <a:ext cx="6583680" cy="841248"/>
          </a:xfrm>
          <a:prstGeom prst="roundRect">
            <a:avLst>
              <a:gd fmla="val 8696" name="adj"/>
            </a:avLst>
          </a:prstGeom>
          <a:solidFill>
            <a:srgbClr val="F4F7F9"/>
          </a:solidFill>
          <a:ln cap="flat" cmpd="sng" w="12700">
            <a:solidFill>
              <a:srgbClr val="D9E2E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141B4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685800" y="4398264"/>
            <a:ext cx="2194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mbria"/>
              <a:buNone/>
            </a:pPr>
            <a:r>
              <a:rPr b="1" lang="en-US" sz="135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Legal Counsel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2971800" y="4398264"/>
            <a:ext cx="3931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Assesses breach-notification obligations, privilege, and regulator contact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457200" y="5239512"/>
            <a:ext cx="6583680" cy="841248"/>
          </a:xfrm>
          <a:prstGeom prst="roundRect">
            <a:avLst>
              <a:gd fmla="val 8696" name="adj"/>
            </a:avLst>
          </a:prstGeom>
          <a:solidFill>
            <a:srgbClr val="F4F7F9"/>
          </a:solidFill>
          <a:ln cap="flat" cmpd="sng" w="12700">
            <a:solidFill>
              <a:srgbClr val="D9E2E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141B4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685800" y="5330952"/>
            <a:ext cx="2194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mbria"/>
              <a:buNone/>
            </a:pPr>
            <a:r>
              <a:rPr b="1" lang="en-US" sz="135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Business Owner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2971800" y="5330952"/>
            <a:ext cx="3931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Represents the affected function; decides on business-continuity tradeoffs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7315200" y="1508760"/>
            <a:ext cx="4416552" cy="4480560"/>
          </a:xfrm>
          <a:prstGeom prst="roundRect">
            <a:avLst>
              <a:gd fmla="val 1656" name="adj"/>
            </a:avLst>
          </a:prstGeom>
          <a:solidFill>
            <a:srgbClr val="1E2761"/>
          </a:solidFill>
          <a:ln cap="flat" cmpd="sng" w="12700">
            <a:solidFill>
              <a:srgbClr val="D9E2E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141B4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7589520" y="1719072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F2A541"/>
                </a:solidFill>
                <a:latin typeface="Cambria"/>
                <a:ea typeface="Cambria"/>
                <a:cs typeface="Cambria"/>
                <a:sym typeface="Cambria"/>
              </a:rPr>
              <a:t>Escalation Triggers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7589520" y="2057400"/>
            <a:ext cx="3886200" cy="374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E4E8F5"/>
              </a:buClr>
              <a:buSzPts val="1250"/>
              <a:buFont typeface="Calibri"/>
              <a:buChar char="●"/>
            </a:pPr>
            <a:r>
              <a:rPr lang="en-US" sz="1250">
                <a:solidFill>
                  <a:srgbClr val="E4E8F5"/>
                </a:solidFill>
                <a:latin typeface="Calibri"/>
                <a:ea typeface="Calibri"/>
                <a:cs typeface="Calibri"/>
                <a:sym typeface="Calibri"/>
              </a:rPr>
              <a:t>Confirmed data exfiltration or ransomware execution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800"/>
              </a:spcBef>
              <a:spcAft>
                <a:spcPts val="0"/>
              </a:spcAft>
              <a:buClr>
                <a:srgbClr val="E4E8F5"/>
              </a:buClr>
              <a:buSzPts val="1250"/>
              <a:buFont typeface="Calibri"/>
              <a:buChar char="●"/>
            </a:pPr>
            <a:r>
              <a:rPr lang="en-US" sz="1250">
                <a:solidFill>
                  <a:srgbClr val="E4E8F5"/>
                </a:solidFill>
                <a:latin typeface="Calibri"/>
                <a:ea typeface="Calibri"/>
                <a:cs typeface="Calibri"/>
                <a:sym typeface="Calibri"/>
              </a:rPr>
              <a:t>Critical system or patient-safety impact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800"/>
              </a:spcBef>
              <a:spcAft>
                <a:spcPts val="0"/>
              </a:spcAft>
              <a:buClr>
                <a:srgbClr val="E4E8F5"/>
              </a:buClr>
              <a:buSzPts val="1250"/>
              <a:buFont typeface="Calibri"/>
              <a:buChar char="●"/>
            </a:pPr>
            <a:r>
              <a:rPr lang="en-US" sz="1250">
                <a:solidFill>
                  <a:srgbClr val="E4E8F5"/>
                </a:solidFill>
                <a:latin typeface="Calibri"/>
                <a:ea typeface="Calibri"/>
                <a:cs typeface="Calibri"/>
                <a:sym typeface="Calibri"/>
              </a:rPr>
              <a:t>Regulatory notification clock has started (e.g., HIPAA 60-day rule, UK GDPR 72-hour rule)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800"/>
              </a:spcBef>
              <a:spcAft>
                <a:spcPts val="0"/>
              </a:spcAft>
              <a:buClr>
                <a:srgbClr val="E4E8F5"/>
              </a:buClr>
              <a:buSzPts val="1250"/>
              <a:buFont typeface="Calibri"/>
              <a:buChar char="●"/>
            </a:pPr>
            <a:r>
              <a:rPr lang="en-US" sz="1250">
                <a:solidFill>
                  <a:srgbClr val="E4E8F5"/>
                </a:solidFill>
                <a:latin typeface="Calibri"/>
                <a:ea typeface="Calibri"/>
                <a:cs typeface="Calibri"/>
                <a:sym typeface="Calibri"/>
              </a:rPr>
              <a:t>Media or customer inquiry already received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800"/>
              </a:spcBef>
              <a:spcAft>
                <a:spcPts val="0"/>
              </a:spcAft>
              <a:buClr>
                <a:srgbClr val="F2A541"/>
              </a:buClr>
              <a:buSzPts val="1250"/>
              <a:buFont typeface="Calibri"/>
              <a:buChar char="●"/>
            </a:pPr>
            <a:r>
              <a:rPr b="1" lang="en-US" sz="1250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Escalation path: Technical Lead → Incident Commander → Executive Sponsor → Board/Legal (as thresholds are met)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"/>
          <p:cNvSpPr/>
          <p:nvPr/>
        </p:nvSpPr>
        <p:spPr>
          <a:xfrm>
            <a:off x="457200" y="32004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CONTINUITY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457200" y="576072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500"/>
              <a:buFont typeface="Cambria"/>
              <a:buNone/>
            </a:pPr>
            <a:r>
              <a:rPr b="1" lang="en-US" sz="25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When Incident Response Triggers BCP/DR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B78"/>
                </a:solidFill>
                <a:latin typeface="Calibri"/>
                <a:ea typeface="Calibri"/>
                <a:cs typeface="Calibri"/>
                <a:sym typeface="Calibri"/>
              </a:rPr>
              <a:t>Continuity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10607040" y="6547104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B78"/>
                </a:solidFill>
                <a:latin typeface="Calibri"/>
                <a:ea typeface="Calibri"/>
                <a:cs typeface="Calibri"/>
                <a:sym typeface="Calibri"/>
              </a:rPr>
              <a:t>Week 6  |  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457200" y="1417320"/>
            <a:ext cx="777240" cy="777240"/>
          </a:xfrm>
          <a:prstGeom prst="ellipse">
            <a:avLst/>
          </a:prstGeom>
          <a:solidFill>
            <a:srgbClr val="F2A541"/>
          </a:solidFill>
          <a:ln>
            <a:noFill/>
          </a:ln>
          <a:effectLst>
            <a:outerShdw blurRad="88900" rotWithShape="0" algn="bl" dir="5400000" dist="38100">
              <a:srgbClr val="141B47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2" name="Google Shape;10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738" y="1603858"/>
            <a:ext cx="404165" cy="40416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5"/>
          <p:cNvSpPr/>
          <p:nvPr/>
        </p:nvSpPr>
        <p:spPr>
          <a:xfrm>
            <a:off x="457200" y="2423160"/>
            <a:ext cx="1078992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450"/>
              <a:buFont typeface="Calibri"/>
              <a:buChar char="●"/>
            </a:pPr>
            <a:r>
              <a:rPr lang="en-US" sz="1450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IR and Business Continuity/Disaster Recovery (BCP/DR) are distinct but linked: IR contains and eradicates the threat; BCP/DR keeps the business operating and restores it afterward.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800"/>
              </a:spcBef>
              <a:spcAft>
                <a:spcPts val="0"/>
              </a:spcAft>
              <a:buClr>
                <a:srgbClr val="1B2430"/>
              </a:buClr>
              <a:buSzPts val="1450"/>
              <a:buFont typeface="Calibri"/>
              <a:buChar char="●"/>
            </a:pPr>
            <a:r>
              <a:rPr lang="en-US" sz="1450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The trigger point is usually availability impact: if systems are down long enough to breach a Recovery Time Objective (RTO), IR hands off (or runs in parallel with) BCP/DR activation.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457200" y="4160520"/>
            <a:ext cx="11247120" cy="1965960"/>
          </a:xfrm>
          <a:prstGeom prst="roundRect">
            <a:avLst>
              <a:gd fmla="val 3721" name="adj"/>
            </a:avLst>
          </a:prstGeom>
          <a:solidFill>
            <a:srgbClr val="EEF3F5"/>
          </a:solidFill>
          <a:ln cap="flat" cmpd="sng" w="12700">
            <a:solidFill>
              <a:srgbClr val="D9E2E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141B4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777240" y="4370832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mbria"/>
              <a:buNone/>
            </a:pPr>
            <a:r>
              <a:rPr b="1" lang="en-US" sz="145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NovaCare Health — Why This Link Matters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777240" y="4709160"/>
            <a:ext cx="106070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250"/>
              <a:buFont typeface="Calibri"/>
              <a:buChar char="●"/>
            </a:pPr>
            <a:r>
              <a:rPr lang="en-US" sz="1250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NovaCare's backups have never been tested for restoration — if ransomware hits the legacy EHR, IR containment alone does not bring patient care back online.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800"/>
              </a:spcBef>
              <a:spcAft>
                <a:spcPts val="0"/>
              </a:spcAft>
              <a:buClr>
                <a:srgbClr val="015F67"/>
              </a:buClr>
              <a:buSzPts val="1250"/>
              <a:buFont typeface="Calibri"/>
              <a:buChar char="●"/>
            </a:pPr>
            <a:r>
              <a:rPr b="1" lang="en-US" sz="1250">
                <a:solidFill>
                  <a:srgbClr val="015F67"/>
                </a:solidFill>
                <a:latin typeface="Calibri"/>
                <a:ea typeface="Calibri"/>
                <a:cs typeface="Calibri"/>
                <a:sym typeface="Calibri"/>
              </a:rPr>
              <a:t>A ransomware event here should trigger the DR runbook (failover, backup restoration, and a manual-process fallback for clinics) in parallel with IR eradication — not after it.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3F5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"/>
          <p:cNvSpPr/>
          <p:nvPr/>
        </p:nvSpPr>
        <p:spPr>
          <a:xfrm>
            <a:off x="457200" y="320040"/>
            <a:ext cx="1737360" cy="310896"/>
          </a:xfrm>
          <a:prstGeom prst="roundRect">
            <a:avLst>
              <a:gd fmla="val 50000" name="adj"/>
            </a:avLst>
          </a:prstGeom>
          <a:solidFill>
            <a:srgbClr val="F2A5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457200" y="320040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 ACTIVITY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457200" y="713232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300"/>
              <a:buFont typeface="Cambria"/>
              <a:buNone/>
            </a:pPr>
            <a:r>
              <a:rPr b="1" lang="en-US" sz="23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Walk the Incident Timeline: Ransomware at NovaCare Health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457200" y="1417320"/>
            <a:ext cx="11274552" cy="4800600"/>
          </a:xfrm>
          <a:prstGeom prst="roundRect">
            <a:avLst>
              <a:gd fmla="val 1524" name="adj"/>
            </a:avLst>
          </a:prstGeom>
          <a:solidFill>
            <a:srgbClr val="FFFFFF"/>
          </a:solidFill>
          <a:ln cap="flat" cmpd="sng" w="12700">
            <a:solidFill>
              <a:srgbClr val="D9E2E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141B4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777240" y="1664208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Scenario Prompt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777240" y="1956816"/>
            <a:ext cx="10607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NovaCare's legacy EHR runs on unpatched on-prem servers. A phishing email delivers ransomware to a nursing-station workstation using a shared login. Encryption begins spreading across the flat network segment used by connected medical devices.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777240" y="2670048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Instructions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777240" y="2962656"/>
            <a:ext cx="10607040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450"/>
              <a:buFont typeface="Calibri"/>
              <a:buChar char="●"/>
            </a:pPr>
            <a:r>
              <a:rPr lang="en-US" sz="1450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Plot the timeline across the four IR phases: what should already be true at Preparation, and what happens at each subsequent phase?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800"/>
              </a:spcBef>
              <a:spcAft>
                <a:spcPts val="0"/>
              </a:spcAft>
              <a:buClr>
                <a:srgbClr val="1B2430"/>
              </a:buClr>
              <a:buSzPts val="1450"/>
              <a:buFont typeface="Calibri"/>
              <a:buChar char="●"/>
            </a:pPr>
            <a:r>
              <a:rPr lang="en-US" sz="1450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Identify the specific detection signal that should trigger analysis (e.g., EDR alert, unusual file-encryption activity, help-desk reports).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800"/>
              </a:spcBef>
              <a:spcAft>
                <a:spcPts val="0"/>
              </a:spcAft>
              <a:buClr>
                <a:srgbClr val="1B2430"/>
              </a:buClr>
              <a:buSzPts val="1450"/>
              <a:buFont typeface="Calibri"/>
              <a:buChar char="●"/>
            </a:pPr>
            <a:r>
              <a:rPr lang="en-US" sz="1450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Decide the first containment action — and justify why isolating the flat network segment matters given the connected medical devices.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800"/>
              </a:spcBef>
              <a:spcAft>
                <a:spcPts val="0"/>
              </a:spcAft>
              <a:buClr>
                <a:srgbClr val="1B2430"/>
              </a:buClr>
              <a:buSzPts val="1450"/>
              <a:buFont typeface="Calibri"/>
              <a:buChar char="●"/>
            </a:pPr>
            <a:r>
              <a:rPr lang="en-US" sz="1450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Name one post-incident control change NovaCare must make (e.g., tested backups, segmented IoMT network, unique logins).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777240" y="5532120"/>
            <a:ext cx="10607040" cy="9144"/>
          </a:xfrm>
          <a:prstGeom prst="rect">
            <a:avLst/>
          </a:prstGeom>
          <a:solidFill>
            <a:srgbClr val="D9E2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777240" y="5632704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Deliverable: </a:t>
            </a:r>
            <a:r>
              <a:rPr lang="en-US" sz="1250">
                <a:solidFill>
                  <a:srgbClr val="5B6B78"/>
                </a:solidFill>
                <a:latin typeface="Calibri"/>
                <a:ea typeface="Calibri"/>
                <a:cs typeface="Calibri"/>
                <a:sym typeface="Calibri"/>
              </a:rPr>
              <a:t>A timeline sketch (phase → action → owner) for the NovaCare scenario, shared with the group.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B78"/>
                </a:solidFill>
                <a:latin typeface="Calibri"/>
                <a:ea typeface="Calibri"/>
                <a:cs typeface="Calibri"/>
                <a:sym typeface="Calibri"/>
              </a:rPr>
              <a:t>Class Activity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10607040" y="6547104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B78"/>
                </a:solidFill>
                <a:latin typeface="Calibri"/>
                <a:ea typeface="Calibri"/>
                <a:cs typeface="Calibri"/>
                <a:sym typeface="Calibri"/>
              </a:rPr>
              <a:t>Week 6  |  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3F5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/>
          <p:nvPr/>
        </p:nvSpPr>
        <p:spPr>
          <a:xfrm>
            <a:off x="457200" y="320040"/>
            <a:ext cx="1737360" cy="310896"/>
          </a:xfrm>
          <a:prstGeom prst="roundRect">
            <a:avLst>
              <a:gd fmla="val 50000" name="adj"/>
            </a:avLst>
          </a:prstGeom>
          <a:solidFill>
            <a:srgbClr val="F2A5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457200" y="320040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 ACTIVITY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457200" y="713232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300"/>
              <a:buFont typeface="Cambria"/>
              <a:buNone/>
            </a:pPr>
            <a:r>
              <a:rPr b="1" lang="en-US" sz="23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Role-Play: Escalation and Communication at MarketNest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457200" y="1417320"/>
            <a:ext cx="11274552" cy="4800600"/>
          </a:xfrm>
          <a:prstGeom prst="roundRect">
            <a:avLst>
              <a:gd fmla="val 1524" name="adj"/>
            </a:avLst>
          </a:prstGeom>
          <a:solidFill>
            <a:srgbClr val="FFFFFF"/>
          </a:solidFill>
          <a:ln cap="flat" cmpd="sng" w="12700">
            <a:solidFill>
              <a:srgbClr val="D9E2E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141B4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777240" y="1664208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Scenario Prompt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777240" y="1956816"/>
            <a:ext cx="10607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MarketNest has just confirmed that ~400,000 customer records were exfiltrated via a vulnerable third-party support plugin. The breach has reached local news and the UK ICO has opened an inquiry.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777240" y="2670048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Instructions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777240" y="2962656"/>
            <a:ext cx="10607040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450"/>
              <a:buFont typeface="Calibri"/>
              <a:buChar char="●"/>
            </a:pPr>
            <a:r>
              <a:rPr lang="en-US" sz="1450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Assign roles: Incident Commander, Technical Lead, Communications/PR, Legal Counsel, Business Owner.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800"/>
              </a:spcBef>
              <a:spcAft>
                <a:spcPts val="0"/>
              </a:spcAft>
              <a:buClr>
                <a:srgbClr val="1B2430"/>
              </a:buClr>
              <a:buSzPts val="1450"/>
              <a:buFont typeface="Calibri"/>
              <a:buChar char="●"/>
            </a:pPr>
            <a:r>
              <a:rPr lang="en-US" sz="1450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Draft the first internal escalation message (who gets notified, in what order, within what timeframe).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800"/>
              </a:spcBef>
              <a:spcAft>
                <a:spcPts val="0"/>
              </a:spcAft>
              <a:buClr>
                <a:srgbClr val="1B2430"/>
              </a:buClr>
              <a:buSzPts val="1450"/>
              <a:buFont typeface="Calibri"/>
              <a:buChar char="●"/>
            </a:pPr>
            <a:r>
              <a:rPr lang="en-US" sz="1450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Draft the outline of the first external customer notice — what must it say, and what must it NOT say before Legal signs off?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800"/>
              </a:spcBef>
              <a:spcAft>
                <a:spcPts val="0"/>
              </a:spcAft>
              <a:buClr>
                <a:srgbClr val="1B2430"/>
              </a:buClr>
              <a:buSzPts val="1450"/>
              <a:buFont typeface="Calibri"/>
              <a:buChar char="●"/>
            </a:pPr>
            <a:r>
              <a:rPr lang="en-US" sz="1450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Debate: who owns communication to customers, and who owns communication to the ICO — are they the same person?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777240" y="5532120"/>
            <a:ext cx="10607040" cy="9144"/>
          </a:xfrm>
          <a:prstGeom prst="rect">
            <a:avLst/>
          </a:prstGeom>
          <a:solidFill>
            <a:srgbClr val="D9E2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777240" y="5632704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Deliverable: </a:t>
            </a:r>
            <a:r>
              <a:rPr lang="en-US" sz="1250">
                <a:solidFill>
                  <a:srgbClr val="5B6B78"/>
                </a:solidFill>
                <a:latin typeface="Calibri"/>
                <a:ea typeface="Calibri"/>
                <a:cs typeface="Calibri"/>
                <a:sym typeface="Calibri"/>
              </a:rPr>
              <a:t>A short role-play script (3–5 exchanges) covering the escalation call and the first external message outline.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B78"/>
                </a:solidFill>
                <a:latin typeface="Calibri"/>
                <a:ea typeface="Calibri"/>
                <a:cs typeface="Calibri"/>
                <a:sym typeface="Calibri"/>
              </a:rPr>
              <a:t>Class Activity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10607040" y="6547104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B78"/>
                </a:solidFill>
                <a:latin typeface="Calibri"/>
                <a:ea typeface="Calibri"/>
                <a:cs typeface="Calibri"/>
                <a:sym typeface="Calibri"/>
              </a:rPr>
              <a:t>Week 6  |  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/>
          <p:nvPr/>
        </p:nvSpPr>
        <p:spPr>
          <a:xfrm>
            <a:off x="457200" y="365760"/>
            <a:ext cx="2148840" cy="310896"/>
          </a:xfrm>
          <a:prstGeom prst="roundRect">
            <a:avLst>
              <a:gd fmla="val 50000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457200" y="365760"/>
            <a:ext cx="2148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MILESTONE SELF-CHECK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457200" y="777240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Milestone Self-Check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457200" y="1508760"/>
            <a:ext cx="11274552" cy="1417320"/>
          </a:xfrm>
          <a:prstGeom prst="roundRect">
            <a:avLst>
              <a:gd fmla="val 5161" name="adj"/>
            </a:avLst>
          </a:prstGeom>
          <a:solidFill>
            <a:srgbClr val="F4F7F9"/>
          </a:solidFill>
          <a:ln cap="flat" cmpd="sng" w="12700">
            <a:solidFill>
              <a:srgbClr val="D9E2E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141B47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822960" y="1737360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50"/>
              <a:buFont typeface="Cambria"/>
              <a:buNone/>
            </a:pPr>
            <a:r>
              <a:rPr i="1" lang="en-US" sz="165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“Can you walk through what happens, step by step, from the moment an incident is detected — and explain how you'd vet a new SaaS vendor?”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457200" y="31546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8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5B6B78"/>
                </a:solidFill>
                <a:latin typeface="Calibri"/>
                <a:ea typeface="Calibri"/>
                <a:cs typeface="Calibri"/>
                <a:sym typeface="Calibri"/>
              </a:rPr>
              <a:t>If you can do the following, you're on track: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457200" y="3566160"/>
            <a:ext cx="310896" cy="310896"/>
          </a:xfrm>
          <a:prstGeom prst="ellipse">
            <a:avLst/>
          </a:prstGeom>
          <a:solidFill>
            <a:srgbClr val="2E7D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457200" y="356616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932688" y="3511296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Name the four NIST SP 800-61 phases in order and describe what happens in each.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457200" y="4187952"/>
            <a:ext cx="310896" cy="310896"/>
          </a:xfrm>
          <a:prstGeom prst="ellipse">
            <a:avLst/>
          </a:prstGeom>
          <a:solidFill>
            <a:srgbClr val="2E7D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457200" y="4187952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932688" y="4133088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Identify who owns containment decisions vs. who owns customer/regulator communication.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457200" y="4809744"/>
            <a:ext cx="310896" cy="310896"/>
          </a:xfrm>
          <a:prstGeom prst="ellipse">
            <a:avLst/>
          </a:prstGeom>
          <a:solidFill>
            <a:srgbClr val="2E7D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457200" y="4809744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932688" y="4754880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Explain when and why an incident should trigger BCP/DR activation.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457200" y="5431536"/>
            <a:ext cx="310896" cy="310896"/>
          </a:xfrm>
          <a:prstGeom prst="ellipse">
            <a:avLst/>
          </a:prstGeom>
          <a:solidFill>
            <a:srgbClr val="2E7D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457200" y="5431536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932688" y="5376672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430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1B2430"/>
                </a:solidFill>
                <a:latin typeface="Calibri"/>
                <a:ea typeface="Calibri"/>
                <a:cs typeface="Calibri"/>
                <a:sym typeface="Calibri"/>
              </a:rPr>
              <a:t>Describe the core steps of a SaaS vendor security review (previewing Session C).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B78"/>
                </a:solidFill>
                <a:latin typeface="Calibri"/>
                <a:ea typeface="Calibri"/>
                <a:cs typeface="Calibri"/>
                <a:sym typeface="Calibri"/>
              </a:rPr>
              <a:t>Milestone Self-Check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10607040" y="6547104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B78"/>
                </a:solidFill>
                <a:latin typeface="Calibri"/>
                <a:ea typeface="Calibri"/>
                <a:cs typeface="Calibri"/>
                <a:sym typeface="Calibri"/>
              </a:rPr>
              <a:t>Week 6  |  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"/>
          <p:cNvSpPr/>
          <p:nvPr/>
        </p:nvSpPr>
        <p:spPr>
          <a:xfrm>
            <a:off x="457200" y="365760"/>
            <a:ext cx="1554480" cy="310896"/>
          </a:xfrm>
          <a:prstGeom prst="roundRect">
            <a:avLst>
              <a:gd fmla="val 50000" name="adj"/>
            </a:avLst>
          </a:prstGeom>
          <a:solidFill>
            <a:srgbClr val="F2A5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"/>
          <p:cNvSpPr/>
          <p:nvPr/>
        </p:nvSpPr>
        <p:spPr>
          <a:xfrm>
            <a:off x="457200" y="365760"/>
            <a:ext cx="1554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ASSIGNMENT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457200" y="777240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Hands-On Deliverable — Session B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457200" y="1508760"/>
            <a:ext cx="11091672" cy="4709160"/>
          </a:xfrm>
          <a:prstGeom prst="roundRect">
            <a:avLst>
              <a:gd fmla="val 1553" name="adj"/>
            </a:avLst>
          </a:prstGeom>
          <a:solidFill>
            <a:srgbClr val="141B47"/>
          </a:solidFill>
          <a:ln cap="flat" cmpd="sng" w="12700">
            <a:solidFill>
              <a:srgbClr val="3A44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685800" y="1737360"/>
            <a:ext cx="1063447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550"/>
              <a:buFont typeface="Cambria"/>
              <a:buNone/>
            </a:pPr>
            <a:r>
              <a:rPr b="1" lang="en-US" sz="1550">
                <a:solidFill>
                  <a:srgbClr val="F2A541"/>
                </a:solidFill>
                <a:latin typeface="Cambria"/>
                <a:ea typeface="Cambria"/>
                <a:cs typeface="Cambria"/>
                <a:sym typeface="Cambria"/>
              </a:rPr>
              <a:t>Incident Response Runbook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685800" y="2286000"/>
            <a:ext cx="10634472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D6DCEC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D6DCEC"/>
                </a:solidFill>
                <a:latin typeface="Calibri"/>
                <a:ea typeface="Calibri"/>
                <a:cs typeface="Calibri"/>
                <a:sym typeface="Calibri"/>
              </a:rPr>
              <a:t>Chosen scenario: ransomware or phishing-led breach (pick one case-study company)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800"/>
              </a:spcBef>
              <a:spcAft>
                <a:spcPts val="0"/>
              </a:spcAft>
              <a:buClr>
                <a:srgbClr val="D6DCEC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D6DCEC"/>
                </a:solidFill>
                <a:latin typeface="Calibri"/>
                <a:ea typeface="Calibri"/>
                <a:cs typeface="Calibri"/>
                <a:sym typeface="Calibri"/>
              </a:rPr>
              <a:t>Step-by-step actions mapped to all four IR phases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800"/>
              </a:spcBef>
              <a:spcAft>
                <a:spcPts val="0"/>
              </a:spcAft>
              <a:buClr>
                <a:srgbClr val="D6DCEC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D6DCEC"/>
                </a:solidFill>
                <a:latin typeface="Calibri"/>
                <a:ea typeface="Calibri"/>
                <a:cs typeface="Calibri"/>
                <a:sym typeface="Calibri"/>
              </a:rPr>
              <a:t>Named roles and the escalation path with trigger thresholds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800"/>
              </a:spcBef>
              <a:spcAft>
                <a:spcPts val="0"/>
              </a:spcAft>
              <a:buClr>
                <a:srgbClr val="D6DCEC"/>
              </a:buClr>
              <a:buSzPts val="1200"/>
              <a:buFont typeface="Calibri"/>
              <a:buChar char="●"/>
            </a:pPr>
            <a:r>
              <a:rPr lang="en-US" sz="1200">
                <a:solidFill>
                  <a:srgbClr val="D6DCEC"/>
                </a:solidFill>
                <a:latin typeface="Calibri"/>
                <a:ea typeface="Calibri"/>
                <a:cs typeface="Calibri"/>
                <a:sym typeface="Calibri"/>
              </a:rPr>
              <a:t>Explicit BCP/DR handoff point, if applicable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685800" y="5852160"/>
            <a:ext cx="106344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Target length: ~1 page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B78"/>
                </a:solidFill>
                <a:latin typeface="Calibri"/>
                <a:ea typeface="Calibri"/>
                <a:cs typeface="Calibri"/>
                <a:sym typeface="Calibri"/>
              </a:rPr>
              <a:t>Assignment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10607040" y="6547104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B78"/>
                </a:solidFill>
                <a:latin typeface="Calibri"/>
                <a:ea typeface="Calibri"/>
                <a:cs typeface="Calibri"/>
                <a:sym typeface="Calibri"/>
              </a:rPr>
              <a:t>Week 6  |  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"/>
          <p:cNvSpPr/>
          <p:nvPr/>
        </p:nvSpPr>
        <p:spPr>
          <a:xfrm>
            <a:off x="822960" y="618155"/>
            <a:ext cx="10058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Session B Recap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822960" y="1508760"/>
            <a:ext cx="1005840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E4E8F5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E4E8F5"/>
                </a:solidFill>
                <a:latin typeface="Calibri"/>
                <a:ea typeface="Calibri"/>
                <a:cs typeface="Calibri"/>
                <a:sym typeface="Calibri"/>
              </a:rPr>
              <a:t>The IR lifecycle — Preparation, Detection &amp; Analysis, Containment/Eradication/Recovery, Post-Incident — turns chaos into a checklist.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800"/>
              </a:spcBef>
              <a:spcAft>
                <a:spcPts val="0"/>
              </a:spcAft>
              <a:buClr>
                <a:srgbClr val="E4E8F5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E4E8F5"/>
                </a:solidFill>
                <a:latin typeface="Calibri"/>
                <a:ea typeface="Calibri"/>
                <a:cs typeface="Calibri"/>
                <a:sym typeface="Calibri"/>
              </a:rPr>
              <a:t>Clear roles and pre-defined escalation triggers prevent the confusion that costs organizations the most time in the first hour.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800"/>
              </a:spcBef>
              <a:spcAft>
                <a:spcPts val="0"/>
              </a:spcAft>
              <a:buClr>
                <a:srgbClr val="E4E8F5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E4E8F5"/>
                </a:solidFill>
                <a:latin typeface="Calibri"/>
                <a:ea typeface="Calibri"/>
                <a:cs typeface="Calibri"/>
                <a:sym typeface="Calibri"/>
              </a:rPr>
              <a:t>IR and BCP/DR are linked at the point of availability impact — plan the handoff before you need it, not during.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800"/>
              </a:spcBef>
              <a:spcAft>
                <a:spcPts val="0"/>
              </a:spcAft>
              <a:buClr>
                <a:srgbClr val="E4E8F5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E4E8F5"/>
                </a:solidFill>
                <a:latin typeface="Calibri"/>
                <a:ea typeface="Calibri"/>
                <a:cs typeface="Calibri"/>
                <a:sym typeface="Calibri"/>
              </a:rPr>
              <a:t>NovaCare and MarketNest show two failure modes: untested recovery capability, and slow, uncoordinated public response.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822960" y="5532120"/>
            <a:ext cx="10515600" cy="9144"/>
          </a:xfrm>
          <a:prstGeom prst="rect">
            <a:avLst/>
          </a:prstGeom>
          <a:solidFill>
            <a:srgbClr val="3A44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"/>
          <p:cNvSpPr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Next up: </a:t>
            </a:r>
            <a:r>
              <a:rPr lang="en-US" sz="1350">
                <a:solidFill>
                  <a:srgbClr val="C7D1E0"/>
                </a:solidFill>
                <a:latin typeface="Calibri"/>
                <a:ea typeface="Calibri"/>
                <a:cs typeface="Calibri"/>
                <a:sym typeface="Calibri"/>
              </a:rPr>
              <a:t>Session C — Third-Party / Vendor Risk Lifecycle &amp; Assessment.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B78"/>
                </a:solidFill>
                <a:latin typeface="Calibri"/>
                <a:ea typeface="Calibri"/>
                <a:cs typeface="Calibri"/>
                <a:sym typeface="Calibri"/>
              </a:rPr>
              <a:t>Recap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10607040" y="6547104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B78"/>
                </a:solidFill>
                <a:latin typeface="Calibri"/>
                <a:ea typeface="Calibri"/>
                <a:cs typeface="Calibri"/>
                <a:sym typeface="Calibri"/>
              </a:rPr>
              <a:t>Week 6  |  10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2026-07-18T04:57:37Z</dcterms:created>
  <dc:creator>GRC Mastery Program</dc:creator>
</cp:coreProperties>
</file>