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32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7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699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572000"/>
            <a:ext cx="4206240" cy="4206240"/>
          </a:xfrm>
          <a:prstGeom prst="ellipse">
            <a:avLst/>
          </a:prstGeom>
          <a:solidFill>
            <a:srgbClr val="015F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SESSION 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/ Vendor Risk Lifecycle &amp; Assessment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security posture is only as strong as the weakest vendor with access to your data or your network.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 Helios Grid Utilities (Energy/OT) · NovaCare Health (Healthcare) · NDSA (Government)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3093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Program  •  NIST CSF: Protect / Respond / Recover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Vendors Are a Top Breach Vector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77240" cy="777240"/>
          </a:xfrm>
          <a:prstGeom prst="ellipse">
            <a:avLst/>
          </a:prstGeom>
          <a:solidFill>
            <a:srgbClr val="B3432F"/>
          </a:solidFill>
          <a:ln/>
          <a:effectLst>
            <a:outerShdw blurRad="88900" dist="38100" dir="5400000" algn="bl" rotWithShape="0">
              <a:srgbClr val="141B47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16038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23160"/>
            <a:ext cx="5212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routinely receive data sharing, system integrations, and remote or over-privileged access — each is a door into your environment.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MarketNest's breach began with a vulnerable third-party support plugin, not a weakness in MarketNest's own code.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vendor's security failure becomes your incident, your regulatory exposure, and your customer-trust problem — ownership doesn't transfer, only blame does.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035040" y="141732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EEF3F5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in Point — Helios Grid Utilities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201168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Remote-access pathways for OT vendors into the substation control environment are poorly inventoried.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smart-grid rollout introduces thousands of internet-connected field devices from multiple vendors, each a potential entry point into critical infrastructure.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01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a vendor failure is not just a data breach risk — it is a public-safety risk (grid disruption).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Vendor Risk Lifecycle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706624" cy="4572000"/>
          </a:xfrm>
          <a:prstGeom prst="roundRect">
            <a:avLst>
              <a:gd name="adj" fmla="val 2703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44752" y="169164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141B47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317" y="1867205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6060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Due Diligence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3154680"/>
            <a:ext cx="23042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 the vendor by data sensitivity and access depth. Collect questionnaires, SOC 2 / ISO reports, and evidence before signing.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28416" y="1417320"/>
            <a:ext cx="2706624" cy="4572000"/>
          </a:xfrm>
          <a:prstGeom prst="roundRect">
            <a:avLst>
              <a:gd name="adj" fmla="val 2703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15968" y="169164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141B47">
                <a:alpha val="16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533" y="186720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65576" y="26060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Onboarding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9584" y="3154680"/>
            <a:ext cx="23042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security clauses, least-privilege access provisioning, and integration security review before go-live.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99632" y="1417320"/>
            <a:ext cx="2706624" cy="4572000"/>
          </a:xfrm>
          <a:prstGeom prst="roundRect">
            <a:avLst>
              <a:gd name="adj" fmla="val 2703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87184" y="169164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141B47">
                <a:alpha val="16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749" y="186720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6792" y="26060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Monitoring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0" y="3154680"/>
            <a:ext cx="23042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or periodic reassessment, access reviews, breach-notification tracking, and control-drift detection.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70848" y="1417320"/>
            <a:ext cx="2706624" cy="4572000"/>
          </a:xfrm>
          <a:prstGeom prst="roundRect">
            <a:avLst>
              <a:gd name="adj" fmla="val 2703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58400" y="169164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5400000" algn="bl" rotWithShape="0">
              <a:srgbClr val="141B47">
                <a:alpha val="16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3965" y="1867205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08008" y="26060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Offboarding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272016" y="3154680"/>
            <a:ext cx="23042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revocation, data return or destruction, and contract closeout — the most commonly skipped phase.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&amp; CONTROLS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Toolkit: Questionnaires, Assurance Reports, Contracts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&amp; Controls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73352"/>
            <a:ext cx="566928" cy="566928"/>
          </a:xfrm>
          <a:prstGeom prst="ellipse">
            <a:avLst/>
          </a:prstGeom>
          <a:solidFill>
            <a:srgbClr val="F2A541"/>
          </a:solidFill>
          <a:ln/>
          <a:effectLst>
            <a:outerShdw blurRad="88900" dist="38100" dir="5400000" algn="bl" rotWithShape="0">
              <a:srgbClr val="141B47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5" y="1809415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673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Questionnaires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3232" y="2194560"/>
            <a:ext cx="4882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(SIG, CAIQ, or custom) questions on access control, encryption, incident history, and subcontractor use — scaled to vendor tier.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14173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82512" y="1673352"/>
            <a:ext cx="566928" cy="566928"/>
          </a:xfrm>
          <a:prstGeom prst="ellipse">
            <a:avLst/>
          </a:prstGeom>
          <a:solidFill>
            <a:srgbClr val="F2A541"/>
          </a:solidFill>
          <a:ln/>
          <a:effectLst>
            <a:outerShdw blurRad="88900" dist="38100" dir="5400000" algn="bl" rotWithShape="0">
              <a:srgbClr val="141B47">
                <a:alpha val="16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575" y="1809415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673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2 / Assurance Reports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382512" y="2194560"/>
            <a:ext cx="4882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evidence of control operation. Read the exceptions and complementary user-entity controls (CUECs), not just the opinion letter.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7490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" y="4005072"/>
            <a:ext cx="566928" cy="566928"/>
          </a:xfrm>
          <a:prstGeom prst="ellipse">
            <a:avLst/>
          </a:prstGeom>
          <a:solidFill>
            <a:srgbClr val="F2A541"/>
          </a:solidFill>
          <a:ln/>
          <a:effectLst>
            <a:outerShdw blurRad="88900" dist="38100" dir="5400000" algn="bl" rotWithShape="0">
              <a:srgbClr val="141B47">
                <a:alpha val="16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95" y="4141135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0050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Contractual Clauses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13232" y="4526280"/>
            <a:ext cx="4882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requirements, breach-notification timelines, right-to-audit, data-handling and return/destruction, and liability/indemnification.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26480" y="37490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82512" y="4005072"/>
            <a:ext cx="566928" cy="566928"/>
          </a:xfrm>
          <a:prstGeom prst="ellipse">
            <a:avLst/>
          </a:prstGeom>
          <a:solidFill>
            <a:srgbClr val="F2A541"/>
          </a:solidFill>
          <a:ln/>
          <a:effectLst>
            <a:outerShdw blurRad="88900" dist="38100" dir="5400000" algn="bl" rotWithShape="0">
              <a:srgbClr val="141B47">
                <a:alpha val="16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8575" y="4141135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86600" y="40050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382512" y="4526280"/>
            <a:ext cx="4882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Security-rating services, breach-notification feeds, periodic re-questionnaires, and access-log review for high-risk integrations.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Ratings Differ by Data Sensitivity and Integration Depth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 drive a vendor's risk tier: what data they touch, and how deeply they integrate into your systems and network.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Touched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Depth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272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34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Grid — OT remote-access vendors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31920" y="2834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topology, control-system access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89520" y="2834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(network + physical)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332720" y="28346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— billing / transcription / labs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3192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PHI, payment-card data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89520" y="3611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(data feeds, portals)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33272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389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NDSA — cloud migration contractors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31920" y="4389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ID, biometric, tax data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589520" y="4389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(infrastructure access)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332720" y="4389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1663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5166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analytics/marketing SaaS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931920" y="5166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low-sensitivity usage data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89520" y="5166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(API, no PII)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332720" y="5166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Low–Moderate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Key Questions for a Vendor Security Questionnaire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6420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Prompt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5681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NovaCare Health is onboarding a new cloud-based lab-results integration vendor that will receive PHI and lab/genetic data via API, and will also need a limited administrative connection into the EHR's data-exchange layer.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962656"/>
            <a:ext cx="10607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5 questionnaire questions covering: data handling, encryption, access control, incident notification, and subcontractor use.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question, state what a "pass" answer looks like and what would trigger a deeper review.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assurance artifact you would require in addition to the questionnaire (e.g., SOC 2 Type II, HITRUST) and why.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single contractual clause you would treat as non-negotiable for this vendor.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5532120"/>
            <a:ext cx="10607040" cy="9144"/>
          </a:xfrm>
          <a:prstGeom prst="rect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6327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5-question draft questionnaire with pass/fail criteria for the lab-results integration vendor.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a Fictional Vendor's SOC 2 Summary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63500" dist="38100" dir="5400000" algn="bl" rotWithShape="0">
              <a:srgbClr val="141B47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6420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Prompt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5681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Labs is evaluating a payroll-data subcontractor. The vendor's SOC 2 Type II report shows one exception: "Access reviews were not consistently performed on a quarterly basis for two of four quarters in the review period," with no other exceptions noted, opinion otherwise unqualified.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962656"/>
            <a:ext cx="10607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this exception is a deal-breaker, a conditional approval, or a non-issue — and justify the call.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compensating control or contractual commitment you would require before approving the vendor.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reassessment cadence you would set given this finding (e.g., 6-month recheck vs. standard annual).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at what point does a pattern of minor exceptions become a reason to walk away?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5532120"/>
            <a:ext cx="10607040" cy="9144"/>
          </a:xfrm>
          <a:prstGeom prst="rect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6327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risk-rating decision memo (approve / approve-with-conditions / reject) with rationale.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Deliverable — Session 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091672" cy="4709160"/>
          </a:xfrm>
          <a:prstGeom prst="roundRect">
            <a:avLst>
              <a:gd name="adj" fmla="val 1553"/>
            </a:avLst>
          </a:prstGeom>
          <a:solidFill>
            <a:srgbClr val="141B47"/>
          </a:solidFill>
          <a:ln w="12700">
            <a:solidFill>
              <a:srgbClr val="3A44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Risk Assessment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063447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questionnaire for one fictional vendor (from any case-study company)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 driven by data sensitivity and integration depth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assurance artifacts (SOC 2, contract clauses) identified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cadence and offboarding trigger defined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585216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length: ~1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C Recap — and Week 6 Wrap-Up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058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risk lifecycle — Due Diligence, Onboarding, Monitoring, Offboarding — is where most third-party programs quietly fail (usually at Monitoring or Offboarding).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 must reflect both data sensitivity and integration depth — a low-data, deep-access vendor can be riskier than a high-data, shallow-access one.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Questionnaires, assurance reports, and contract clauses work together; no single artifact is sufficient on its own.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closes the PROTECT–RESPOND–RECOVER arc: aware people, controlled data, a tested response, and vetted vendors.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5532120"/>
            <a:ext cx="10515600" cy="9144"/>
          </a:xfrm>
          <a:prstGeom prst="rect">
            <a:avLst/>
          </a:prstGeom>
          <a:solidFill>
            <a:srgbClr val="3A447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</a:t>
            </a:r>
            <a:r>
              <a:rPr lang="en-US" sz="135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NIST CSF Capstone.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</Words>
  <Application>Microsoft Office PowerPoint</Application>
  <PresentationFormat>Widescreen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Session C — Third-Party / Vendor Risk</dc:title>
  <dc:subject>PptxGenJS Presentation</dc:subject>
  <dc:creator>GRC Mastery Program</dc:creator>
  <cp:lastModifiedBy>Stephen Omowumi</cp:lastModifiedBy>
  <cp:revision>1</cp:revision>
  <dcterms:created xsi:type="dcterms:W3CDTF">2026-07-18T04:58:32Z</dcterms:created>
  <dcterms:modified xsi:type="dcterms:W3CDTF">2026-07-18T05:07:00Z</dcterms:modified>
</cp:coreProperties>
</file>