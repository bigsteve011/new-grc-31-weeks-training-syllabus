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015F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SESSION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Awareness &amp; Data Loss Prevention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people into a control, and stopping data from walking out the door — NIST CSF PROTECT function.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00584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Quanta Labs (B2B SaaS) · MarketNest (E-commerce) · PayFlow (Fintech)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Mastery Program  •  NIST CSF: Protect / Respond / Recover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Are Still the Number-One Attack Surface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6038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majority of breaches involve a human element — a click, a re-used password, an over-trusting reply to a request.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 (MFA, DLP, EDR) reduce damage, but a well-run awareness program reduces the chance the control is ever needed.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is a NIST CSF PROTECT (PR.AT) requirement, not a nice-to-have — auditors expect evidence of a structured program, not a once-a-year video.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141732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in Point — PayFlow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63640" y="20116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scaled from 8 to 45 staff in a year with no security policies and no awareness training.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exposed API key surfaced on public GitHub — a classic "nobody told the developer this was risky" failure.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30-minute onboarding module on credential handling would have closed this gap before it became an incident.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the Audience — One Size Fits No One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277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(BEC), wire-fraud pretexting, vendor invoice scams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high-relevance briefings tied to real fraud attempts, not generic modules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around fiduciary duty and reputational/financial exposure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169164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919" y="182770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4376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Staff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62856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coding, secrets management, API key handling, insecure defaults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labs (e.g., "find the exposed key") over slide decks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directly to change-management and code-review gates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69164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55" y="182770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5712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Staff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94192" y="242316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social engineering, physical security, acceptable use, clean-desk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frequent micro-learning over long annual sessions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through simulations and visible manager sponsorship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Simulations: Design and Cadence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6038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monthly or quarterly, escalating in realism — generic lure, then role-targeted (finance, HR, engineering) pretexts.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technique: credential-harvest links, malicious attachments, and "reply-to" pretexting (invoice fraud, gift-card scams).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failures to just-in-time micro-training, not public shaming — the goal is behavior change, not blame.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clickers get targeted coaching; repeat reporters can anchor a peer-champion network.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EEF3F5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Cadence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21031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lure — measure starting click rate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267004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18120" y="2670048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Role-targeted pretext (finance/AP invoice scam)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55080" y="3236976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18120" y="323697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Attachment-based lure + refresher micro-module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38039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8120" y="380390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Executive-targeted spear-phish (BEC style)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55080" y="43708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10–12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18120" y="437083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Unannounced test — validate sustained behavior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Prove the Culture Is Changing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945" y="186720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Rate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recipients who click a simulated lure. Target trend: steadily downward across quarters.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4173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28716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18672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88536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Rate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62856" y="3017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who report the lure via the phish button. This is the leading indicator — it should rise even as click rate falls.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4173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60052" y="169164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617" y="1867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19872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Completion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94192" y="3017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completing required modules on time, segmented by department — flags where reinforcement is needed.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rate rising while click rate falls is the single best signal that awareness is becoming culture, not compliance theater.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Phishing Simulation for Quanta Labs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 (B2B SaaS, Bangalore) is scaling fast, has no structured awareness training, and is under pressure to demonstrate security maturity for SOC 2 / ISO 27001. Engineers hold broad access to production customer HR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audience segment (engineering, sales, or HR-data support team) and justify the choice using Quanta's risk profile.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realistic pretext (subject line + sender persona) appropriate to that segment — e.g., a fake CI/CD alert or a fake enterprise-customer support ticket.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"success" looks like: target click rate, target reporting rate, and how results feed the SOC 2 evidence package.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metric you would show an auditor to prove the program is more than a checkbox.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one-paragraph simulation brief (audience, pretext, and success metric) — bring to group discussion.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 Fundamentals: Three States of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277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at Rest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databases, file shares, laptops, or cloud storage. DLP scans repositories for sensitive content and flags or blocks unauthorized storage locations.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88536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1691640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919" y="182770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4376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 Motion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242316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moving across the network — email, file transfer, API calls, uploads to SaaS tools. DLP inspects traffic and blocks or quarantines policy violations in transit.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19872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4F7F9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691640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55" y="182770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5712" y="1737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 Use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94192" y="242316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actively being viewed, copied, or edited on an endpoint. Endpoint DLP restricts copy/paste, USB export, printing, and screen capture of classified data.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Classification to Enforcement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141B47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6038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is only as good as the classification scheme underneath it — Public, Internal, Confidential, Restricted (or equivalent).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translate classification into machine-enforceable logic: regex/pattern matching (card numbers, national IDs), fingerprinting of known sensitive files, and contextual rules (destination, recipient domain).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actions escalate by risk: log only → warn the user → block and quarantine → block and alert SOC, depending on data sensitivity and destination.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are the biggest adoption risk — start in monitor mode, tune against real traffic, then move to enforce.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035040" y="141732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EEF3F5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in Point — MarketNest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20116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 and partial card data were routinely copied into analytics environments and spreadsheets with no DLP controls in place.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Broad, lightly-logged database access across engineering, support, and marketing made exfiltration hard to detect.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1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breach reached 400,000 records via a vulnerable third-party plugin — DLP on outbound channels would not have stopped the exploit, but classification-driven access limits and egress monitoring would have reduced the blast radius.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DLP Rules to MarketNest's Classified Data Sets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sx="100000" sy="100000" kx="0" ky="0" algn="bl" rotWithShape="0" blurRad="63500" dist="38100" dir="5400000">
              <a:srgbClr val="141B47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Prompt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MarketNest holds customer PII, partial cardholder data, seller banking details, and behavioral/marketing data — some of which is shared with ad-tech partners. No DLP controls currently exist.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data set (customer PII, cardholder data, seller banking data, behavioral data) a classification tier.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tier, define one detection rule (e.g., pattern match for card numbers) and one enforcement action (log, warn, block).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riskiest data flow at MarketNest right now (hint: analytics exports, ad-tech sharing, or the support plugin integration) and propose the DLP control that addresses it first.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should the ad-tech data-sharing flow be blocked, warned, or allowed with logging — and why?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classification-to-rule mapping table (4 rows) for one data set, ready to fold into the DLP policy assignment.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Deliverables — Session 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54396" cy="4709160"/>
          </a:xfrm>
          <a:prstGeom prst="roundRect">
            <a:avLst>
              <a:gd name="adj" fmla="val 1553"/>
            </a:avLst>
          </a:prstGeom>
          <a:solidFill>
            <a:srgbClr val="141B47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Awareness Program Outline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49971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segments and tailored topics per segment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 cadence and escalation logic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 (click rate, reporting rate, completion)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mechanism for sustaining culture 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85216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length: ~1 page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4476" y="1508760"/>
            <a:ext cx="5454396" cy="4709160"/>
          </a:xfrm>
          <a:prstGeom prst="roundRect">
            <a:avLst>
              <a:gd name="adj" fmla="val 1553"/>
            </a:avLst>
          </a:prstGeom>
          <a:solidFill>
            <a:srgbClr val="141B47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3076" y="1737360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DLP Policy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23076" y="2286000"/>
            <a:ext cx="49971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tiers referenced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at-rest, in-motion, and in-use states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and escalating enforcement actions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D6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Exception-handling and policy-owner sign-off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3076" y="5852160"/>
            <a:ext cx="49971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length: ~1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 Recap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058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programs work only when segmented by audience, reinforced through simulation, and measured by reporting rate — not just click rate.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enforces data classification across three states — at rest, in motion, in use — through detection rules and escalating actions.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controls map to NIST CSF PROTECT (PR.AT — Awareness &amp; Training; PR.DS — Data Security).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Labs and MarketNest illustrate the cost of skipping these controls: stalled enterprise deals and a 400,000-record breach, respectively.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5532120"/>
            <a:ext cx="10515600" cy="9144"/>
          </a:xfrm>
          <a:prstGeom prst="rect">
            <a:avLst/>
          </a:prstGeom>
          <a:solidFill>
            <a:srgbClr val="3A44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</a:t>
            </a:r>
            <a:pPr indent="0" marL="0">
              <a:buNone/>
            </a:pPr>
            <a:r>
              <a:rPr lang="en-US" sz="13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— Incident Response Lifecycle &amp; Practical Runbooks (NIST SP 800-61).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Session A — Security Awareness &amp; DLP</dc:title>
  <dc:subject>PptxGenJS Presentation</dc:subject>
  <dc:creator>GRC Mastery Program</dc:creator>
  <cp:lastModifiedBy>GRC Mastery Program</cp:lastModifiedBy>
  <cp:revision>1</cp:revision>
  <dcterms:created xsi:type="dcterms:W3CDTF">2026-07-18T04:56:49Z</dcterms:created>
  <dcterms:modified xsi:type="dcterms:W3CDTF">2026-07-18T04:56:49Z</dcterms:modified>
</cp:coreProperties>
</file>