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9Pj8I2HKZNmq96LyDm3nEKNrz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2D6903-B17D-4242-8D54-C4853A4DFC58}">
  <a:tblStyle styleId="{EB2D6903-B17D-4242-8D54-C4853A4DFC5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B254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R-02 Phishing</c:v>
                  </c:pt>
                  <c:pt idx="1">
                    <c:v>R-01 Ransomware</c:v>
                  </c:pt>
                  <c:pt idx="2">
                    <c:v>R-05 Cloud bucket</c:v>
                  </c:pt>
                  <c:pt idx="3">
                    <c:v>R-03 Laptops</c:v>
                  </c:pt>
                  <c:pt idx="4">
                    <c:v>R-06 DDoS</c:v>
                  </c:pt>
                  <c:pt idx="5">
                    <c:v>R-04 Insider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20</c:v>
                </c:pt>
                <c:pt idx="2">
                  <c:v>12</c:v>
                </c:pt>
                <c:pt idx="3">
                  <c:v>12</c:v>
                </c:pt>
                <c:pt idx="4">
                  <c:v>9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B254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040880" y="3200400"/>
            <a:ext cx="3291840" cy="3291840"/>
          </a:xfrm>
          <a:prstGeom prst="ellipse">
            <a:avLst/>
          </a:prstGeom>
          <a:solidFill>
            <a:srgbClr val="0E7C86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138160" y="4206240"/>
            <a:ext cx="2194560" cy="2194560"/>
          </a:xfrm>
          <a:prstGeom prst="ellipse">
            <a:avLst/>
          </a:prstGeom>
          <a:solidFill>
            <a:srgbClr val="E0922F">
              <a:alpha val="2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80" y="548640"/>
            <a:ext cx="868680" cy="86868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749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640080" y="17830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3A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CA3A0"/>
                </a:solidFill>
                <a:latin typeface="Calibri"/>
                <a:ea typeface="Calibri"/>
                <a:cs typeface="Calibri"/>
                <a:sym typeface="Calibri"/>
              </a:rPr>
              <a:t>WEEK 2 · CYBERSECURITY RISK MANAGEMENT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2194560"/>
            <a:ext cx="8046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Session B — Assessing Risk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37947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From words to numbers: qualitative heat maps and quantitative SLE / 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NIST CSF: IDENTIFY  ·  Qualitative &amp; Quantitative analysis  ·  1.5 hours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SESSION 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What we will cover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188720" y="139903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Two ways to assess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88720" y="16642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Qualitative vs. quantitative — and when to use each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1984248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188720" y="196596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Likelihood &amp; impact scales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88720" y="223113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Defining consistent 1–5 rating scales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2551176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48640" y="25511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88720" y="2532888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The risk matrix &amp; heat map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88720" y="27980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Plotting risks to see priority at a glance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48640" y="3118104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48640" y="31181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188720" y="3099816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Quantitative method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88720" y="336499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SLE = AV × EF, ALE = SLE × ARO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48640" y="36850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88720" y="366674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 full worked example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88720" y="3931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 numbers, step by step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188720" y="423367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Scoring &amp; prioritisation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88720" y="44988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Turning scores into an action order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TWO APPROACHES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Qualitative vs. quantitative assessment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02920" y="1417320"/>
            <a:ext cx="3977640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502920" y="1417320"/>
            <a:ext cx="3977640" cy="594360"/>
          </a:xfrm>
          <a:prstGeom prst="roundRect">
            <a:avLst>
              <a:gd fmla="val 12308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731520" y="141732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Qualitative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31520" y="214884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Rates risk in descriptive bands — Low / Medium / High — using judgement and scales.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77240" y="2926080"/>
            <a:ext cx="3520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 and intuitive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Great for ranking many risks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Needs little 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Char char="•"/>
            </a:pPr>
            <a:r>
              <a:rPr b="0" i="1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But: subjective, hard to compare in $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709160" y="1417320"/>
            <a:ext cx="3977640" cy="3246120"/>
          </a:xfrm>
          <a:prstGeom prst="roundRect">
            <a:avLst>
              <a:gd fmla="val 2254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709160" y="1417320"/>
            <a:ext cx="3977640" cy="594360"/>
          </a:xfrm>
          <a:prstGeom prst="roundRect">
            <a:avLst>
              <a:gd fmla="val 12308" name="adj"/>
            </a:avLst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937760" y="141732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Quantitative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937760" y="214884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Expresses risk in money and probability — e.g. expected annual loss in dollars.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983480" y="2926080"/>
            <a:ext cx="3520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Objective, comparable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Speaks the language of budgets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Supports cost-benefit cases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Char char="•"/>
            </a:pPr>
            <a:r>
              <a:rPr b="0" i="1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But: data-hungry and slower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Most real programmes do both: qualitative to triage, quantitative on the top risks.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QUALITATIVE 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Define your scales first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Consistency comes from agreeing what each level means before anyone scores a single risk.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" name="Google Shape;83;p4"/>
          <p:cNvGraphicFramePr/>
          <p:nvPr/>
        </p:nvGraphicFramePr>
        <p:xfrm>
          <a:off x="50292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{EB2D6903-B17D-4242-8D54-C4853A4DFC58}</a:tableStyleId>
              </a:tblPr>
              <a:tblGrid>
                <a:gridCol w="1600200"/>
                <a:gridCol w="23317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Likelihood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86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· Rare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Unlikely in 5+ years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· Unlikely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Could happen, not expected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· Possible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Might happen this year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· Likely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Expected within the year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· Almost certain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Expected within months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Google Shape;84;p4"/>
          <p:cNvGraphicFramePr/>
          <p:nvPr/>
        </p:nvGraphicFramePr>
        <p:xfrm>
          <a:off x="470916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{EB2D6903-B17D-4242-8D54-C4853A4DFC58}</a:tableStyleId>
              </a:tblPr>
              <a:tblGrid>
                <a:gridCol w="1600200"/>
                <a:gridCol w="23317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92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922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· Insignificant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Negligible cost / no disruption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· Minor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 cost, quick recovery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· Moderate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Noticeable cost &amp; downtime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· Major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Serious financial / legal harm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· Severe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Existential — survival at risk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4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QUALITATIVE 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The 5×5 risk matrix (heat map)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02920" y="12984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Risk score = Likelihood × Impact. Colour shows priority at a glance.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 rot="-5400000">
            <a:off x="274320" y="21488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LIKELIHOOD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124712" y="1783080"/>
            <a:ext cx="256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417320" y="1783080"/>
            <a:ext cx="566928" cy="566928"/>
          </a:xfrm>
          <a:prstGeom prst="rect">
            <a:avLst/>
          </a:prstGeom>
          <a:solidFill>
            <a:srgbClr val="C9A22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141732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984248" y="1783080"/>
            <a:ext cx="566928" cy="566928"/>
          </a:xfrm>
          <a:prstGeom prst="rect">
            <a:avLst/>
          </a:prstGeom>
          <a:solidFill>
            <a:srgbClr val="E092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1984248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2551176" y="1783080"/>
            <a:ext cx="566928" cy="566928"/>
          </a:xfrm>
          <a:prstGeom prst="rect">
            <a:avLst/>
          </a:prstGeom>
          <a:solidFill>
            <a:srgbClr val="C0413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2551176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118104" y="1783080"/>
            <a:ext cx="566928" cy="566928"/>
          </a:xfrm>
          <a:prstGeom prst="rect">
            <a:avLst/>
          </a:prstGeom>
          <a:solidFill>
            <a:srgbClr val="C0413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118104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685032" y="1783080"/>
            <a:ext cx="566928" cy="566928"/>
          </a:xfrm>
          <a:prstGeom prst="rect">
            <a:avLst/>
          </a:prstGeom>
          <a:solidFill>
            <a:srgbClr val="C0413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685032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124712" y="2350008"/>
            <a:ext cx="256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417320" y="2350008"/>
            <a:ext cx="566928" cy="566928"/>
          </a:xfrm>
          <a:prstGeom prst="rect">
            <a:avLst/>
          </a:prstGeom>
          <a:solidFill>
            <a:srgbClr val="C9A22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1417320" y="235000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984248" y="2350008"/>
            <a:ext cx="566928" cy="566928"/>
          </a:xfrm>
          <a:prstGeom prst="rect">
            <a:avLst/>
          </a:prstGeom>
          <a:solidFill>
            <a:srgbClr val="E092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1984248" y="235000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551176" y="2350008"/>
            <a:ext cx="566928" cy="566928"/>
          </a:xfrm>
          <a:prstGeom prst="rect">
            <a:avLst/>
          </a:prstGeom>
          <a:solidFill>
            <a:srgbClr val="E092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2551176" y="235000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118104" y="2350008"/>
            <a:ext cx="566928" cy="566928"/>
          </a:xfrm>
          <a:prstGeom prst="rect">
            <a:avLst/>
          </a:prstGeom>
          <a:solidFill>
            <a:srgbClr val="C0413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3118104" y="235000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685032" y="2350008"/>
            <a:ext cx="566928" cy="566928"/>
          </a:xfrm>
          <a:prstGeom prst="rect">
            <a:avLst/>
          </a:prstGeom>
          <a:solidFill>
            <a:srgbClr val="C0413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3685032" y="235000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124712" y="2916936"/>
            <a:ext cx="256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417320" y="2916936"/>
            <a:ext cx="566928" cy="566928"/>
          </a:xfrm>
          <a:prstGeom prst="rect">
            <a:avLst/>
          </a:prstGeom>
          <a:solidFill>
            <a:srgbClr val="3C8C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1417320" y="291693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984248" y="2916936"/>
            <a:ext cx="566928" cy="566928"/>
          </a:xfrm>
          <a:prstGeom prst="rect">
            <a:avLst/>
          </a:prstGeom>
          <a:solidFill>
            <a:srgbClr val="C9A22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1984248" y="291693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551176" y="2916936"/>
            <a:ext cx="566928" cy="566928"/>
          </a:xfrm>
          <a:prstGeom prst="rect">
            <a:avLst/>
          </a:prstGeom>
          <a:solidFill>
            <a:srgbClr val="E092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2551176" y="291693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118104" y="2916936"/>
            <a:ext cx="566928" cy="566928"/>
          </a:xfrm>
          <a:prstGeom prst="rect">
            <a:avLst/>
          </a:prstGeom>
          <a:solidFill>
            <a:srgbClr val="E092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3118104" y="291693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685032" y="2916936"/>
            <a:ext cx="566928" cy="566928"/>
          </a:xfrm>
          <a:prstGeom prst="rect">
            <a:avLst/>
          </a:prstGeom>
          <a:solidFill>
            <a:srgbClr val="C0413B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3685032" y="291693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124712" y="3483864"/>
            <a:ext cx="256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1417320" y="3483864"/>
            <a:ext cx="566928" cy="566928"/>
          </a:xfrm>
          <a:prstGeom prst="rect">
            <a:avLst/>
          </a:prstGeom>
          <a:solidFill>
            <a:srgbClr val="3C8C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1417320" y="348386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984248" y="3483864"/>
            <a:ext cx="566928" cy="566928"/>
          </a:xfrm>
          <a:prstGeom prst="rect">
            <a:avLst/>
          </a:prstGeom>
          <a:solidFill>
            <a:srgbClr val="C9A22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1984248" y="348386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551176" y="3483864"/>
            <a:ext cx="566928" cy="566928"/>
          </a:xfrm>
          <a:prstGeom prst="rect">
            <a:avLst/>
          </a:prstGeom>
          <a:solidFill>
            <a:srgbClr val="C9A22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2551176" y="348386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118104" y="3483864"/>
            <a:ext cx="566928" cy="566928"/>
          </a:xfrm>
          <a:prstGeom prst="rect">
            <a:avLst/>
          </a:prstGeom>
          <a:solidFill>
            <a:srgbClr val="E092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118104" y="348386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685032" y="3483864"/>
            <a:ext cx="566928" cy="566928"/>
          </a:xfrm>
          <a:prstGeom prst="rect">
            <a:avLst/>
          </a:prstGeom>
          <a:solidFill>
            <a:srgbClr val="E0922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685032" y="348386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124712" y="4050792"/>
            <a:ext cx="25603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417320" y="4050792"/>
            <a:ext cx="566928" cy="566928"/>
          </a:xfrm>
          <a:prstGeom prst="rect">
            <a:avLst/>
          </a:prstGeom>
          <a:solidFill>
            <a:srgbClr val="3C8C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1417320" y="40507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984248" y="4050792"/>
            <a:ext cx="566928" cy="566928"/>
          </a:xfrm>
          <a:prstGeom prst="rect">
            <a:avLst/>
          </a:prstGeom>
          <a:solidFill>
            <a:srgbClr val="3C8C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984248" y="40507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2551176" y="4050792"/>
            <a:ext cx="566928" cy="566928"/>
          </a:xfrm>
          <a:prstGeom prst="rect">
            <a:avLst/>
          </a:prstGeom>
          <a:solidFill>
            <a:srgbClr val="3C8C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2551176" y="40507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118104" y="4050792"/>
            <a:ext cx="566928" cy="566928"/>
          </a:xfrm>
          <a:prstGeom prst="rect">
            <a:avLst/>
          </a:prstGeom>
          <a:solidFill>
            <a:srgbClr val="C9A22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3118104" y="40507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685032" y="4050792"/>
            <a:ext cx="566928" cy="566928"/>
          </a:xfrm>
          <a:prstGeom prst="rect">
            <a:avLst/>
          </a:prstGeom>
          <a:solidFill>
            <a:srgbClr val="C9A22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3685032" y="40507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417320" y="4617720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984248" y="4617720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551176" y="4617720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118104" y="4617720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685032" y="4617720"/>
            <a:ext cx="566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417320" y="4855464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IMPACT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486400" y="1874520"/>
            <a:ext cx="292608" cy="292608"/>
          </a:xfrm>
          <a:prstGeom prst="roundRect">
            <a:avLst>
              <a:gd fmla="val 12500" name="adj"/>
            </a:avLst>
          </a:prstGeom>
          <a:solidFill>
            <a:srgbClr val="3C8C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5897880" y="18745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Low (1–3)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486400" y="2331720"/>
            <a:ext cx="292608" cy="292608"/>
          </a:xfrm>
          <a:prstGeom prst="roundRect">
            <a:avLst>
              <a:gd fmla="val 12500" name="adj"/>
            </a:avLst>
          </a:prstGeom>
          <a:solidFill>
            <a:srgbClr val="C9A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897880" y="23317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Moderate (4–7)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486400" y="2788920"/>
            <a:ext cx="292608" cy="292608"/>
          </a:xfrm>
          <a:prstGeom prst="roundRect">
            <a:avLst>
              <a:gd fmla="val 12500" name="adj"/>
            </a:avLst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5897880" y="27889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(8–14)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486400" y="3246120"/>
            <a:ext cx="292608" cy="292608"/>
          </a:xfrm>
          <a:prstGeom prst="roundRect">
            <a:avLst>
              <a:gd fmla="val 12500" name="adj"/>
            </a:avLst>
          </a:prstGeom>
          <a:solidFill>
            <a:srgbClr val="C041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897880" y="324612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Critical (15–25)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486400" y="384048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score of 5 (Likely × Insignificant) and 5 (Rare × Severe) sit in different cells but flag the same number — context still matters.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3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A3A0"/>
                </a:solidFill>
                <a:latin typeface="Calibri"/>
                <a:ea typeface="Calibri"/>
                <a:cs typeface="Calibri"/>
                <a:sym typeface="Calibri"/>
              </a:rPr>
              <a:t>QUANTITATIVE METHOD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40080" y="86868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Putting a dollar figure on risk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40080" y="1691640"/>
            <a:ext cx="7863840" cy="1234440"/>
          </a:xfrm>
          <a:prstGeom prst="roundRect">
            <a:avLst>
              <a:gd fmla="val 5926" name="adj"/>
            </a:avLst>
          </a:prstGeom>
          <a:solidFill>
            <a:srgbClr val="13355E"/>
          </a:solidFill>
          <a:ln cap="flat" cmpd="sng" w="15875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914400" y="1856232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3A0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CA3A0"/>
                </a:solidFill>
                <a:latin typeface="Cambria"/>
                <a:ea typeface="Cambria"/>
                <a:cs typeface="Cambria"/>
                <a:sym typeface="Cambria"/>
              </a:rPr>
              <a:t>SLE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2377440" y="18928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 Loss Expectancy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377440" y="229514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Cost of ONE occurrence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669280" y="1965960"/>
            <a:ext cx="2651760" cy="685800"/>
          </a:xfrm>
          <a:prstGeom prst="roundRect">
            <a:avLst>
              <a:gd fmla="val 8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5669280" y="1965960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A3A0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CA3A0"/>
                </a:solidFill>
                <a:latin typeface="Cambria"/>
                <a:ea typeface="Cambria"/>
                <a:cs typeface="Cambria"/>
                <a:sym typeface="Cambria"/>
              </a:rPr>
              <a:t>AV  ×  EF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40080" y="3108960"/>
            <a:ext cx="7863840" cy="1234440"/>
          </a:xfrm>
          <a:prstGeom prst="roundRect">
            <a:avLst>
              <a:gd fmla="val 5926" name="adj"/>
            </a:avLst>
          </a:prstGeom>
          <a:solidFill>
            <a:srgbClr val="13355E"/>
          </a:solidFill>
          <a:ln cap="flat" cmpd="sng" w="15875">
            <a:solidFill>
              <a:srgbClr val="E092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914400" y="3273552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922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E0922F"/>
                </a:solidFill>
                <a:latin typeface="Cambria"/>
                <a:ea typeface="Cambria"/>
                <a:cs typeface="Cambria"/>
                <a:sym typeface="Cambria"/>
              </a:rPr>
              <a:t>ALE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2377440" y="331012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Annualised Loss Expectancy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377440" y="371246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Expected cost PER YEAR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669280" y="3383280"/>
            <a:ext cx="2651760" cy="685800"/>
          </a:xfrm>
          <a:prstGeom prst="roundRect">
            <a:avLst>
              <a:gd fmla="val 8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5669280" y="3383280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922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0922F"/>
                </a:solidFill>
                <a:latin typeface="Cambria"/>
                <a:ea typeface="Cambria"/>
                <a:cs typeface="Cambria"/>
                <a:sym typeface="Cambria"/>
              </a:rPr>
              <a:t>SLE  ×  ARO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AV = Asset Value   ·   EF = Exposure Factor (% lost)   ·   ARO = Annualised Rate of Occurrence (times/year)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WORKED 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Stolen laptop fleet — the inputs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company issues 200 laptops. Some will be lost or stolen with unencrypted data. Let's quantify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02920" y="1783080"/>
            <a:ext cx="813816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731520" y="1901952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Asset Value (AV)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566160" y="1947672"/>
            <a:ext cx="1371600" cy="457200"/>
          </a:xfrm>
          <a:prstGeom prst="roundRect">
            <a:avLst>
              <a:gd fmla="val 12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3566160" y="194767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$2,500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120640" y="190195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Replacement + data-recovery cost of one laptop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02920" y="2651760"/>
            <a:ext cx="813816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731520" y="2770632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Exposure Factor (EF)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566160" y="2816352"/>
            <a:ext cx="1371600" cy="457200"/>
          </a:xfrm>
          <a:prstGeom prst="roundRect">
            <a:avLst>
              <a:gd fmla="val 12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3566160" y="281635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80%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120640" y="277063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Share of that value lost in one incident (device + data)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02920" y="3520440"/>
            <a:ext cx="813816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731520" y="3639312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Annual Rate (ARO)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3566160" y="3685032"/>
            <a:ext cx="1371600" cy="457200"/>
          </a:xfrm>
          <a:prstGeom prst="roundRect">
            <a:avLst>
              <a:gd fmla="val 12000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3566160" y="3685032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120640" y="3639312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Laptops expected lost or stolen per year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02920" y="4434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Next slide: plug these into SLE and ALE.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WORKED 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Step by step: SLE → ALE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02920" y="1417320"/>
            <a:ext cx="8138160" cy="1234440"/>
          </a:xfrm>
          <a:prstGeom prst="roundRect">
            <a:avLst>
              <a:gd fmla="val 5926" name="adj"/>
            </a:avLst>
          </a:prstGeom>
          <a:solidFill>
            <a:srgbClr val="F4F6F8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685800" y="1600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371600" y="1554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Single Loss Expectancy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371600" y="1938528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SLE = AV × EF = </a:t>
            </a:r>
            <a:r>
              <a:rPr b="1" i="0" lang="en-US" sz="190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$2,500 × 0.80 = $2,000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371600" y="233172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lost laptop costs the business $2,000.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02920" y="2788920"/>
            <a:ext cx="8138160" cy="1234440"/>
          </a:xfrm>
          <a:prstGeom prst="roundRect">
            <a:avLst>
              <a:gd fmla="val 5926" name="adj"/>
            </a:avLst>
          </a:prstGeom>
          <a:solidFill>
            <a:srgbClr val="FBEFD9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85800" y="2971800"/>
            <a:ext cx="502920" cy="502920"/>
          </a:xfrm>
          <a:prstGeom prst="ellipse">
            <a:avLst/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685800" y="2971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371600" y="29260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Annualised Loss Expectancy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371600" y="3310128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00"/>
              <a:buFont typeface="Cambria"/>
              <a:buNone/>
            </a:pPr>
            <a:r>
              <a:rPr b="0" i="0" lang="en-US" sz="1900" u="none" cap="none" strike="noStrike">
                <a:solidFill>
                  <a:srgbClr val="1E293B"/>
                </a:solidFill>
                <a:latin typeface="Cambria"/>
                <a:ea typeface="Cambria"/>
                <a:cs typeface="Cambria"/>
                <a:sym typeface="Cambria"/>
              </a:rPr>
              <a:t>ALE = SLE × ARO = </a:t>
            </a:r>
            <a:r>
              <a:rPr b="1" i="0" lang="en-US" sz="1900" u="none" cap="none" strike="noStrike">
                <a:solidFill>
                  <a:srgbClr val="E0922F"/>
                </a:solidFill>
                <a:latin typeface="Cambria"/>
                <a:ea typeface="Cambria"/>
                <a:cs typeface="Cambria"/>
                <a:sym typeface="Cambria"/>
              </a:rPr>
              <a:t>$2,000 × 5 = $10,000 / year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371600" y="370332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Expected annual loss from lost / stolen laptops.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502920" y="4206240"/>
            <a:ext cx="8138160" cy="548640"/>
          </a:xfrm>
          <a:prstGeom prst="roundRect">
            <a:avLst>
              <a:gd fmla="val 10000" name="adj"/>
            </a:avLst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3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A3A0"/>
                </a:solidFill>
                <a:latin typeface="Calibri"/>
                <a:ea typeface="Calibri"/>
                <a:cs typeface="Calibri"/>
                <a:sym typeface="Calibri"/>
              </a:rPr>
              <a:t>Decision lens:  </a:t>
            </a: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if full-disk encryption costs less than $10,000/yr, it pays for itself. That's the power of ALE.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WHY ALE MATTERS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Justifying a control with the numbers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Encryption raises laptops lost-with-exposed-data... but cuts the data-loss share. Compare ALE before and after.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1" name="Google Shape;241;p9"/>
          <p:cNvGraphicFramePr/>
          <p:nvPr/>
        </p:nvGraphicFramePr>
        <p:xfrm>
          <a:off x="50292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{EB2D6903-B17D-4242-8D54-C4853A4DFC58}</a:tableStyleId>
              </a:tblPr>
              <a:tblGrid>
                <a:gridCol w="1737350"/>
                <a:gridCol w="1691650"/>
                <a:gridCol w="16916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control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encryption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Exposure Factor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30% (device only)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$2,000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$750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$10,000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$3,750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9"/>
          <p:cNvSpPr/>
          <p:nvPr/>
        </p:nvSpPr>
        <p:spPr>
          <a:xfrm>
            <a:off x="5897880" y="1737360"/>
            <a:ext cx="2743200" cy="2331720"/>
          </a:xfrm>
          <a:prstGeom prst="roundRect">
            <a:avLst>
              <a:gd fmla="val 3137" name="adj"/>
            </a:avLst>
          </a:prstGeom>
          <a:solidFill>
            <a:srgbClr val="E3F2F1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6080760" y="19659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Annual risk reduction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5989320" y="23774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$6,250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989320" y="312724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 year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6080760" y="352044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If encryption costs &lt; $6,250/yr, mitigation is the rational choice.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Control savings = ALE(before) − ALE(after) = $10,000 − $3,750 = $6,250.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BRINGING IT TOGETHER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Scoring and prioritising the list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02920" y="12801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Score every risk the same way, then sort high-to-low. The score sets the queue.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7" name="Google Shape;257;p10"/>
          <p:cNvGraphicFramePr/>
          <p:nvPr/>
        </p:nvGraphicFramePr>
        <p:xfrm>
          <a:off x="50292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{EB2D6903-B17D-4242-8D54-C4853A4DFC58}</a:tableStyleId>
              </a:tblPr>
              <a:tblGrid>
                <a:gridCol w="640075"/>
                <a:gridCol w="3657600"/>
                <a:gridCol w="548650"/>
                <a:gridCol w="548650"/>
                <a:gridCol w="914400"/>
                <a:gridCol w="18288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545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Ransomware via unpatched VPN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41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413B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C041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Phishing → credential theft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41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413B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C041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Lost / stolen laptops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92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922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092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Misconfigured cloud bucket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92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922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092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Insider data exfiltration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92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922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092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R-06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DDoS on customer portal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92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922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E0922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101600" marL="101600" anchor="ctr">
                    <a:lnL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8" name="Google Shape;258;p10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 = Likelihood, I = Impact (1–5). Score = L × I. Work top-down.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VISUALISING PRIORITY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Where the risks land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simple bar of risk scores makes the queue obvious to non-technical stakeholders.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8" name="Google Shape;268;p11"/>
          <p:cNvGraphicFramePr/>
          <p:nvPr/>
        </p:nvGraphicFramePr>
        <p:xfrm>
          <a:off x="502920" y="1737360"/>
          <a:ext cx="8138160" cy="28346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69" name="Google Shape;269;p11"/>
          <p:cNvSpPr/>
          <p:nvPr/>
        </p:nvSpPr>
        <p:spPr>
          <a:xfrm>
            <a:off x="502920" y="4617720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Note: R-04 (insider) scores lower numerically but its severe impact may still warrant attention — numbers inform judgement, they don't replace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PRACTICAL GUIDANCE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Which method, when?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502920" y="1417320"/>
            <a:ext cx="3977640" cy="3063240"/>
          </a:xfrm>
          <a:prstGeom prst="roundRect">
            <a:avLst>
              <a:gd fmla="val 2388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502920" y="1417320"/>
            <a:ext cx="3977640" cy="640080"/>
          </a:xfrm>
          <a:prstGeom prst="roundRect">
            <a:avLst>
              <a:gd fmla="val 11429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731520" y="14173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Reach for QUALITATIVE when…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777240" y="2286000"/>
            <a:ext cx="3474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have many risks to triage quickly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is scarce or uncertain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need a shared, intuitive language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You're building the first risk register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4709160" y="1417320"/>
            <a:ext cx="3977640" cy="3063240"/>
          </a:xfrm>
          <a:prstGeom prst="roundRect">
            <a:avLst>
              <a:gd fmla="val 2388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4709160" y="1417320"/>
            <a:ext cx="3977640" cy="640080"/>
          </a:xfrm>
          <a:prstGeom prst="roundRect">
            <a:avLst>
              <a:gd fmla="val 11429" name="adj"/>
            </a:avLst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4937760" y="14173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Reach for QUANTITATIVE when…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4983480" y="2286000"/>
            <a:ext cx="3474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must justify a budget or control spend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risk is high-value and worth the effort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You need to compare options in dollars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1E293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Leadership wants ROI on security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" y="64922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3"/>
          <p:cNvSpPr/>
          <p:nvPr/>
        </p:nvSpPr>
        <p:spPr>
          <a:xfrm>
            <a:off x="1417320" y="5486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Mini-exercise — your turn with the numbers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640080" y="1371600"/>
            <a:ext cx="7863840" cy="1371600"/>
          </a:xfrm>
          <a:prstGeom prst="roundRect">
            <a:avLst>
              <a:gd fmla="val 5333" name="adj"/>
            </a:avLst>
          </a:prstGeom>
          <a:solidFill>
            <a:srgbClr val="133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868680" y="148132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3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A3A0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868680" y="1783080"/>
            <a:ext cx="7406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An e-commerce database is worth $150,000. A breach would expose 60% of its value (EF = 0.60). Threat intelligence suggests such a breach occurs about once every four years (ARO = 0.25).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640080" y="2971800"/>
            <a:ext cx="7863840" cy="530352"/>
          </a:xfrm>
          <a:prstGeom prst="roundRect">
            <a:avLst>
              <a:gd fmla="val 10345" name="adj"/>
            </a:avLst>
          </a:prstGeom>
          <a:solidFill>
            <a:srgbClr val="133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868680" y="2971800"/>
            <a:ext cx="7406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a)  Calculate the SLE.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640080" y="3575304"/>
            <a:ext cx="7863840" cy="530352"/>
          </a:xfrm>
          <a:prstGeom prst="roundRect">
            <a:avLst>
              <a:gd fmla="val 10345" name="adj"/>
            </a:avLst>
          </a:prstGeom>
          <a:solidFill>
            <a:srgbClr val="133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868680" y="3575304"/>
            <a:ext cx="7406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b)  Calculate the ALE.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640080" y="4178808"/>
            <a:ext cx="7863840" cy="530352"/>
          </a:xfrm>
          <a:prstGeom prst="roundRect">
            <a:avLst>
              <a:gd fmla="val 10345" name="adj"/>
            </a:avLst>
          </a:prstGeom>
          <a:solidFill>
            <a:srgbClr val="133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868680" y="4178808"/>
            <a:ext cx="74066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c)  A monitoring tool costing $15,000/yr would cut ARO to 0.10. Is it worth it?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640080" y="478231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Work it through before the next slide reveals the answer.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MINI-EXERCISE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Worked solution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502920" y="1463040"/>
            <a:ext cx="813816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731520" y="1463040"/>
            <a:ext cx="1554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a)  SLE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2286000" y="1463040"/>
            <a:ext cx="4023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 × EF = $150,000 × 0.60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6446520" y="1591056"/>
            <a:ext cx="2011680" cy="457200"/>
          </a:xfrm>
          <a:prstGeom prst="roundRect">
            <a:avLst>
              <a:gd fmla="val 12000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6446520" y="1591056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$90,000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502920" y="2249424"/>
            <a:ext cx="813816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731520" y="2249424"/>
            <a:ext cx="1554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b)  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2286000" y="2249424"/>
            <a:ext cx="4023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SLE × ARO = $90,000 × 0.25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6446520" y="2377440"/>
            <a:ext cx="2011680" cy="457200"/>
          </a:xfrm>
          <a:prstGeom prst="roundRect">
            <a:avLst>
              <a:gd fmla="val 12000" name="adj"/>
            </a:avLst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6446520" y="23774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$22,500 / yr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502920" y="3035808"/>
            <a:ext cx="813816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731520" y="3035808"/>
            <a:ext cx="1554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c)  New 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2286000" y="3035808"/>
            <a:ext cx="4023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$90,000 × 0.10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6446520" y="3163824"/>
            <a:ext cx="2011680" cy="457200"/>
          </a:xfrm>
          <a:prstGeom prst="roundRect">
            <a:avLst>
              <a:gd fmla="val 12000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6446520" y="316382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$9,000 / yr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502920" y="3867912"/>
            <a:ext cx="8138160" cy="777240"/>
          </a:xfrm>
          <a:prstGeom prst="roundRect">
            <a:avLst>
              <a:gd fmla="val 7059" name="adj"/>
            </a:avLst>
          </a:prstGeom>
          <a:solidFill>
            <a:srgbClr val="E3F2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731520" y="3867912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Verdict:  </a:t>
            </a:r>
            <a:r>
              <a:rPr b="0" i="0" lang="en-US" sz="13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ALE drops $22,500 → $9,000, a $13,500 saving. The $15,000 tool costs MORE than it saves — so on these numbers alone, decline or renegotiate.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SESSION 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502920" y="676656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548640" y="1435608"/>
            <a:ext cx="347472" cy="34747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548640" y="14356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1024128" y="1380744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Two complementary lenses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4297680" y="1380744"/>
            <a:ext cx="4343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Qualitative to triage fast; quantitative to justify spend.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548640" y="1970532"/>
            <a:ext cx="347472" cy="347472"/>
          </a:xfrm>
          <a:prstGeom prst="ellipse">
            <a:avLst/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548640" y="197053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1024128" y="1915668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Define scales before scoring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4297680" y="1915668"/>
            <a:ext cx="4343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Consistency depends on shared definitions of L and 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548640" y="2505456"/>
            <a:ext cx="347472" cy="34747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548640" y="250545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1024128" y="2450592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Score = Likelihood × Impact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4297680" y="2450592"/>
            <a:ext cx="4343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Plot on a 5×5 heat map; colour reveals priority.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548640" y="3040380"/>
            <a:ext cx="347472" cy="347472"/>
          </a:xfrm>
          <a:prstGeom prst="ellipse">
            <a:avLst/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548640" y="30403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1024128" y="2985516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SLE = AV × EF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4297680" y="2985516"/>
            <a:ext cx="4343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cost of a single loss event.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548640" y="3575304"/>
            <a:ext cx="347472" cy="34747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548640" y="35753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1024128" y="3520440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ALE = SLE × ARO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4297680" y="3520440"/>
            <a:ext cx="4343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expected yearly cost — your budget yardstick.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548640" y="4110228"/>
            <a:ext cx="347472" cy="347472"/>
          </a:xfrm>
          <a:prstGeom prst="ellipse">
            <a:avLst/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548640" y="41102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1024128" y="4055364"/>
            <a:ext cx="3200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Numbers inform, judgement decides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4297680" y="4055364"/>
            <a:ext cx="4343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Low scores can still demand attention.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8229600" y="48280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/ 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E092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822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6"/>
          <p:cNvSpPr/>
          <p:nvPr/>
        </p:nvSpPr>
        <p:spPr>
          <a:xfrm>
            <a:off x="658368" y="1783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A3A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A3A0"/>
                </a:solidFill>
                <a:latin typeface="Calibri"/>
                <a:ea typeface="Calibri"/>
                <a:cs typeface="Calibri"/>
                <a:sym typeface="Calibri"/>
              </a:rPr>
              <a:t>UP NEXT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640080" y="21488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Session C — Treating &amp; Tracking Risk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640080" y="306324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We decide what to do about each scored risk — avoid, mitigate, transfer or accept — and capture it all in a working Risk Register.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B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3BC"/>
                </a:solidFill>
                <a:latin typeface="Calibri"/>
                <a:ea typeface="Calibri"/>
                <a:cs typeface="Calibri"/>
                <a:sym typeface="Calibri"/>
              </a:rPr>
              <a:t>Week 2 · Cybersecurity Risk Management · NIST CSF IDENTIFY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2026-06-24T13:57:20Z</dcterms:created>
  <dc:creator>GRC Course — Week 2</dc:creator>
</cp:coreProperties>
</file>