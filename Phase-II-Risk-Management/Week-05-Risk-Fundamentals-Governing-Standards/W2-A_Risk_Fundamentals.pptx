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3200400"/>
            <a:ext cx="3291840" cy="329184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4206240"/>
            <a:ext cx="2194560" cy="2194560"/>
          </a:xfrm>
          <a:prstGeom prst="ellipse">
            <a:avLst/>
          </a:prstGeom>
          <a:solidFill>
            <a:srgbClr val="E0922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7498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83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CYBERSECURITY RISK MANAGEMENT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 — Risk Fundamentals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Vocabulary, the risk equation, and the frameworks that govern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CSF: IDENTIFY  ·  NIST SP 800-39 / 800-37 (RMF)  ·  ISO 31000  ·  2 hours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13990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vocabulary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664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Asset, threat, vulnerability, likelihood, impact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equation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231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f(likelihood × impact) — and what it really means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51176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88720" y="25328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 vs. residual 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7980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before and after controls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88720" y="30998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Appetite vs. tolerance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364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risk leadership will accept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88720" y="36667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lifecycle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→ Assess → Respond → Monitor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88720" y="42336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frameworks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44988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800-39, 800-37 (RMF), ISO 31000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risk management is the heart of IDENTIFY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017520"/>
          </a:xfrm>
          <a:prstGeom prst="roundRect">
            <a:avLst>
              <a:gd name="adj" fmla="val 2424"/>
            </a:avLst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spending is finite. Risk management is how we decide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spend it first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protect what we have not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NIST CSF IDENTIFY function exists to build that understanding before anything else.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886200" cy="530352"/>
          </a:xfrm>
          <a:prstGeom prst="roundRect">
            <a:avLst>
              <a:gd name="adj" fmla="val 13793"/>
            </a:avLst>
          </a:prstGeom>
          <a:solidFill>
            <a:srgbClr val="E3F2F1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536192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534924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assets &amp; risks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020824"/>
            <a:ext cx="38862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2139696"/>
            <a:ext cx="292608" cy="292608"/>
          </a:xfrm>
          <a:prstGeom prst="ellipse">
            <a:avLst/>
          </a:prstGeom>
          <a:solidFill>
            <a:srgbClr val="13355E"/>
          </a:solidFill>
          <a:ln/>
        </p:spPr>
      </p:sp>
      <p:sp>
        <p:nvSpPr>
          <p:cNvPr id="14" name="Text 12"/>
          <p:cNvSpPr/>
          <p:nvPr/>
        </p:nvSpPr>
        <p:spPr>
          <a:xfrm>
            <a:off x="5349240" y="20665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0665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controls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24328"/>
            <a:ext cx="38862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743200"/>
            <a:ext cx="292608" cy="292608"/>
          </a:xfrm>
          <a:prstGeom prst="ellipse">
            <a:avLst/>
          </a:prstGeom>
          <a:solidFill>
            <a:srgbClr val="13355E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26700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670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events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27832"/>
            <a:ext cx="38862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346704"/>
            <a:ext cx="292608" cy="292608"/>
          </a:xfrm>
          <a:prstGeom prst="ellipse">
            <a:avLst/>
          </a:prstGeom>
          <a:solidFill>
            <a:srgbClr val="133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32735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3273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incidents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831336"/>
            <a:ext cx="38862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950208"/>
            <a:ext cx="292608" cy="292608"/>
          </a:xfrm>
          <a:prstGeom prst="ellipse">
            <a:avLst/>
          </a:prstGeom>
          <a:solidFill>
            <a:srgbClr val="13355E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38770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38770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service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4531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Cybersecurity Framework — IDENTIFY comes first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 of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70992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184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4088" y="2167128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of value worth protecting — data, systems, people, reputation.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6140" y="14173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89020" y="1600200"/>
            <a:ext cx="502920" cy="502920"/>
          </a:xfrm>
          <a:prstGeom prst="ellipse">
            <a:avLst/>
          </a:prstGeom>
          <a:solidFill>
            <a:srgbClr val="C041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170992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3380" y="16184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07308" y="2167128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potential cause of harm — a hacker, malware, insider, or natural event.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4173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600200"/>
            <a:ext cx="502920" cy="502920"/>
          </a:xfrm>
          <a:prstGeom prst="ellipse">
            <a:avLst/>
          </a:prstGeom>
          <a:solidFill>
            <a:srgbClr val="E0922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70992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86600" y="16184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10528" y="2167128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weakness a threat can exploit — unpatched software, weak passwords.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3035808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21868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328416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2369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04088" y="3785616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probable it is that the threat exploits the vulnerability.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406140" y="3035808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89020" y="3218688"/>
            <a:ext cx="502920" cy="502920"/>
          </a:xfrm>
          <a:prstGeom prst="ellipse">
            <a:avLst/>
          </a:prstGeom>
          <a:solidFill>
            <a:srgbClr val="E0922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748" y="3328416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83380" y="32369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607308" y="3785616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damage that results — financial, operational, legal, reputational.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09360" y="3035808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218688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4"/>
          <p:cNvSpPr/>
          <p:nvPr/>
        </p:nvSpPr>
        <p:spPr>
          <a:xfrm>
            <a:off x="64922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7086600" y="32369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6510528" y="3785616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combination: a credible scenario with both likelihood and impact.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EQUATION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= f ( Likelihood × Impact 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 a function, not a literal multiplication — likelihood and impact together describe how much a risk should worry 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13355E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3101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the scenario actually occurs in a given period.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2245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Medium · High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74320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13355E"/>
          </a:solidFill>
          <a:ln w="15875">
            <a:solidFill>
              <a:srgbClr val="E092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33101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of the harm if it does occur.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42245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· Moderate · Severe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74320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13355E"/>
          </a:solidFill>
          <a:ln w="15875">
            <a:solidFill>
              <a:srgbClr val="1CA3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33101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— what we rank and prioritise.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2245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rank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0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 catastrophic impact with near-zero likelihood, and a trivial impact that happens daily, can carry the same risk score. Both factors matter.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risk: a ransomware scenario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any real situation into the five terms before you try to score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3736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97480" y="173736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file server holding payroll and invoices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4086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340864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C041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408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340864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criminal ransomware group seeking payment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944368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944368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E0922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443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7480" y="2944368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unpatched VPN appliance exposed to the internet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54787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547872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97480" y="3547872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this VPN flaw is actively exploited in the wild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15137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151376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E0922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513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97480" y="4151376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— operations halt; recovery and ransom run into six figures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8006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</a:t>
            </a:r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likelihood × Severe impact = a top-priority risk demanding immediate treatment.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CONTROLS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Inherent vs. residual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 risk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 of risk with NO controls in place — the raw, untreated exposure.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open file server, no MFA, no patching → HIGH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E3F2F1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after controls are applied — and what leadership must accept.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697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patched + MFA + backups → LOW/MEDIUM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reduce risk — they rarely eliminate 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 risk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  controls applied   =   </a:t>
            </a:r>
            <a:pPr indent="0" marL="0">
              <a:buNone/>
            </a:pPr>
            <a:r>
              <a:rPr lang="en-US" sz="1400" b="1" dirty="0">
                <a:solidFill>
                  <a:srgbClr val="1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compared against risk appetite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appetite vs. risk tolerance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appetite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and type of risk an organisation is WILLING to pursue to meet its objectives.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· set by the board / executives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66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accept moderate risk to launch fast.”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1732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E0922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417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tolerance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22402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acceptable DEVIATION around a specific risk or objective — the practical limit.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3776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· set per risk or system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356616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3566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more than 4 hours of downtime per quarter.”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Appetite is the broad philosophy; tolerance is the measurable line in the sand.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800-39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management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loop, not a one-time project. NIST SP 800-39 defines four components: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5860" y="201168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11658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320040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context: assumptions, constraints, risk appetite, priorities.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68880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33472" y="178308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6412" y="201168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296412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24912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98064" y="320040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threats &amp; vulnerabilities; determine likelihood &amp; impact.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99432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64024" y="178308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26964" y="2011680"/>
            <a:ext cx="640080" cy="640080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19" name="Text 17"/>
          <p:cNvSpPr/>
          <p:nvPr/>
        </p:nvSpPr>
        <p:spPr>
          <a:xfrm>
            <a:off x="542696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55464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28616" y="320040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treatment: avoid, mitigate, transfer, or accept.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29984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94576" y="178308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57516" y="2011680"/>
            <a:ext cx="640080" cy="640080"/>
          </a:xfrm>
          <a:prstGeom prst="ellipse">
            <a:avLst/>
          </a:prstGeom>
          <a:solidFill>
            <a:srgbClr val="1CA3A0"/>
          </a:solidFill>
          <a:ln/>
        </p:spPr>
      </p:sp>
      <p:sp>
        <p:nvSpPr>
          <p:cNvPr id="25" name="Text 23"/>
          <p:cNvSpPr/>
          <p:nvPr/>
        </p:nvSpPr>
        <p:spPr>
          <a:xfrm>
            <a:off x="7557516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986016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59168" y="320040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risks, controls and changes over time; feed back to Frame.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34340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E3F2F1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343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Monitor feeds back into Frame — the cycle never truly ends.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SP 800-39 — managing risk organisation-wide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56362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organisation-wide view of cyber risk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91840" y="21945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managed at the organisation, mission/business-process, and information-system levels.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88950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798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components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91840" y="279806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Frame, Assess, Respond, Monitor — the lifecycle from the previous slide.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493008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strategy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91840" y="340156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governance, risk appetite and the risk-management strategy that everything else inherits.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096512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005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RMF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400507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strategic context that NIST SP 800-37 turns into system-level action.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SP 800-37 — the Risk Management Framework (RMF)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 that take a single system from setup to continuous oversight.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5568" cy="1280160"/>
          </a:xfrm>
          <a:prstGeom prst="roundRect">
            <a:avLst>
              <a:gd name="adj" fmla="val 491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0195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265176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87068" y="1783080"/>
            <a:ext cx="1115568" cy="1280160"/>
          </a:xfrm>
          <a:prstGeom prst="roundRect">
            <a:avLst>
              <a:gd name="adj" fmla="val 491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87068" y="190195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2788" y="2286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714500" y="265176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the system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71216" y="1783080"/>
            <a:ext cx="1115568" cy="1280160"/>
          </a:xfrm>
          <a:prstGeom prst="roundRect">
            <a:avLst>
              <a:gd name="adj" fmla="val 491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71216" y="190195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16936" y="2286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98648" y="265176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controls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55364" y="1783080"/>
            <a:ext cx="1115568" cy="1280160"/>
          </a:xfrm>
          <a:prstGeom prst="roundRect">
            <a:avLst>
              <a:gd name="adj" fmla="val 491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55364" y="190195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01084" y="2286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082796" y="265176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 place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39512" y="1783080"/>
            <a:ext cx="1115568" cy="1280160"/>
          </a:xfrm>
          <a:prstGeom prst="roundRect">
            <a:avLst>
              <a:gd name="adj" fmla="val 4918"/>
            </a:avLst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39512" y="190195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85232" y="2286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66944" y="265176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23660" y="1783080"/>
            <a:ext cx="1115568" cy="1280160"/>
          </a:xfrm>
          <a:prstGeom prst="roundRect">
            <a:avLst>
              <a:gd name="adj" fmla="val 491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23660" y="190195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69380" y="2286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51092" y="265176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to operate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07808" y="1783080"/>
            <a:ext cx="1115568" cy="1280160"/>
          </a:xfrm>
          <a:prstGeom prst="roundRect">
            <a:avLst>
              <a:gd name="adj" fmla="val 491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07808" y="190195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53528" y="2286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35240" y="265176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over time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337560"/>
            <a:ext cx="8138160" cy="1325880"/>
          </a:xfrm>
          <a:prstGeom prst="roundRect">
            <a:avLst>
              <a:gd name="adj" fmla="val 5517"/>
            </a:avLst>
          </a:prstGeom>
          <a:solidFill>
            <a:srgbClr val="E3F2F1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1520" y="3474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Week 2 lives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" y="3822192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pure IDENTIFY work — they are exactly the risk-assessment skills this week teaches. Select / Implement belong to PROTECT; Monitor recurs throughout.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31000 — the international risk standard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risk-management standard — not cyber-specific. It applies to any risk: financial, safety, strategic, operational.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principles, a framework, and a process. Its process mirrors NIST: establish context, assess, treat, monitor, communicate.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enterprise GRC and ISO 27001 programmes.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08760"/>
                <a:gridCol w="1417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800-39/37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31000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federal / cyber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sector, any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(USA)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(international)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Prescriptive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Principles-based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Frame→Assess→Respond→Monitor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Context→Assess→Treat→Monitor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connect to IDENTIFY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2743200" cy="713232"/>
          </a:xfrm>
          <a:prstGeom prst="roundRect">
            <a:avLst>
              <a:gd name="adj" fmla="val 7692"/>
            </a:avLst>
          </a:prstGeom>
          <a:solidFill>
            <a:srgbClr val="13355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31000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29000" y="146304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language &amp; principles for any risk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249424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249424"/>
            <a:ext cx="2743200" cy="713232"/>
          </a:xfrm>
          <a:prstGeom prst="roundRect">
            <a:avLst>
              <a:gd name="adj" fmla="val 7692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4942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800-39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24942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Organisation-wide cyber risk strategy &amp; lifecycle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035808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035808"/>
            <a:ext cx="2743200" cy="713232"/>
          </a:xfrm>
          <a:prstGeom prst="roundRect">
            <a:avLst>
              <a:gd name="adj" fmla="val 7692"/>
            </a:avLst>
          </a:prstGeom>
          <a:solidFill>
            <a:srgbClr val="E0922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3580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800-37 (RMF)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035808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System-level, step-by-step execution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822192"/>
            <a:ext cx="2743200" cy="713232"/>
          </a:xfrm>
          <a:prstGeom prst="roundRect">
            <a:avLst>
              <a:gd name="adj" fmla="val 7692"/>
            </a:avLst>
          </a:prstGeom>
          <a:solidFill>
            <a:srgbClr val="3C8C5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2219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— IDENTIFY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3822192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this all serves: know your assets &amp; risks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626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to specific:  principles → strategy → execution → the goal.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30-second scenario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234440"/>
          </a:xfrm>
          <a:prstGeom prst="roundRect">
            <a:avLst>
              <a:gd name="adj" fmla="val 5926"/>
            </a:avLst>
          </a:prstGeom>
          <a:solidFill>
            <a:srgbClr val="FBEFD9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stores patient records in a database. The database admin account still uses its default password, and the system is reachable from the internet. Identify the asset, threat, and vulnerability — and judge the risk.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06040" y="27889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(sensitive health data)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264408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644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06040" y="32644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attacker after medical data for extortion / sale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739896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398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06040" y="373989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admin password + internet exposure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215384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153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06040" y="421538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likelihood × SEVERE impact (HIPAA, harm, fines) = critical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Mini-quiz — check your understanding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13355E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46304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the difference between a threat and a vulnerability.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121408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13355E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12140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An event is almost certain but causes trivial harm. Is its risk necessarily low? Why or why not?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779776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13355E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77977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server's inherent risk is HIGH. After patching and MFA, what do we call the risk that remains?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438144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13355E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43814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Your board says “we accept moderate risk for faster delivery.” Is that appetite or tolerance?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4096512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13355E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09651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Name the four components of the NIST SP 800-39 risk lifecycle, in order.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discussed live — try each before we reveal.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807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has five parts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3400" y="13807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Asset, threat, vulnerability, likelihood, impact — name them before scoring.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66544"/>
            <a:ext cx="365760" cy="365760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0025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f(likelihood × impact)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43400" y="20025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factors matter; neither alone tells the whole story.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6243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move inherent → residual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2624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treat risk down to what appetite allows; we rarely erase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Appetite is strategy, tolerance is the limit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34340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philosophy, many measurable lines.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8679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align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43400" y="3867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31000, NIST 800-39 and the RMF all serve IDENTIFY.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148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B — Assessing Risk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this vocabulary into numbers: qualitative heat maps, then quantitative SLE / ALE, and a prioritised list of what to fix first.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Cybersecurity Risk Management · NIST CSF IDENTIFY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A — Risk Fundamentals</dc:title>
  <dc:subject>PptxGenJS Presentation</dc:subject>
  <dc:creator>GRC Course — Week 2</dc:creator>
  <cp:lastModifiedBy>GRC Course — Week 2</cp:lastModifiedBy>
  <cp:revision>1</cp:revision>
  <dcterms:created xsi:type="dcterms:W3CDTF">2026-06-24T13:54:50Z</dcterms:created>
  <dcterms:modified xsi:type="dcterms:W3CDTF">2026-06-24T13:54:50Z</dcterms:modified>
</cp:coreProperties>
</file>