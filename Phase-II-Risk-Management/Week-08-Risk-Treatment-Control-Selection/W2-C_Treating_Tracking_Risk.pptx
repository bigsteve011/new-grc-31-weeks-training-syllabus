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2" roundtripDataSignature="AMtx7mgRzs3Ql8NwYFULrGcdaaIH2lRJ9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D25144CC-692B-4EE5-B563-7098643C743D}">
  <a:tblStyle styleId="{D25144CC-692B-4EE5-B563-7098643C743D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22" Type="http://customschemas.google.com/relationships/presentationmetadata" Target="metadata"/><Relationship Id="rId10" Type="http://schemas.openxmlformats.org/officeDocument/2006/relationships/slide" Target="slides/slide5.xml"/><Relationship Id="rId21" Type="http://schemas.openxmlformats.org/officeDocument/2006/relationships/slide" Target="slides/slide16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" name="Google Shape;26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" name="Google Shape;58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5" name="Google Shape;95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6" name="Google Shape;126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2" name="Google Shape;152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3" name="Google Shape;193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3" name="Google Shape;203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3" name="Google Shape;213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5" name="Google Shape;245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6" name="Google Shape;256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5" name="Google Shape;285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8" name="Google Shape;318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" name="Google Shape;319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6" name="Google Shape;336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9" name="Google Shape;369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0" name="Google Shape;370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1" name="Google Shape;401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2" name="Google Shape;402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3.png"/><Relationship Id="rId6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2545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7040880" y="3200400"/>
            <a:ext cx="3291840" cy="3291840"/>
          </a:xfrm>
          <a:prstGeom prst="ellipse">
            <a:avLst/>
          </a:prstGeom>
          <a:solidFill>
            <a:srgbClr val="0E7C86">
              <a:alpha val="3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1"/>
          <p:cNvSpPr/>
          <p:nvPr/>
        </p:nvSpPr>
        <p:spPr>
          <a:xfrm>
            <a:off x="8138160" y="4206240"/>
            <a:ext cx="2194560" cy="2194560"/>
          </a:xfrm>
          <a:prstGeom prst="ellipse">
            <a:avLst/>
          </a:prstGeom>
          <a:solidFill>
            <a:srgbClr val="E0922F">
              <a:alpha val="219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1"/>
          <p:cNvSpPr/>
          <p:nvPr/>
        </p:nvSpPr>
        <p:spPr>
          <a:xfrm>
            <a:off x="640080" y="548640"/>
            <a:ext cx="868680" cy="868680"/>
          </a:xfrm>
          <a:prstGeom prst="ellipse">
            <a:avLst/>
          </a:prstGeom>
          <a:solidFill>
            <a:srgbClr val="0E7C8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9" name="Google Shape;19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1248" y="749808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p1"/>
          <p:cNvSpPr/>
          <p:nvPr/>
        </p:nvSpPr>
        <p:spPr>
          <a:xfrm>
            <a:off x="640080" y="1783080"/>
            <a:ext cx="78638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A3A0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CA3A0"/>
                </a:solidFill>
                <a:latin typeface="Calibri"/>
                <a:ea typeface="Calibri"/>
                <a:cs typeface="Calibri"/>
                <a:sym typeface="Calibri"/>
              </a:rPr>
              <a:t>WEEK 2 · CYBERSECURITY RISK MANAGEMENT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640080" y="2194560"/>
            <a:ext cx="8046720" cy="1554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mbria"/>
              <a:buNone/>
            </a:pPr>
            <a:r>
              <a:rPr b="1" i="0" lang="en-US" sz="4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Session C — Treating &amp; Tracking Risk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1"/>
          <p:cNvSpPr/>
          <p:nvPr/>
        </p:nvSpPr>
        <p:spPr>
          <a:xfrm>
            <a:off x="640080" y="3794760"/>
            <a:ext cx="76809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Treatment decisions, control selection, and a living Risk Register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1"/>
          <p:cNvSpPr/>
          <p:nvPr/>
        </p:nvSpPr>
        <p:spPr>
          <a:xfrm>
            <a:off x="640080" y="4709160"/>
            <a:ext cx="78638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FA3B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8FA3BC"/>
                </a:solidFill>
                <a:latin typeface="Calibri"/>
                <a:ea typeface="Calibri"/>
                <a:cs typeface="Calibri"/>
                <a:sym typeface="Calibri"/>
              </a:rPr>
              <a:t>NIST CSF: IDENTIFY  ·  Avoid · Mitigate · Transfer · Accept  ·  1.5 hours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"/>
          <p:cNvSpPr/>
          <p:nvPr/>
        </p:nvSpPr>
        <p:spPr>
          <a:xfrm>
            <a:off x="502920" y="384048"/>
            <a:ext cx="8229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7C86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E7C86"/>
                </a:solidFill>
                <a:latin typeface="Calibri"/>
                <a:ea typeface="Calibri"/>
                <a:cs typeface="Calibri"/>
                <a:sym typeface="Calibri"/>
              </a:rPr>
              <a:t>SESSION C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2"/>
          <p:cNvSpPr/>
          <p:nvPr/>
        </p:nvSpPr>
        <p:spPr>
          <a:xfrm>
            <a:off x="502920" y="676656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545"/>
              </a:buClr>
              <a:buSzPts val="2800"/>
              <a:buFont typeface="Cambria"/>
              <a:buNone/>
            </a:pPr>
            <a:r>
              <a:rPr b="1" i="0" lang="en-US" sz="2800" u="none" cap="none" strike="noStrike">
                <a:solidFill>
                  <a:srgbClr val="0B2545"/>
                </a:solidFill>
                <a:latin typeface="Cambria"/>
                <a:ea typeface="Cambria"/>
                <a:cs typeface="Cambria"/>
                <a:sym typeface="Cambria"/>
              </a:rPr>
              <a:t>What we will cover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2"/>
          <p:cNvSpPr/>
          <p:nvPr/>
        </p:nvSpPr>
        <p:spPr>
          <a:xfrm>
            <a:off x="548640" y="1417320"/>
            <a:ext cx="457200" cy="457200"/>
          </a:xfrm>
          <a:prstGeom prst="ellipse">
            <a:avLst/>
          </a:prstGeom>
          <a:solidFill>
            <a:srgbClr val="0B254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2"/>
          <p:cNvSpPr/>
          <p:nvPr/>
        </p:nvSpPr>
        <p:spPr>
          <a:xfrm>
            <a:off x="548640" y="141732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ambria"/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1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2"/>
          <p:cNvSpPr/>
          <p:nvPr/>
        </p:nvSpPr>
        <p:spPr>
          <a:xfrm>
            <a:off x="1188720" y="1399032"/>
            <a:ext cx="3657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545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0B2545"/>
                </a:solidFill>
                <a:latin typeface="Calibri"/>
                <a:ea typeface="Calibri"/>
                <a:cs typeface="Calibri"/>
                <a:sym typeface="Calibri"/>
              </a:rPr>
              <a:t>The four treatment options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2"/>
          <p:cNvSpPr/>
          <p:nvPr/>
        </p:nvSpPr>
        <p:spPr>
          <a:xfrm>
            <a:off x="1188720" y="166420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Avoid · Mitigate · Transfer · Accept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2"/>
          <p:cNvSpPr/>
          <p:nvPr/>
        </p:nvSpPr>
        <p:spPr>
          <a:xfrm>
            <a:off x="548640" y="1984248"/>
            <a:ext cx="457200" cy="457200"/>
          </a:xfrm>
          <a:prstGeom prst="ellipse">
            <a:avLst/>
          </a:prstGeom>
          <a:solidFill>
            <a:srgbClr val="0B254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2"/>
          <p:cNvSpPr/>
          <p:nvPr/>
        </p:nvSpPr>
        <p:spPr>
          <a:xfrm>
            <a:off x="548640" y="1984248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ambria"/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2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2"/>
          <p:cNvSpPr/>
          <p:nvPr/>
        </p:nvSpPr>
        <p:spPr>
          <a:xfrm>
            <a:off x="1188720" y="1965960"/>
            <a:ext cx="3657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545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0B2545"/>
                </a:solidFill>
                <a:latin typeface="Calibri"/>
                <a:ea typeface="Calibri"/>
                <a:cs typeface="Calibri"/>
                <a:sym typeface="Calibri"/>
              </a:rPr>
              <a:t>Choosing a treatment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2"/>
          <p:cNvSpPr/>
          <p:nvPr/>
        </p:nvSpPr>
        <p:spPr>
          <a:xfrm>
            <a:off x="1188720" y="2231136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Driving residual risk into appetite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2"/>
          <p:cNvSpPr/>
          <p:nvPr/>
        </p:nvSpPr>
        <p:spPr>
          <a:xfrm>
            <a:off x="548640" y="2551176"/>
            <a:ext cx="457200" cy="457200"/>
          </a:xfrm>
          <a:prstGeom prst="ellipse">
            <a:avLst/>
          </a:prstGeom>
          <a:solidFill>
            <a:srgbClr val="0B254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2"/>
          <p:cNvSpPr/>
          <p:nvPr/>
        </p:nvSpPr>
        <p:spPr>
          <a:xfrm>
            <a:off x="548640" y="2551176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ambria"/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3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2"/>
          <p:cNvSpPr/>
          <p:nvPr/>
        </p:nvSpPr>
        <p:spPr>
          <a:xfrm>
            <a:off x="1188720" y="2532888"/>
            <a:ext cx="3657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545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0B2545"/>
                </a:solidFill>
                <a:latin typeface="Calibri"/>
                <a:ea typeface="Calibri"/>
                <a:cs typeface="Calibri"/>
                <a:sym typeface="Calibri"/>
              </a:rPr>
              <a:t>Control selection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2"/>
          <p:cNvSpPr/>
          <p:nvPr/>
        </p:nvSpPr>
        <p:spPr>
          <a:xfrm>
            <a:off x="1188720" y="2798064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Preventive, detective, corrective — and framework mapping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2"/>
          <p:cNvSpPr/>
          <p:nvPr/>
        </p:nvSpPr>
        <p:spPr>
          <a:xfrm>
            <a:off x="548640" y="3118104"/>
            <a:ext cx="457200" cy="457200"/>
          </a:xfrm>
          <a:prstGeom prst="ellipse">
            <a:avLst/>
          </a:prstGeom>
          <a:solidFill>
            <a:srgbClr val="0B254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2"/>
          <p:cNvSpPr/>
          <p:nvPr/>
        </p:nvSpPr>
        <p:spPr>
          <a:xfrm>
            <a:off x="548640" y="3118104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ambria"/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4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2"/>
          <p:cNvSpPr/>
          <p:nvPr/>
        </p:nvSpPr>
        <p:spPr>
          <a:xfrm>
            <a:off x="1188720" y="3099816"/>
            <a:ext cx="3657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545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0B2545"/>
                </a:solidFill>
                <a:latin typeface="Calibri"/>
                <a:ea typeface="Calibri"/>
                <a:cs typeface="Calibri"/>
                <a:sym typeface="Calibri"/>
              </a:rPr>
              <a:t>The Risk Register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2"/>
          <p:cNvSpPr/>
          <p:nvPr/>
        </p:nvSpPr>
        <p:spPr>
          <a:xfrm>
            <a:off x="1188720" y="336499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Anatomy, then a full 10-risk example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2"/>
          <p:cNvSpPr/>
          <p:nvPr/>
        </p:nvSpPr>
        <p:spPr>
          <a:xfrm>
            <a:off x="548640" y="3685032"/>
            <a:ext cx="457200" cy="457200"/>
          </a:xfrm>
          <a:prstGeom prst="ellipse">
            <a:avLst/>
          </a:prstGeom>
          <a:solidFill>
            <a:srgbClr val="0B254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2"/>
          <p:cNvSpPr/>
          <p:nvPr/>
        </p:nvSpPr>
        <p:spPr>
          <a:xfrm>
            <a:off x="548640" y="3685032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ambria"/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5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2"/>
          <p:cNvSpPr/>
          <p:nvPr/>
        </p:nvSpPr>
        <p:spPr>
          <a:xfrm>
            <a:off x="1188720" y="3666744"/>
            <a:ext cx="3657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545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0B2545"/>
                </a:solidFill>
                <a:latin typeface="Calibri"/>
                <a:ea typeface="Calibri"/>
                <a:cs typeface="Calibri"/>
                <a:sym typeface="Calibri"/>
              </a:rPr>
              <a:t>A quantitative entry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2"/>
          <p:cNvSpPr/>
          <p:nvPr/>
        </p:nvSpPr>
        <p:spPr>
          <a:xfrm>
            <a:off x="1188720" y="393192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One SLE / ALE calculation inside the register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2"/>
          <p:cNvSpPr/>
          <p:nvPr/>
        </p:nvSpPr>
        <p:spPr>
          <a:xfrm>
            <a:off x="548640" y="4251960"/>
            <a:ext cx="457200" cy="457200"/>
          </a:xfrm>
          <a:prstGeom prst="ellipse">
            <a:avLst/>
          </a:prstGeom>
          <a:solidFill>
            <a:srgbClr val="0B254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2"/>
          <p:cNvSpPr/>
          <p:nvPr/>
        </p:nvSpPr>
        <p:spPr>
          <a:xfrm>
            <a:off x="548640" y="425196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ambria"/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6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2"/>
          <p:cNvSpPr/>
          <p:nvPr/>
        </p:nvSpPr>
        <p:spPr>
          <a:xfrm>
            <a:off x="1188720" y="4233672"/>
            <a:ext cx="3657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545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0B2545"/>
                </a:solidFill>
                <a:latin typeface="Calibri"/>
                <a:ea typeface="Calibri"/>
                <a:cs typeface="Calibri"/>
                <a:sym typeface="Calibri"/>
              </a:rPr>
              <a:t>Maintaining &amp; self-check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2"/>
          <p:cNvSpPr/>
          <p:nvPr/>
        </p:nvSpPr>
        <p:spPr>
          <a:xfrm>
            <a:off x="1188720" y="449884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Cadence, ownership, and a scenario to solve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2"/>
          <p:cNvSpPr/>
          <p:nvPr/>
        </p:nvSpPr>
        <p:spPr>
          <a:xfrm>
            <a:off x="8229600" y="4828032"/>
            <a:ext cx="8229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2 / 16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3"/>
          <p:cNvSpPr/>
          <p:nvPr/>
        </p:nvSpPr>
        <p:spPr>
          <a:xfrm>
            <a:off x="502920" y="384048"/>
            <a:ext cx="8229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7C86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E7C86"/>
                </a:solidFill>
                <a:latin typeface="Calibri"/>
                <a:ea typeface="Calibri"/>
                <a:cs typeface="Calibri"/>
                <a:sym typeface="Calibri"/>
              </a:rPr>
              <a:t>RISK RESPONSE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3"/>
          <p:cNvSpPr/>
          <p:nvPr/>
        </p:nvSpPr>
        <p:spPr>
          <a:xfrm>
            <a:off x="502920" y="676656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545"/>
              </a:buClr>
              <a:buSzPts val="2800"/>
              <a:buFont typeface="Cambria"/>
              <a:buNone/>
            </a:pPr>
            <a:r>
              <a:rPr b="1" i="0" lang="en-US" sz="2800" u="none" cap="none" strike="noStrike">
                <a:solidFill>
                  <a:srgbClr val="0B2545"/>
                </a:solidFill>
                <a:latin typeface="Cambria"/>
                <a:ea typeface="Cambria"/>
                <a:cs typeface="Cambria"/>
                <a:sym typeface="Cambria"/>
              </a:rPr>
              <a:t>The four ways to treat a risk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3"/>
          <p:cNvSpPr/>
          <p:nvPr/>
        </p:nvSpPr>
        <p:spPr>
          <a:xfrm>
            <a:off x="502920" y="1463040"/>
            <a:ext cx="1965960" cy="3017520"/>
          </a:xfrm>
          <a:prstGeom prst="roundRect">
            <a:avLst>
              <a:gd fmla="val 3721" name="adj"/>
            </a:avLst>
          </a:prstGeom>
          <a:solidFill>
            <a:srgbClr val="FFFFFF"/>
          </a:solidFill>
          <a:ln cap="flat" cmpd="sng" w="9525">
            <a:solidFill>
              <a:srgbClr val="D8DEE6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3"/>
          <p:cNvSpPr/>
          <p:nvPr/>
        </p:nvSpPr>
        <p:spPr>
          <a:xfrm>
            <a:off x="502920" y="1463040"/>
            <a:ext cx="1965960" cy="868680"/>
          </a:xfrm>
          <a:prstGeom prst="roundRect">
            <a:avLst>
              <a:gd fmla="val 8421" name="adj"/>
            </a:avLst>
          </a:prstGeom>
          <a:solidFill>
            <a:srgbClr val="8E3B4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3"/>
          <p:cNvSpPr/>
          <p:nvPr/>
        </p:nvSpPr>
        <p:spPr>
          <a:xfrm>
            <a:off x="1211580" y="1600200"/>
            <a:ext cx="548640" cy="548640"/>
          </a:xfrm>
          <a:prstGeom prst="ellipse">
            <a:avLst/>
          </a:prstGeom>
          <a:solidFill>
            <a:srgbClr val="FFFFFF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6" name="Google Shape;66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39596" y="1728216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3"/>
          <p:cNvSpPr/>
          <p:nvPr/>
        </p:nvSpPr>
        <p:spPr>
          <a:xfrm>
            <a:off x="502920" y="1993392"/>
            <a:ext cx="19659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Avoid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3"/>
          <p:cNvSpPr/>
          <p:nvPr/>
        </p:nvSpPr>
        <p:spPr>
          <a:xfrm>
            <a:off x="667512" y="2468880"/>
            <a:ext cx="1636776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Eliminate the activity or asset causing the risk.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3"/>
          <p:cNvSpPr/>
          <p:nvPr/>
        </p:nvSpPr>
        <p:spPr>
          <a:xfrm>
            <a:off x="667512" y="3520440"/>
            <a:ext cx="1636776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8E3B46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8E3B46"/>
                </a:solidFill>
                <a:latin typeface="Calibri"/>
                <a:ea typeface="Calibri"/>
                <a:cs typeface="Calibri"/>
                <a:sym typeface="Calibri"/>
              </a:rPr>
              <a:t>e.g.  </a:t>
            </a:r>
            <a:r>
              <a:rPr b="0" i="1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Stop storing card data; decommission a legacy system.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3"/>
          <p:cNvSpPr/>
          <p:nvPr/>
        </p:nvSpPr>
        <p:spPr>
          <a:xfrm>
            <a:off x="2633472" y="1463040"/>
            <a:ext cx="1965960" cy="3017520"/>
          </a:xfrm>
          <a:prstGeom prst="roundRect">
            <a:avLst>
              <a:gd fmla="val 3721" name="adj"/>
            </a:avLst>
          </a:prstGeom>
          <a:solidFill>
            <a:srgbClr val="FFFFFF"/>
          </a:solidFill>
          <a:ln cap="flat" cmpd="sng" w="9525">
            <a:solidFill>
              <a:srgbClr val="D8DEE6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3"/>
          <p:cNvSpPr/>
          <p:nvPr/>
        </p:nvSpPr>
        <p:spPr>
          <a:xfrm>
            <a:off x="2633472" y="1463040"/>
            <a:ext cx="1965960" cy="868680"/>
          </a:xfrm>
          <a:prstGeom prst="roundRect">
            <a:avLst>
              <a:gd fmla="val 8421" name="adj"/>
            </a:avLst>
          </a:prstGeom>
          <a:solidFill>
            <a:srgbClr val="0E7C8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3"/>
          <p:cNvSpPr/>
          <p:nvPr/>
        </p:nvSpPr>
        <p:spPr>
          <a:xfrm>
            <a:off x="3342132" y="1600200"/>
            <a:ext cx="548640" cy="548640"/>
          </a:xfrm>
          <a:prstGeom prst="ellipse">
            <a:avLst/>
          </a:prstGeom>
          <a:solidFill>
            <a:srgbClr val="FFFFFF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3" name="Google Shape;73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470148" y="1728216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3"/>
          <p:cNvSpPr/>
          <p:nvPr/>
        </p:nvSpPr>
        <p:spPr>
          <a:xfrm>
            <a:off x="2633472" y="1993392"/>
            <a:ext cx="19659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Mitigate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3"/>
          <p:cNvSpPr/>
          <p:nvPr/>
        </p:nvSpPr>
        <p:spPr>
          <a:xfrm>
            <a:off x="2798064" y="2468880"/>
            <a:ext cx="1636776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Apply controls to reduce likelihood and/or impact.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3"/>
          <p:cNvSpPr/>
          <p:nvPr/>
        </p:nvSpPr>
        <p:spPr>
          <a:xfrm>
            <a:off x="2798064" y="3520440"/>
            <a:ext cx="1636776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0E7C86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E7C86"/>
                </a:solidFill>
                <a:latin typeface="Calibri"/>
                <a:ea typeface="Calibri"/>
                <a:cs typeface="Calibri"/>
                <a:sym typeface="Calibri"/>
              </a:rPr>
              <a:t>e.g.  </a:t>
            </a:r>
            <a:r>
              <a:rPr b="0" i="1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Patch, enable MFA, encrypt, segment networks.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3"/>
          <p:cNvSpPr/>
          <p:nvPr/>
        </p:nvSpPr>
        <p:spPr>
          <a:xfrm>
            <a:off x="4764024" y="1463040"/>
            <a:ext cx="1965960" cy="3017520"/>
          </a:xfrm>
          <a:prstGeom prst="roundRect">
            <a:avLst>
              <a:gd fmla="val 3721" name="adj"/>
            </a:avLst>
          </a:prstGeom>
          <a:solidFill>
            <a:srgbClr val="FFFFFF"/>
          </a:solidFill>
          <a:ln cap="flat" cmpd="sng" w="9525">
            <a:solidFill>
              <a:srgbClr val="D8DEE6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3"/>
          <p:cNvSpPr/>
          <p:nvPr/>
        </p:nvSpPr>
        <p:spPr>
          <a:xfrm>
            <a:off x="4764024" y="1463040"/>
            <a:ext cx="1965960" cy="868680"/>
          </a:xfrm>
          <a:prstGeom prst="roundRect">
            <a:avLst>
              <a:gd fmla="val 8421" name="adj"/>
            </a:avLst>
          </a:prstGeom>
          <a:solidFill>
            <a:srgbClr val="1335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3"/>
          <p:cNvSpPr/>
          <p:nvPr/>
        </p:nvSpPr>
        <p:spPr>
          <a:xfrm>
            <a:off x="5472684" y="1600200"/>
            <a:ext cx="548640" cy="548640"/>
          </a:xfrm>
          <a:prstGeom prst="ellipse">
            <a:avLst/>
          </a:prstGeom>
          <a:solidFill>
            <a:srgbClr val="FFFFFF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80" name="Google Shape;80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600700" y="1728216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p3"/>
          <p:cNvSpPr/>
          <p:nvPr/>
        </p:nvSpPr>
        <p:spPr>
          <a:xfrm>
            <a:off x="4764024" y="1993392"/>
            <a:ext cx="19659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Transfer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3"/>
          <p:cNvSpPr/>
          <p:nvPr/>
        </p:nvSpPr>
        <p:spPr>
          <a:xfrm>
            <a:off x="4928616" y="2468880"/>
            <a:ext cx="1636776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Shift the financial burden to a third party.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3"/>
          <p:cNvSpPr/>
          <p:nvPr/>
        </p:nvSpPr>
        <p:spPr>
          <a:xfrm>
            <a:off x="4928616" y="3520440"/>
            <a:ext cx="1636776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13355E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3355E"/>
                </a:solidFill>
                <a:latin typeface="Calibri"/>
                <a:ea typeface="Calibri"/>
                <a:cs typeface="Calibri"/>
                <a:sym typeface="Calibri"/>
              </a:rPr>
              <a:t>e.g.  </a:t>
            </a:r>
            <a:r>
              <a:rPr b="0" i="1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Cyber insurance; outsource to a managed provider.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3"/>
          <p:cNvSpPr/>
          <p:nvPr/>
        </p:nvSpPr>
        <p:spPr>
          <a:xfrm>
            <a:off x="6894576" y="1463040"/>
            <a:ext cx="1965960" cy="3017520"/>
          </a:xfrm>
          <a:prstGeom prst="roundRect">
            <a:avLst>
              <a:gd fmla="val 3721" name="adj"/>
            </a:avLst>
          </a:prstGeom>
          <a:solidFill>
            <a:srgbClr val="FFFFFF"/>
          </a:solidFill>
          <a:ln cap="flat" cmpd="sng" w="9525">
            <a:solidFill>
              <a:srgbClr val="D8DEE6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3"/>
          <p:cNvSpPr/>
          <p:nvPr/>
        </p:nvSpPr>
        <p:spPr>
          <a:xfrm>
            <a:off x="6894576" y="1463040"/>
            <a:ext cx="1965960" cy="868680"/>
          </a:xfrm>
          <a:prstGeom prst="roundRect">
            <a:avLst>
              <a:gd fmla="val 8421" name="adj"/>
            </a:avLst>
          </a:prstGeom>
          <a:solidFill>
            <a:srgbClr val="3C8C5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3"/>
          <p:cNvSpPr/>
          <p:nvPr/>
        </p:nvSpPr>
        <p:spPr>
          <a:xfrm>
            <a:off x="7603236" y="1600200"/>
            <a:ext cx="548640" cy="548640"/>
          </a:xfrm>
          <a:prstGeom prst="ellipse">
            <a:avLst/>
          </a:prstGeom>
          <a:solidFill>
            <a:srgbClr val="FFFFFF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87" name="Google Shape;87;p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731252" y="1728216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3"/>
          <p:cNvSpPr/>
          <p:nvPr/>
        </p:nvSpPr>
        <p:spPr>
          <a:xfrm>
            <a:off x="6894576" y="1993392"/>
            <a:ext cx="19659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Accept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3"/>
          <p:cNvSpPr/>
          <p:nvPr/>
        </p:nvSpPr>
        <p:spPr>
          <a:xfrm>
            <a:off x="7059168" y="2468880"/>
            <a:ext cx="1636776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Acknowledge and retain the risk, with sign-off.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3"/>
          <p:cNvSpPr/>
          <p:nvPr/>
        </p:nvSpPr>
        <p:spPr>
          <a:xfrm>
            <a:off x="7059168" y="3520440"/>
            <a:ext cx="1636776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3C8C5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3C8C5A"/>
                </a:solidFill>
                <a:latin typeface="Calibri"/>
                <a:ea typeface="Calibri"/>
                <a:cs typeface="Calibri"/>
                <a:sym typeface="Calibri"/>
              </a:rPr>
              <a:t>e.g.  </a:t>
            </a:r>
            <a:r>
              <a:rPr b="0" i="1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Residual risk is already within appetite; document it.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3"/>
          <p:cNvSpPr/>
          <p:nvPr/>
        </p:nvSpPr>
        <p:spPr>
          <a:xfrm>
            <a:off x="502920" y="4681728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50"/>
              <a:buFont typeface="Calibri"/>
              <a:buNone/>
            </a:pPr>
            <a:r>
              <a:rPr b="0" i="1" lang="en-US" sz="11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Often blended — e.g. mitigate the bulk of a risk, then transfer the remainder via insurance.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3"/>
          <p:cNvSpPr/>
          <p:nvPr/>
        </p:nvSpPr>
        <p:spPr>
          <a:xfrm>
            <a:off x="8229600" y="4828032"/>
            <a:ext cx="8229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3 / 16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4"/>
          <p:cNvSpPr/>
          <p:nvPr/>
        </p:nvSpPr>
        <p:spPr>
          <a:xfrm>
            <a:off x="502920" y="384048"/>
            <a:ext cx="8229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7C86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E7C86"/>
                </a:solidFill>
                <a:latin typeface="Calibri"/>
                <a:ea typeface="Calibri"/>
                <a:cs typeface="Calibri"/>
                <a:sym typeface="Calibri"/>
              </a:rPr>
              <a:t>DECISION LOGIC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4"/>
          <p:cNvSpPr/>
          <p:nvPr/>
        </p:nvSpPr>
        <p:spPr>
          <a:xfrm>
            <a:off x="502920" y="676656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545"/>
              </a:buClr>
              <a:buSzPts val="2800"/>
              <a:buFont typeface="Cambria"/>
              <a:buNone/>
            </a:pPr>
            <a:r>
              <a:rPr b="1" i="0" lang="en-US" sz="2800" u="none" cap="none" strike="noStrike">
                <a:solidFill>
                  <a:srgbClr val="0B2545"/>
                </a:solidFill>
                <a:latin typeface="Cambria"/>
                <a:ea typeface="Cambria"/>
                <a:cs typeface="Cambria"/>
                <a:sym typeface="Cambria"/>
              </a:rPr>
              <a:t>How to choose: drive residual risk into appetite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4"/>
          <p:cNvSpPr/>
          <p:nvPr/>
        </p:nvSpPr>
        <p:spPr>
          <a:xfrm>
            <a:off x="502920" y="1463040"/>
            <a:ext cx="5212080" cy="658368"/>
          </a:xfrm>
          <a:prstGeom prst="roundRect">
            <a:avLst>
              <a:gd fmla="val 11111" name="adj"/>
            </a:avLst>
          </a:prstGeom>
          <a:solidFill>
            <a:srgbClr val="FFFFFF"/>
          </a:solidFill>
          <a:ln cap="flat" cmpd="sng" w="9525">
            <a:solidFill>
              <a:srgbClr val="D8DEE6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4"/>
          <p:cNvSpPr/>
          <p:nvPr/>
        </p:nvSpPr>
        <p:spPr>
          <a:xfrm>
            <a:off x="658368" y="1609344"/>
            <a:ext cx="365760" cy="365760"/>
          </a:xfrm>
          <a:prstGeom prst="ellipse">
            <a:avLst/>
          </a:prstGeom>
          <a:solidFill>
            <a:srgbClr val="0E7C8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4"/>
          <p:cNvSpPr/>
          <p:nvPr/>
        </p:nvSpPr>
        <p:spPr>
          <a:xfrm>
            <a:off x="658368" y="1609344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1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4"/>
          <p:cNvSpPr/>
          <p:nvPr/>
        </p:nvSpPr>
        <p:spPr>
          <a:xfrm>
            <a:off x="1188720" y="1517904"/>
            <a:ext cx="43891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545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B2545"/>
                </a:solidFill>
                <a:latin typeface="Calibri"/>
                <a:ea typeface="Calibri"/>
                <a:cs typeface="Calibri"/>
                <a:sym typeface="Calibri"/>
              </a:rPr>
              <a:t>Score the risk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4"/>
          <p:cNvSpPr/>
          <p:nvPr/>
        </p:nvSpPr>
        <p:spPr>
          <a:xfrm>
            <a:off x="1188720" y="1792224"/>
            <a:ext cx="43891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Likelihood × Impact gives the inherent score.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4"/>
          <p:cNvSpPr/>
          <p:nvPr/>
        </p:nvSpPr>
        <p:spPr>
          <a:xfrm>
            <a:off x="502920" y="2221992"/>
            <a:ext cx="5212080" cy="658368"/>
          </a:xfrm>
          <a:prstGeom prst="roundRect">
            <a:avLst>
              <a:gd fmla="val 11111" name="adj"/>
            </a:avLst>
          </a:prstGeom>
          <a:solidFill>
            <a:srgbClr val="FFFFFF"/>
          </a:solidFill>
          <a:ln cap="flat" cmpd="sng" w="9525">
            <a:solidFill>
              <a:srgbClr val="D8DEE6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4"/>
          <p:cNvSpPr/>
          <p:nvPr/>
        </p:nvSpPr>
        <p:spPr>
          <a:xfrm>
            <a:off x="658368" y="2368296"/>
            <a:ext cx="365760" cy="365760"/>
          </a:xfrm>
          <a:prstGeom prst="ellipse">
            <a:avLst/>
          </a:prstGeom>
          <a:solidFill>
            <a:srgbClr val="0E7C8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4"/>
          <p:cNvSpPr/>
          <p:nvPr/>
        </p:nvSpPr>
        <p:spPr>
          <a:xfrm>
            <a:off x="658368" y="2368296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2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4"/>
          <p:cNvSpPr/>
          <p:nvPr/>
        </p:nvSpPr>
        <p:spPr>
          <a:xfrm>
            <a:off x="1188720" y="2276856"/>
            <a:ext cx="43891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545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B2545"/>
                </a:solidFill>
                <a:latin typeface="Calibri"/>
                <a:ea typeface="Calibri"/>
                <a:cs typeface="Calibri"/>
                <a:sym typeface="Calibri"/>
              </a:rPr>
              <a:t>Compare to appetite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4"/>
          <p:cNvSpPr/>
          <p:nvPr/>
        </p:nvSpPr>
        <p:spPr>
          <a:xfrm>
            <a:off x="1188720" y="2551176"/>
            <a:ext cx="43891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Is the score above the line leadership will tolerate?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4"/>
          <p:cNvSpPr/>
          <p:nvPr/>
        </p:nvSpPr>
        <p:spPr>
          <a:xfrm>
            <a:off x="502920" y="2980944"/>
            <a:ext cx="5212080" cy="658368"/>
          </a:xfrm>
          <a:prstGeom prst="roundRect">
            <a:avLst>
              <a:gd fmla="val 11111" name="adj"/>
            </a:avLst>
          </a:prstGeom>
          <a:solidFill>
            <a:srgbClr val="FFFFFF"/>
          </a:solidFill>
          <a:ln cap="flat" cmpd="sng" w="9525">
            <a:solidFill>
              <a:srgbClr val="D8DEE6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4"/>
          <p:cNvSpPr/>
          <p:nvPr/>
        </p:nvSpPr>
        <p:spPr>
          <a:xfrm>
            <a:off x="658368" y="3127248"/>
            <a:ext cx="365760" cy="365760"/>
          </a:xfrm>
          <a:prstGeom prst="ellipse">
            <a:avLst/>
          </a:prstGeom>
          <a:solidFill>
            <a:srgbClr val="0E7C8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4"/>
          <p:cNvSpPr/>
          <p:nvPr/>
        </p:nvSpPr>
        <p:spPr>
          <a:xfrm>
            <a:off x="658368" y="3127248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3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4"/>
          <p:cNvSpPr/>
          <p:nvPr/>
        </p:nvSpPr>
        <p:spPr>
          <a:xfrm>
            <a:off x="1188720" y="3035808"/>
            <a:ext cx="43891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545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B2545"/>
                </a:solidFill>
                <a:latin typeface="Calibri"/>
                <a:ea typeface="Calibri"/>
                <a:cs typeface="Calibri"/>
                <a:sym typeface="Calibri"/>
              </a:rPr>
              <a:t>Select a response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4"/>
          <p:cNvSpPr/>
          <p:nvPr/>
        </p:nvSpPr>
        <p:spPr>
          <a:xfrm>
            <a:off x="1188720" y="3310128"/>
            <a:ext cx="43891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Within appetite → Accept. Above it → Avoid, Mitigate, or Transfer.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4"/>
          <p:cNvSpPr/>
          <p:nvPr/>
        </p:nvSpPr>
        <p:spPr>
          <a:xfrm>
            <a:off x="502920" y="3739896"/>
            <a:ext cx="5212080" cy="658368"/>
          </a:xfrm>
          <a:prstGeom prst="roundRect">
            <a:avLst>
              <a:gd fmla="val 11111" name="adj"/>
            </a:avLst>
          </a:prstGeom>
          <a:solidFill>
            <a:srgbClr val="FFFFFF"/>
          </a:solidFill>
          <a:ln cap="flat" cmpd="sng" w="9525">
            <a:solidFill>
              <a:srgbClr val="D8DEE6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4"/>
          <p:cNvSpPr/>
          <p:nvPr/>
        </p:nvSpPr>
        <p:spPr>
          <a:xfrm>
            <a:off x="658368" y="3886200"/>
            <a:ext cx="365760" cy="365760"/>
          </a:xfrm>
          <a:prstGeom prst="ellipse">
            <a:avLst/>
          </a:prstGeom>
          <a:solidFill>
            <a:srgbClr val="0E7C8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4"/>
          <p:cNvSpPr/>
          <p:nvPr/>
        </p:nvSpPr>
        <p:spPr>
          <a:xfrm>
            <a:off x="658368" y="3886200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4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4"/>
          <p:cNvSpPr/>
          <p:nvPr/>
        </p:nvSpPr>
        <p:spPr>
          <a:xfrm>
            <a:off x="1188720" y="3794760"/>
            <a:ext cx="43891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545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B2545"/>
                </a:solidFill>
                <a:latin typeface="Calibri"/>
                <a:ea typeface="Calibri"/>
                <a:cs typeface="Calibri"/>
                <a:sym typeface="Calibri"/>
              </a:rPr>
              <a:t>Re-score residual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4"/>
          <p:cNvSpPr/>
          <p:nvPr/>
        </p:nvSpPr>
        <p:spPr>
          <a:xfrm>
            <a:off x="1188720" y="4069080"/>
            <a:ext cx="43891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Confirm the treated risk now sits within appetite.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4"/>
          <p:cNvSpPr/>
          <p:nvPr/>
        </p:nvSpPr>
        <p:spPr>
          <a:xfrm>
            <a:off x="5943600" y="1463040"/>
            <a:ext cx="2697480" cy="2880360"/>
          </a:xfrm>
          <a:prstGeom prst="roundRect">
            <a:avLst>
              <a:gd fmla="val 2712" name="adj"/>
            </a:avLst>
          </a:prstGeom>
          <a:solidFill>
            <a:srgbClr val="0B2545"/>
          </a:solidFill>
          <a:ln cap="flat" cmpd="sng" w="9525">
            <a:solidFill>
              <a:srgbClr val="D8DEE6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4"/>
          <p:cNvSpPr/>
          <p:nvPr/>
        </p:nvSpPr>
        <p:spPr>
          <a:xfrm>
            <a:off x="6126480" y="1627632"/>
            <a:ext cx="23774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A3A0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CA3A0"/>
                </a:solidFill>
                <a:latin typeface="Calibri"/>
                <a:ea typeface="Calibri"/>
                <a:cs typeface="Calibri"/>
                <a:sym typeface="Calibri"/>
              </a:rPr>
              <a:t>Rule of thumb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4"/>
          <p:cNvSpPr/>
          <p:nvPr/>
        </p:nvSpPr>
        <p:spPr>
          <a:xfrm>
            <a:off x="6126480" y="2011680"/>
            <a:ext cx="237744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E0922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E0922F"/>
                </a:solidFill>
                <a:latin typeface="Calibri"/>
                <a:ea typeface="Calibri"/>
                <a:cs typeface="Calibri"/>
                <a:sym typeface="Calibri"/>
              </a:rPr>
              <a:t>Critical / High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→ Avoid, Mitigate or Transfer — act now.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br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Medium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→ Mitigate where cost-effective; else Accept with review.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br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CA3A0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CA3A0"/>
                </a:solidFill>
                <a:latin typeface="Calibri"/>
                <a:ea typeface="Calibri"/>
                <a:cs typeface="Calibri"/>
                <a:sym typeface="Calibri"/>
              </a:rPr>
              <a:t>Low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→ Accept and monitor.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4"/>
          <p:cNvSpPr/>
          <p:nvPr/>
        </p:nvSpPr>
        <p:spPr>
          <a:xfrm>
            <a:off x="8229600" y="4828032"/>
            <a:ext cx="8229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4 / 16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5"/>
          <p:cNvSpPr/>
          <p:nvPr/>
        </p:nvSpPr>
        <p:spPr>
          <a:xfrm>
            <a:off x="502920" y="384048"/>
            <a:ext cx="8229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7C86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E7C86"/>
                </a:solidFill>
                <a:latin typeface="Calibri"/>
                <a:ea typeface="Calibri"/>
                <a:cs typeface="Calibri"/>
                <a:sym typeface="Calibri"/>
              </a:rPr>
              <a:t>MITIGATION IN DETAIL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5"/>
          <p:cNvSpPr/>
          <p:nvPr/>
        </p:nvSpPr>
        <p:spPr>
          <a:xfrm>
            <a:off x="502920" y="676656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545"/>
              </a:buClr>
              <a:buSzPts val="2800"/>
              <a:buFont typeface="Cambria"/>
              <a:buNone/>
            </a:pPr>
            <a:r>
              <a:rPr b="1" i="0" lang="en-US" sz="2800" u="none" cap="none" strike="noStrike">
                <a:solidFill>
                  <a:srgbClr val="0B2545"/>
                </a:solidFill>
                <a:latin typeface="Cambria"/>
                <a:ea typeface="Cambria"/>
                <a:cs typeface="Cambria"/>
                <a:sym typeface="Cambria"/>
              </a:rPr>
              <a:t>Selecting controls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5"/>
          <p:cNvSpPr/>
          <p:nvPr/>
        </p:nvSpPr>
        <p:spPr>
          <a:xfrm>
            <a:off x="502920" y="1298448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Once you choose to mitigate, pick controls by what they do in the attack timeline.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5"/>
          <p:cNvSpPr/>
          <p:nvPr/>
        </p:nvSpPr>
        <p:spPr>
          <a:xfrm>
            <a:off x="502920" y="1737360"/>
            <a:ext cx="2560320" cy="2331720"/>
          </a:xfrm>
          <a:prstGeom prst="roundRect">
            <a:avLst>
              <a:gd fmla="val 3137" name="adj"/>
            </a:avLst>
          </a:prstGeom>
          <a:solidFill>
            <a:srgbClr val="FFFFFF"/>
          </a:solidFill>
          <a:ln cap="flat" cmpd="sng" w="9525">
            <a:solidFill>
              <a:srgbClr val="D8DEE6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5"/>
          <p:cNvSpPr/>
          <p:nvPr/>
        </p:nvSpPr>
        <p:spPr>
          <a:xfrm>
            <a:off x="502920" y="1737360"/>
            <a:ext cx="2560320" cy="566928"/>
          </a:xfrm>
          <a:prstGeom prst="roundRect">
            <a:avLst>
              <a:gd fmla="val 12903" name="adj"/>
            </a:avLst>
          </a:prstGeom>
          <a:solidFill>
            <a:srgbClr val="0E7C8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5"/>
          <p:cNvSpPr/>
          <p:nvPr/>
        </p:nvSpPr>
        <p:spPr>
          <a:xfrm>
            <a:off x="685800" y="1737360"/>
            <a:ext cx="22860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Preventive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5"/>
          <p:cNvSpPr/>
          <p:nvPr/>
        </p:nvSpPr>
        <p:spPr>
          <a:xfrm>
            <a:off x="685800" y="2450592"/>
            <a:ext cx="22402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0B2545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B2545"/>
                </a:solidFill>
                <a:latin typeface="Calibri"/>
                <a:ea typeface="Calibri"/>
                <a:cs typeface="Calibri"/>
                <a:sym typeface="Calibri"/>
              </a:rPr>
              <a:t>Stop the event before it happens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5"/>
          <p:cNvSpPr/>
          <p:nvPr/>
        </p:nvSpPr>
        <p:spPr>
          <a:xfrm>
            <a:off x="685800" y="3108960"/>
            <a:ext cx="224028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MFA · patching · encryption · access control · training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5"/>
          <p:cNvSpPr/>
          <p:nvPr/>
        </p:nvSpPr>
        <p:spPr>
          <a:xfrm>
            <a:off x="3227832" y="1737360"/>
            <a:ext cx="2560320" cy="2331720"/>
          </a:xfrm>
          <a:prstGeom prst="roundRect">
            <a:avLst>
              <a:gd fmla="val 3137" name="adj"/>
            </a:avLst>
          </a:prstGeom>
          <a:solidFill>
            <a:srgbClr val="FFFFFF"/>
          </a:solidFill>
          <a:ln cap="flat" cmpd="sng" w="9525">
            <a:solidFill>
              <a:srgbClr val="D8DEE6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5"/>
          <p:cNvSpPr/>
          <p:nvPr/>
        </p:nvSpPr>
        <p:spPr>
          <a:xfrm>
            <a:off x="3227832" y="1737360"/>
            <a:ext cx="2560320" cy="566928"/>
          </a:xfrm>
          <a:prstGeom prst="roundRect">
            <a:avLst>
              <a:gd fmla="val 12903" name="adj"/>
            </a:avLst>
          </a:prstGeom>
          <a:solidFill>
            <a:srgbClr val="E0922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5"/>
          <p:cNvSpPr/>
          <p:nvPr/>
        </p:nvSpPr>
        <p:spPr>
          <a:xfrm>
            <a:off x="3410712" y="1737360"/>
            <a:ext cx="22860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Detective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5"/>
          <p:cNvSpPr/>
          <p:nvPr/>
        </p:nvSpPr>
        <p:spPr>
          <a:xfrm>
            <a:off x="3410712" y="2450592"/>
            <a:ext cx="22402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0B2545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B2545"/>
                </a:solidFill>
                <a:latin typeface="Calibri"/>
                <a:ea typeface="Calibri"/>
                <a:cs typeface="Calibri"/>
                <a:sym typeface="Calibri"/>
              </a:rPr>
              <a:t>Spot it quickly when it occurs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5"/>
          <p:cNvSpPr/>
          <p:nvPr/>
        </p:nvSpPr>
        <p:spPr>
          <a:xfrm>
            <a:off x="3410712" y="3108960"/>
            <a:ext cx="224028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Logging · monitoring · IDS/IPS · alerts · audits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5"/>
          <p:cNvSpPr/>
          <p:nvPr/>
        </p:nvSpPr>
        <p:spPr>
          <a:xfrm>
            <a:off x="5952744" y="1737360"/>
            <a:ext cx="2560320" cy="2331720"/>
          </a:xfrm>
          <a:prstGeom prst="roundRect">
            <a:avLst>
              <a:gd fmla="val 3137" name="adj"/>
            </a:avLst>
          </a:prstGeom>
          <a:solidFill>
            <a:srgbClr val="FFFFFF"/>
          </a:solidFill>
          <a:ln cap="flat" cmpd="sng" w="9525">
            <a:solidFill>
              <a:srgbClr val="D8DEE6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5"/>
          <p:cNvSpPr/>
          <p:nvPr/>
        </p:nvSpPr>
        <p:spPr>
          <a:xfrm>
            <a:off x="5952744" y="1737360"/>
            <a:ext cx="2560320" cy="566928"/>
          </a:xfrm>
          <a:prstGeom prst="roundRect">
            <a:avLst>
              <a:gd fmla="val 12903" name="adj"/>
            </a:avLst>
          </a:prstGeom>
          <a:solidFill>
            <a:srgbClr val="1335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5"/>
          <p:cNvSpPr/>
          <p:nvPr/>
        </p:nvSpPr>
        <p:spPr>
          <a:xfrm>
            <a:off x="6135624" y="1737360"/>
            <a:ext cx="22860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Corrective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5"/>
          <p:cNvSpPr/>
          <p:nvPr/>
        </p:nvSpPr>
        <p:spPr>
          <a:xfrm>
            <a:off x="6135624" y="2450592"/>
            <a:ext cx="22402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0B2545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B2545"/>
                </a:solidFill>
                <a:latin typeface="Calibri"/>
                <a:ea typeface="Calibri"/>
                <a:cs typeface="Calibri"/>
                <a:sym typeface="Calibri"/>
              </a:rPr>
              <a:t>Limit damage and recover after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5"/>
          <p:cNvSpPr/>
          <p:nvPr/>
        </p:nvSpPr>
        <p:spPr>
          <a:xfrm>
            <a:off x="6135624" y="3108960"/>
            <a:ext cx="224028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Backups · incident response · failover · patches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5"/>
          <p:cNvSpPr/>
          <p:nvPr/>
        </p:nvSpPr>
        <p:spPr>
          <a:xfrm>
            <a:off x="502920" y="4251960"/>
            <a:ext cx="8138160" cy="502920"/>
          </a:xfrm>
          <a:prstGeom prst="roundRect">
            <a:avLst>
              <a:gd fmla="val 10909" name="adj"/>
            </a:avLst>
          </a:prstGeom>
          <a:solidFill>
            <a:srgbClr val="E3F2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5"/>
          <p:cNvSpPr/>
          <p:nvPr/>
        </p:nvSpPr>
        <p:spPr>
          <a:xfrm>
            <a:off x="502920" y="4251960"/>
            <a:ext cx="81381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E7C86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E7C86"/>
                </a:solidFill>
                <a:latin typeface="Calibri"/>
                <a:ea typeface="Calibri"/>
                <a:cs typeface="Calibri"/>
                <a:sym typeface="Calibri"/>
              </a:rPr>
              <a:t>Defence in depth: layer all three so no single control failure is catastrophic.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5"/>
          <p:cNvSpPr/>
          <p:nvPr/>
        </p:nvSpPr>
        <p:spPr>
          <a:xfrm>
            <a:off x="8229600" y="4828032"/>
            <a:ext cx="8229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5 / 16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6"/>
          <p:cNvSpPr/>
          <p:nvPr/>
        </p:nvSpPr>
        <p:spPr>
          <a:xfrm>
            <a:off x="502920" y="384048"/>
            <a:ext cx="8229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7C86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E7C86"/>
                </a:solidFill>
                <a:latin typeface="Calibri"/>
                <a:ea typeface="Calibri"/>
                <a:cs typeface="Calibri"/>
                <a:sym typeface="Calibri"/>
              </a:rPr>
              <a:t>THE CORE ARTEFACT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6"/>
          <p:cNvSpPr/>
          <p:nvPr/>
        </p:nvSpPr>
        <p:spPr>
          <a:xfrm>
            <a:off x="502920" y="676656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545"/>
              </a:buClr>
              <a:buSzPts val="2800"/>
              <a:buFont typeface="Cambria"/>
              <a:buNone/>
            </a:pPr>
            <a:r>
              <a:rPr b="1" i="0" lang="en-US" sz="2800" u="none" cap="none" strike="noStrike">
                <a:solidFill>
                  <a:srgbClr val="0B2545"/>
                </a:solidFill>
                <a:latin typeface="Cambria"/>
                <a:ea typeface="Cambria"/>
                <a:cs typeface="Cambria"/>
                <a:sym typeface="Cambria"/>
              </a:rPr>
              <a:t>Anatomy of a Risk Register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6"/>
          <p:cNvSpPr/>
          <p:nvPr/>
        </p:nvSpPr>
        <p:spPr>
          <a:xfrm>
            <a:off x="502920" y="1298448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A register is the single source of truth for every identified risk and its treatment.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6"/>
          <p:cNvSpPr/>
          <p:nvPr/>
        </p:nvSpPr>
        <p:spPr>
          <a:xfrm>
            <a:off x="502920" y="1783080"/>
            <a:ext cx="3977640" cy="603504"/>
          </a:xfrm>
          <a:prstGeom prst="roundRect">
            <a:avLst>
              <a:gd fmla="val 12121" name="adj"/>
            </a:avLst>
          </a:prstGeom>
          <a:solidFill>
            <a:srgbClr val="FFFFFF"/>
          </a:solidFill>
          <a:ln cap="flat" cmpd="sng" w="9525">
            <a:solidFill>
              <a:srgbClr val="D8DEE6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6"/>
          <p:cNvSpPr/>
          <p:nvPr/>
        </p:nvSpPr>
        <p:spPr>
          <a:xfrm>
            <a:off x="612648" y="1901952"/>
            <a:ext cx="1554480" cy="365760"/>
          </a:xfrm>
          <a:prstGeom prst="roundRect">
            <a:avLst>
              <a:gd fmla="val 12500" name="adj"/>
            </a:avLst>
          </a:prstGeom>
          <a:solidFill>
            <a:srgbClr val="0B254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6"/>
          <p:cNvSpPr/>
          <p:nvPr/>
        </p:nvSpPr>
        <p:spPr>
          <a:xfrm>
            <a:off x="612648" y="1901952"/>
            <a:ext cx="1554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ID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6"/>
          <p:cNvSpPr/>
          <p:nvPr/>
        </p:nvSpPr>
        <p:spPr>
          <a:xfrm>
            <a:off x="2286000" y="1783080"/>
            <a:ext cx="2103120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Unique reference (R-01)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6"/>
          <p:cNvSpPr/>
          <p:nvPr/>
        </p:nvSpPr>
        <p:spPr>
          <a:xfrm>
            <a:off x="4663440" y="1783080"/>
            <a:ext cx="3977640" cy="603504"/>
          </a:xfrm>
          <a:prstGeom prst="roundRect">
            <a:avLst>
              <a:gd fmla="val 12121" name="adj"/>
            </a:avLst>
          </a:prstGeom>
          <a:solidFill>
            <a:srgbClr val="FFFFFF"/>
          </a:solidFill>
          <a:ln cap="flat" cmpd="sng" w="9525">
            <a:solidFill>
              <a:srgbClr val="D8DEE6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6"/>
          <p:cNvSpPr/>
          <p:nvPr/>
        </p:nvSpPr>
        <p:spPr>
          <a:xfrm>
            <a:off x="4773168" y="1901952"/>
            <a:ext cx="1554480" cy="365760"/>
          </a:xfrm>
          <a:prstGeom prst="roundRect">
            <a:avLst>
              <a:gd fmla="val 12500" name="adj"/>
            </a:avLst>
          </a:prstGeom>
          <a:solidFill>
            <a:srgbClr val="0B254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6"/>
          <p:cNvSpPr/>
          <p:nvPr/>
        </p:nvSpPr>
        <p:spPr>
          <a:xfrm>
            <a:off x="4773168" y="1901952"/>
            <a:ext cx="1554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Risk description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6"/>
          <p:cNvSpPr/>
          <p:nvPr/>
        </p:nvSpPr>
        <p:spPr>
          <a:xfrm>
            <a:off x="6446520" y="1783080"/>
            <a:ext cx="2103120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The scenario in plain language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6"/>
          <p:cNvSpPr/>
          <p:nvPr/>
        </p:nvSpPr>
        <p:spPr>
          <a:xfrm>
            <a:off x="502920" y="2496312"/>
            <a:ext cx="3977640" cy="603504"/>
          </a:xfrm>
          <a:prstGeom prst="roundRect">
            <a:avLst>
              <a:gd fmla="val 12121" name="adj"/>
            </a:avLst>
          </a:prstGeom>
          <a:solidFill>
            <a:srgbClr val="FFFFFF"/>
          </a:solidFill>
          <a:ln cap="flat" cmpd="sng" w="9525">
            <a:solidFill>
              <a:srgbClr val="D8DEE6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6"/>
          <p:cNvSpPr/>
          <p:nvPr/>
        </p:nvSpPr>
        <p:spPr>
          <a:xfrm>
            <a:off x="612648" y="2615184"/>
            <a:ext cx="1554480" cy="365760"/>
          </a:xfrm>
          <a:prstGeom prst="roundRect">
            <a:avLst>
              <a:gd fmla="val 12500" name="adj"/>
            </a:avLst>
          </a:prstGeom>
          <a:solidFill>
            <a:srgbClr val="0B254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6"/>
          <p:cNvSpPr/>
          <p:nvPr/>
        </p:nvSpPr>
        <p:spPr>
          <a:xfrm>
            <a:off x="612648" y="2615184"/>
            <a:ext cx="1554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Likelihood (L)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6"/>
          <p:cNvSpPr/>
          <p:nvPr/>
        </p:nvSpPr>
        <p:spPr>
          <a:xfrm>
            <a:off x="2286000" y="2496312"/>
            <a:ext cx="2103120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Rating 1–5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6"/>
          <p:cNvSpPr/>
          <p:nvPr/>
        </p:nvSpPr>
        <p:spPr>
          <a:xfrm>
            <a:off x="4663440" y="2496312"/>
            <a:ext cx="3977640" cy="603504"/>
          </a:xfrm>
          <a:prstGeom prst="roundRect">
            <a:avLst>
              <a:gd fmla="val 12121" name="adj"/>
            </a:avLst>
          </a:prstGeom>
          <a:solidFill>
            <a:srgbClr val="FFFFFF"/>
          </a:solidFill>
          <a:ln cap="flat" cmpd="sng" w="9525">
            <a:solidFill>
              <a:srgbClr val="D8DEE6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6"/>
          <p:cNvSpPr/>
          <p:nvPr/>
        </p:nvSpPr>
        <p:spPr>
          <a:xfrm>
            <a:off x="4773168" y="2615184"/>
            <a:ext cx="1554480" cy="365760"/>
          </a:xfrm>
          <a:prstGeom prst="roundRect">
            <a:avLst>
              <a:gd fmla="val 12500" name="adj"/>
            </a:avLst>
          </a:prstGeom>
          <a:solidFill>
            <a:srgbClr val="0B254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6"/>
          <p:cNvSpPr/>
          <p:nvPr/>
        </p:nvSpPr>
        <p:spPr>
          <a:xfrm>
            <a:off x="4773168" y="2615184"/>
            <a:ext cx="1554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Impact (I)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6"/>
          <p:cNvSpPr/>
          <p:nvPr/>
        </p:nvSpPr>
        <p:spPr>
          <a:xfrm>
            <a:off x="6446520" y="2496312"/>
            <a:ext cx="2103120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Rating 1–5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6"/>
          <p:cNvSpPr/>
          <p:nvPr/>
        </p:nvSpPr>
        <p:spPr>
          <a:xfrm>
            <a:off x="502920" y="3209544"/>
            <a:ext cx="3977640" cy="603504"/>
          </a:xfrm>
          <a:prstGeom prst="roundRect">
            <a:avLst>
              <a:gd fmla="val 12121" name="adj"/>
            </a:avLst>
          </a:prstGeom>
          <a:solidFill>
            <a:srgbClr val="FFFFFF"/>
          </a:solidFill>
          <a:ln cap="flat" cmpd="sng" w="9525">
            <a:solidFill>
              <a:srgbClr val="D8DEE6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6"/>
          <p:cNvSpPr/>
          <p:nvPr/>
        </p:nvSpPr>
        <p:spPr>
          <a:xfrm>
            <a:off x="612648" y="3328416"/>
            <a:ext cx="1554480" cy="365760"/>
          </a:xfrm>
          <a:prstGeom prst="roundRect">
            <a:avLst>
              <a:gd fmla="val 12500" name="adj"/>
            </a:avLst>
          </a:prstGeom>
          <a:solidFill>
            <a:srgbClr val="0B254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6"/>
          <p:cNvSpPr/>
          <p:nvPr/>
        </p:nvSpPr>
        <p:spPr>
          <a:xfrm>
            <a:off x="612648" y="3328416"/>
            <a:ext cx="1554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Score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6"/>
          <p:cNvSpPr/>
          <p:nvPr/>
        </p:nvSpPr>
        <p:spPr>
          <a:xfrm>
            <a:off x="2286000" y="3209544"/>
            <a:ext cx="2103120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L × I — drives priority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6"/>
          <p:cNvSpPr/>
          <p:nvPr/>
        </p:nvSpPr>
        <p:spPr>
          <a:xfrm>
            <a:off x="4663440" y="3209544"/>
            <a:ext cx="3977640" cy="603504"/>
          </a:xfrm>
          <a:prstGeom prst="roundRect">
            <a:avLst>
              <a:gd fmla="val 12121" name="adj"/>
            </a:avLst>
          </a:prstGeom>
          <a:solidFill>
            <a:srgbClr val="FFFFFF"/>
          </a:solidFill>
          <a:ln cap="flat" cmpd="sng" w="9525">
            <a:solidFill>
              <a:srgbClr val="D8DEE6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6"/>
          <p:cNvSpPr/>
          <p:nvPr/>
        </p:nvSpPr>
        <p:spPr>
          <a:xfrm>
            <a:off x="4773168" y="3328416"/>
            <a:ext cx="1554480" cy="365760"/>
          </a:xfrm>
          <a:prstGeom prst="roundRect">
            <a:avLst>
              <a:gd fmla="val 12500" name="adj"/>
            </a:avLst>
          </a:prstGeom>
          <a:solidFill>
            <a:srgbClr val="0B254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6"/>
          <p:cNvSpPr/>
          <p:nvPr/>
        </p:nvSpPr>
        <p:spPr>
          <a:xfrm>
            <a:off x="4773168" y="3328416"/>
            <a:ext cx="1554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Owner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6"/>
          <p:cNvSpPr/>
          <p:nvPr/>
        </p:nvSpPr>
        <p:spPr>
          <a:xfrm>
            <a:off x="6446520" y="3209544"/>
            <a:ext cx="2103120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The accountable person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6"/>
          <p:cNvSpPr/>
          <p:nvPr/>
        </p:nvSpPr>
        <p:spPr>
          <a:xfrm>
            <a:off x="502920" y="3922776"/>
            <a:ext cx="3977640" cy="603504"/>
          </a:xfrm>
          <a:prstGeom prst="roundRect">
            <a:avLst>
              <a:gd fmla="val 12121" name="adj"/>
            </a:avLst>
          </a:prstGeom>
          <a:solidFill>
            <a:srgbClr val="FFFFFF"/>
          </a:solidFill>
          <a:ln cap="flat" cmpd="sng" w="9525">
            <a:solidFill>
              <a:srgbClr val="D8DEE6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6"/>
          <p:cNvSpPr/>
          <p:nvPr/>
        </p:nvSpPr>
        <p:spPr>
          <a:xfrm>
            <a:off x="612648" y="4041648"/>
            <a:ext cx="1554480" cy="365760"/>
          </a:xfrm>
          <a:prstGeom prst="roundRect">
            <a:avLst>
              <a:gd fmla="val 12500" name="adj"/>
            </a:avLst>
          </a:prstGeom>
          <a:solidFill>
            <a:srgbClr val="0B254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6"/>
          <p:cNvSpPr/>
          <p:nvPr/>
        </p:nvSpPr>
        <p:spPr>
          <a:xfrm>
            <a:off x="612648" y="4041648"/>
            <a:ext cx="1554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Treatment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6"/>
          <p:cNvSpPr/>
          <p:nvPr/>
        </p:nvSpPr>
        <p:spPr>
          <a:xfrm>
            <a:off x="2286000" y="3922776"/>
            <a:ext cx="2103120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Avoid / Mitigate / Transfer / Accept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6"/>
          <p:cNvSpPr/>
          <p:nvPr/>
        </p:nvSpPr>
        <p:spPr>
          <a:xfrm>
            <a:off x="4663440" y="3922776"/>
            <a:ext cx="3977640" cy="603504"/>
          </a:xfrm>
          <a:prstGeom prst="roundRect">
            <a:avLst>
              <a:gd fmla="val 12121" name="adj"/>
            </a:avLst>
          </a:prstGeom>
          <a:solidFill>
            <a:srgbClr val="FFFFFF"/>
          </a:solidFill>
          <a:ln cap="flat" cmpd="sng" w="9525">
            <a:solidFill>
              <a:srgbClr val="D8DEE6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6"/>
          <p:cNvSpPr/>
          <p:nvPr/>
        </p:nvSpPr>
        <p:spPr>
          <a:xfrm>
            <a:off x="4773168" y="4041648"/>
            <a:ext cx="1554480" cy="365760"/>
          </a:xfrm>
          <a:prstGeom prst="roundRect">
            <a:avLst>
              <a:gd fmla="val 12500" name="adj"/>
            </a:avLst>
          </a:prstGeom>
          <a:solidFill>
            <a:srgbClr val="0B254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6"/>
          <p:cNvSpPr/>
          <p:nvPr/>
        </p:nvSpPr>
        <p:spPr>
          <a:xfrm>
            <a:off x="4773168" y="4041648"/>
            <a:ext cx="1554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Status &amp; review date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6"/>
          <p:cNvSpPr/>
          <p:nvPr/>
        </p:nvSpPr>
        <p:spPr>
          <a:xfrm>
            <a:off x="6446520" y="3922776"/>
            <a:ext cx="2103120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Open / treated; next review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6"/>
          <p:cNvSpPr/>
          <p:nvPr/>
        </p:nvSpPr>
        <p:spPr>
          <a:xfrm>
            <a:off x="8229600" y="4828032"/>
            <a:ext cx="8229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6 / 16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7"/>
          <p:cNvSpPr/>
          <p:nvPr/>
        </p:nvSpPr>
        <p:spPr>
          <a:xfrm>
            <a:off x="502920" y="384048"/>
            <a:ext cx="8229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7C86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E7C86"/>
                </a:solidFill>
                <a:latin typeface="Calibri"/>
                <a:ea typeface="Calibri"/>
                <a:cs typeface="Calibri"/>
                <a:sym typeface="Calibri"/>
              </a:rPr>
              <a:t>RISK REGISTER · NORTHWIND RETAIL CO. · PART 1 OF 2 · R-01–R-05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7"/>
          <p:cNvSpPr/>
          <p:nvPr/>
        </p:nvSpPr>
        <p:spPr>
          <a:xfrm>
            <a:off x="502920" y="676656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545"/>
              </a:buClr>
              <a:buSzPts val="2800"/>
              <a:buFont typeface="Cambria"/>
              <a:buNone/>
            </a:pPr>
            <a:r>
              <a:rPr b="1" i="0" lang="en-US" sz="2800" u="none" cap="none" strike="noStrike">
                <a:solidFill>
                  <a:srgbClr val="0B2545"/>
                </a:solidFill>
                <a:latin typeface="Cambria"/>
                <a:ea typeface="Cambria"/>
                <a:cs typeface="Cambria"/>
                <a:sym typeface="Cambria"/>
              </a:rPr>
              <a:t>Full Risk Register (10 risks)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98" name="Google Shape;198;p7"/>
          <p:cNvGraphicFramePr/>
          <p:nvPr/>
        </p:nvGraphicFramePr>
        <p:xfrm>
          <a:off x="365760" y="146304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{D25144CC-692B-4EE5-B563-7098643C743D}</a:tableStyleId>
              </a:tblPr>
              <a:tblGrid>
                <a:gridCol w="594350"/>
                <a:gridCol w="3063250"/>
                <a:gridCol w="411475"/>
                <a:gridCol w="411475"/>
                <a:gridCol w="731525"/>
                <a:gridCol w="1554475"/>
                <a:gridCol w="1645925"/>
              </a:tblGrid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ID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88900" marL="88900" anchor="ctr">
                    <a:lnL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Risk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88900" marL="88900" anchor="ctr">
                    <a:lnL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88900" marL="88900" anchor="ctr">
                    <a:lnL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88900" marL="88900" anchor="ctr">
                    <a:lnL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Score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88900" marL="88900" anchor="ctr">
                    <a:lnL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Owner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88900" marL="88900" anchor="ctr">
                    <a:lnL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Treatment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88900" marL="88900" anchor="ctr">
                    <a:lnL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2545"/>
                    </a:solidFill>
                  </a:tcPr>
                </a:tc>
              </a:tr>
              <a:tr h="566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R-01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88900" marL="88900" anchor="ctr">
                    <a:lnL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Ransomware via unpatched VPN gateway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88900" marL="88900" anchor="ctr">
                    <a:lnL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88900" marL="88900" anchor="ctr">
                    <a:lnL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88900" marL="88900" anchor="ctr">
                    <a:lnL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88900" marL="88900" anchor="ctr">
                    <a:lnL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041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IT Manager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88900" marL="88900" anchor="ctr">
                    <a:lnL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Mitigate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88900" marL="88900" anchor="ctr">
                    <a:lnL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E7C86"/>
                    </a:solidFill>
                  </a:tcPr>
                </a:tc>
              </a:tr>
              <a:tr h="566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R-02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88900" marL="88900" anchor="ctr">
                    <a:lnL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Phishing leading to credential theft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88900" marL="88900" anchor="ctr">
                    <a:lnL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88900" marL="88900" anchor="ctr">
                    <a:lnL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88900" marL="88900" anchor="ctr">
                    <a:lnL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88900" marL="88900" anchor="ctr">
                    <a:lnL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041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Security Lead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88900" marL="88900" anchor="ctr">
                    <a:lnL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Mitigate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88900" marL="88900" anchor="ctr">
                    <a:lnL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E7C86"/>
                    </a:solidFill>
                  </a:tcPr>
                </a:tc>
              </a:tr>
              <a:tr h="566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R-03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88900" marL="88900" anchor="ctr">
                    <a:lnL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Storing full card numbers in the order DB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88900" marL="88900" anchor="ctr">
                    <a:lnL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88900" marL="88900" anchor="ctr">
                    <a:lnL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88900" marL="88900" anchor="ctr">
                    <a:lnL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88900" marL="88900" anchor="ctr">
                    <a:lnL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041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CTO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88900" marL="88900" anchor="ctr">
                    <a:lnL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Avoid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88900" marL="88900" anchor="ctr">
                    <a:lnL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E3B46"/>
                    </a:solidFill>
                  </a:tcPr>
                </a:tc>
              </a:tr>
              <a:tr h="566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R-04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88900" marL="88900" anchor="ctr">
                    <a:lnL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Misconfigured public cloud storage bucket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88900" marL="88900" anchor="ctr">
                    <a:lnL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88900" marL="88900" anchor="ctr">
                    <a:lnL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88900" marL="88900" anchor="ctr">
                    <a:lnL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12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88900" marL="88900" anchor="ctr">
                    <a:lnL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0922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Cloud Engineer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88900" marL="88900" anchor="ctr">
                    <a:lnL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Mitigate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88900" marL="88900" anchor="ctr">
                    <a:lnL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E7C86"/>
                    </a:solidFill>
                  </a:tcPr>
                </a:tc>
              </a:tr>
              <a:tr h="566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R-05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88900" marL="88900" anchor="ctr">
                    <a:lnL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Lost / stolen unencrypted laptops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88900" marL="88900" anchor="ctr">
                    <a:lnL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88900" marL="88900" anchor="ctr">
                    <a:lnL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88900" marL="88900" anchor="ctr">
                    <a:lnL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12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88900" marL="88900" anchor="ctr">
                    <a:lnL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0922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IT Manager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88900" marL="88900" anchor="ctr">
                    <a:lnL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Mitigate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88900" marL="88900" anchor="ctr">
                    <a:lnL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E7C86"/>
                    </a:solidFill>
                  </a:tcPr>
                </a:tc>
              </a:tr>
            </a:tbl>
          </a:graphicData>
        </a:graphic>
      </p:graphicFrame>
      <p:sp>
        <p:nvSpPr>
          <p:cNvPr id="199" name="Google Shape;199;p7"/>
          <p:cNvSpPr/>
          <p:nvPr/>
        </p:nvSpPr>
        <p:spPr>
          <a:xfrm>
            <a:off x="365760" y="4681728"/>
            <a:ext cx="8412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alibri"/>
              <a:buNone/>
            </a:pPr>
            <a:r>
              <a:rPr b="0" i="1" lang="en-US" sz="10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L = Likelihood, I = Impact (1–5). Score = L × I. Colour: green Low · gold Moderate · amber High · red Critical.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7"/>
          <p:cNvSpPr/>
          <p:nvPr/>
        </p:nvSpPr>
        <p:spPr>
          <a:xfrm>
            <a:off x="8229600" y="4828032"/>
            <a:ext cx="8229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7 / 16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8"/>
          <p:cNvSpPr/>
          <p:nvPr/>
        </p:nvSpPr>
        <p:spPr>
          <a:xfrm>
            <a:off x="502920" y="384048"/>
            <a:ext cx="8229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7C86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E7C86"/>
                </a:solidFill>
                <a:latin typeface="Calibri"/>
                <a:ea typeface="Calibri"/>
                <a:cs typeface="Calibri"/>
                <a:sym typeface="Calibri"/>
              </a:rPr>
              <a:t>RISK REGISTER · NORTHWIND RETAIL CO. · PART 2 OF 2 · R-06–R-10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8"/>
          <p:cNvSpPr/>
          <p:nvPr/>
        </p:nvSpPr>
        <p:spPr>
          <a:xfrm>
            <a:off x="502920" y="676656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545"/>
              </a:buClr>
              <a:buSzPts val="2800"/>
              <a:buFont typeface="Cambria"/>
              <a:buNone/>
            </a:pPr>
            <a:r>
              <a:rPr b="1" i="0" lang="en-US" sz="2800" u="none" cap="none" strike="noStrike">
                <a:solidFill>
                  <a:srgbClr val="0B2545"/>
                </a:solidFill>
                <a:latin typeface="Cambria"/>
                <a:ea typeface="Cambria"/>
                <a:cs typeface="Cambria"/>
                <a:sym typeface="Cambria"/>
              </a:rPr>
              <a:t>Full Risk Register (10 risks)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08" name="Google Shape;208;p8"/>
          <p:cNvGraphicFramePr/>
          <p:nvPr/>
        </p:nvGraphicFramePr>
        <p:xfrm>
          <a:off x="365760" y="146304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{D25144CC-692B-4EE5-B563-7098643C743D}</a:tableStyleId>
              </a:tblPr>
              <a:tblGrid>
                <a:gridCol w="594350"/>
                <a:gridCol w="3063250"/>
                <a:gridCol w="411475"/>
                <a:gridCol w="411475"/>
                <a:gridCol w="731525"/>
                <a:gridCol w="1554475"/>
                <a:gridCol w="1645925"/>
              </a:tblGrid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ID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88900" marL="88900" anchor="ctr">
                    <a:lnL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Risk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88900" marL="88900" anchor="ctr">
                    <a:lnL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88900" marL="88900" anchor="ctr">
                    <a:lnL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88900" marL="88900" anchor="ctr">
                    <a:lnL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Score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88900" marL="88900" anchor="ctr">
                    <a:lnL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Owner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88900" marL="88900" anchor="ctr">
                    <a:lnL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Treatment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88900" marL="88900" anchor="ctr">
                    <a:lnL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2545"/>
                    </a:solidFill>
                  </a:tcPr>
                </a:tc>
              </a:tr>
              <a:tr h="566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R-06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88900" marL="88900" anchor="ctr">
                    <a:lnL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Insider data exfiltration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88900" marL="88900" anchor="ctr">
                    <a:lnL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88900" marL="88900" anchor="ctr">
                    <a:lnL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88900" marL="88900" anchor="ctr">
                    <a:lnL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88900" marL="88900" anchor="ctr">
                    <a:lnL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0922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HR &amp; Security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88900" marL="88900" anchor="ctr">
                    <a:lnL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Mitigate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88900" marL="88900" anchor="ctr">
                    <a:lnL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E7C86"/>
                    </a:solidFill>
                  </a:tcPr>
                </a:tc>
              </a:tr>
              <a:tr h="566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R-07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88900" marL="88900" anchor="ctr">
                    <a:lnL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DDoS attack on the storefront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88900" marL="88900" anchor="ctr">
                    <a:lnL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88900" marL="88900" anchor="ctr">
                    <a:lnL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88900" marL="88900" anchor="ctr">
                    <a:lnL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88900" marL="88900" anchor="ctr">
                    <a:lnL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0922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IT Manager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88900" marL="88900" anchor="ctr">
                    <a:lnL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Transfer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88900" marL="88900" anchor="ctr">
                    <a:lnL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3355E"/>
                    </a:solidFill>
                  </a:tcPr>
                </a:tc>
              </a:tr>
              <a:tr h="566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R-08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88900" marL="88900" anchor="ctr">
                    <a:lnL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Third-party payment-processor breach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88900" marL="88900" anchor="ctr">
                    <a:lnL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88900" marL="88900" anchor="ctr">
                    <a:lnL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88900" marL="88900" anchor="ctr">
                    <a:lnL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88900" marL="88900" anchor="ctr">
                    <a:lnL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0922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Finance Dir.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88900" marL="88900" anchor="ctr">
                    <a:lnL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Transfer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88900" marL="88900" anchor="ctr">
                    <a:lnL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3355E"/>
                    </a:solidFill>
                  </a:tcPr>
                </a:tc>
              </a:tr>
              <a:tr h="566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R-09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88900" marL="88900" anchor="ctr">
                    <a:lnL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Weak / reused staff passwords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88900" marL="88900" anchor="ctr">
                    <a:lnL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88900" marL="88900" anchor="ctr">
                    <a:lnL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88900" marL="88900" anchor="ctr">
                    <a:lnL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88900" marL="88900" anchor="ctr">
                    <a:lnL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0922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Security Lead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88900" marL="88900" anchor="ctr">
                    <a:lnL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Mitigate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88900" marL="88900" anchor="ctr">
                    <a:lnL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E7C86"/>
                    </a:solidFill>
                  </a:tcPr>
                </a:tc>
              </a:tr>
              <a:tr h="566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R-10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88900" marL="88900" anchor="ctr">
                    <a:lnL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Office break-in affecting on-prem server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88900" marL="88900" anchor="ctr">
                    <a:lnL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88900" marL="88900" anchor="ctr">
                    <a:lnL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88900" marL="88900" anchor="ctr">
                    <a:lnL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88900" marL="88900" anchor="ctr">
                    <a:lnL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C8C5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Facilities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88900" marL="88900" anchor="ctr">
                    <a:lnL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Accept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88900" marL="88900" anchor="ctr">
                    <a:lnL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C8C5A"/>
                    </a:solidFill>
                  </a:tcPr>
                </a:tc>
              </a:tr>
            </a:tbl>
          </a:graphicData>
        </a:graphic>
      </p:graphicFrame>
      <p:sp>
        <p:nvSpPr>
          <p:cNvPr id="209" name="Google Shape;209;p8"/>
          <p:cNvSpPr/>
          <p:nvPr/>
        </p:nvSpPr>
        <p:spPr>
          <a:xfrm>
            <a:off x="365760" y="4681728"/>
            <a:ext cx="8412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alibri"/>
              <a:buNone/>
            </a:pPr>
            <a:r>
              <a:rPr b="0" i="1" lang="en-US" sz="10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L = Likelihood, I = Impact (1–5). Score = L × I. Colour: green Low · gold Moderate · amber High · red Critical.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8"/>
          <p:cNvSpPr/>
          <p:nvPr/>
        </p:nvSpPr>
        <p:spPr>
          <a:xfrm>
            <a:off x="8229600" y="4828032"/>
            <a:ext cx="8229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8 / 16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9"/>
          <p:cNvSpPr/>
          <p:nvPr/>
        </p:nvSpPr>
        <p:spPr>
          <a:xfrm>
            <a:off x="502920" y="384048"/>
            <a:ext cx="8229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7C86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E7C86"/>
                </a:solidFill>
                <a:latin typeface="Calibri"/>
                <a:ea typeface="Calibri"/>
                <a:cs typeface="Calibri"/>
                <a:sym typeface="Calibri"/>
              </a:rPr>
              <a:t>QUANTIFYING A REGISTER ENTRY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9"/>
          <p:cNvSpPr/>
          <p:nvPr/>
        </p:nvSpPr>
        <p:spPr>
          <a:xfrm>
            <a:off x="502920" y="676656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545"/>
              </a:buClr>
              <a:buSzPts val="2800"/>
              <a:buFont typeface="Cambria"/>
              <a:buNone/>
            </a:pPr>
            <a:r>
              <a:rPr b="1" i="0" lang="en-US" sz="2800" u="none" cap="none" strike="noStrike">
                <a:solidFill>
                  <a:srgbClr val="0B2545"/>
                </a:solidFill>
                <a:latin typeface="Cambria"/>
                <a:ea typeface="Cambria"/>
                <a:cs typeface="Cambria"/>
                <a:sym typeface="Cambria"/>
              </a:rPr>
              <a:t>Putting dollars on R-01 (Ransomware)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9"/>
          <p:cNvSpPr/>
          <p:nvPr/>
        </p:nvSpPr>
        <p:spPr>
          <a:xfrm>
            <a:off x="502920" y="1298448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For the top risk, leadership wants the cost in money — so we run SLE and ALE.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9"/>
          <p:cNvSpPr/>
          <p:nvPr/>
        </p:nvSpPr>
        <p:spPr>
          <a:xfrm>
            <a:off x="502920" y="1783080"/>
            <a:ext cx="4114800" cy="658368"/>
          </a:xfrm>
          <a:prstGeom prst="roundRect">
            <a:avLst>
              <a:gd fmla="val 11111" name="adj"/>
            </a:avLst>
          </a:prstGeom>
          <a:solidFill>
            <a:srgbClr val="FFFFFF"/>
          </a:solidFill>
          <a:ln cap="flat" cmpd="sng" w="9525">
            <a:solidFill>
              <a:srgbClr val="D8DEE6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9"/>
          <p:cNvSpPr/>
          <p:nvPr/>
        </p:nvSpPr>
        <p:spPr>
          <a:xfrm>
            <a:off x="658368" y="1783080"/>
            <a:ext cx="18288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545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0B2545"/>
                </a:solidFill>
                <a:latin typeface="Calibri"/>
                <a:ea typeface="Calibri"/>
                <a:cs typeface="Calibri"/>
                <a:sym typeface="Calibri"/>
              </a:rPr>
              <a:t>Asset Value (AV)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9"/>
          <p:cNvSpPr/>
          <p:nvPr/>
        </p:nvSpPr>
        <p:spPr>
          <a:xfrm>
            <a:off x="2514600" y="1911096"/>
            <a:ext cx="1005840" cy="402336"/>
          </a:xfrm>
          <a:prstGeom prst="roundRect">
            <a:avLst>
              <a:gd fmla="val 11364" name="adj"/>
            </a:avLst>
          </a:prstGeom>
          <a:solidFill>
            <a:srgbClr val="E3F2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9"/>
          <p:cNvSpPr/>
          <p:nvPr/>
        </p:nvSpPr>
        <p:spPr>
          <a:xfrm>
            <a:off x="2514600" y="1911096"/>
            <a:ext cx="100584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E7C86"/>
              </a:buClr>
              <a:buSzPts val="1400"/>
              <a:buFont typeface="Cambria"/>
              <a:buNone/>
            </a:pPr>
            <a:r>
              <a:rPr b="1" i="0" lang="en-US" sz="1400" u="none" cap="none" strike="noStrike">
                <a:solidFill>
                  <a:srgbClr val="0E7C86"/>
                </a:solidFill>
                <a:latin typeface="Cambria"/>
                <a:ea typeface="Cambria"/>
                <a:cs typeface="Cambria"/>
                <a:sym typeface="Cambria"/>
              </a:rPr>
              <a:t>$250,000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9"/>
          <p:cNvSpPr/>
          <p:nvPr/>
        </p:nvSpPr>
        <p:spPr>
          <a:xfrm>
            <a:off x="3611880" y="1783080"/>
            <a:ext cx="96012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Value of systems, data &amp; downtime exposed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9"/>
          <p:cNvSpPr/>
          <p:nvPr/>
        </p:nvSpPr>
        <p:spPr>
          <a:xfrm>
            <a:off x="502920" y="2532888"/>
            <a:ext cx="4114800" cy="658368"/>
          </a:xfrm>
          <a:prstGeom prst="roundRect">
            <a:avLst>
              <a:gd fmla="val 11111" name="adj"/>
            </a:avLst>
          </a:prstGeom>
          <a:solidFill>
            <a:srgbClr val="FFFFFF"/>
          </a:solidFill>
          <a:ln cap="flat" cmpd="sng" w="9525">
            <a:solidFill>
              <a:srgbClr val="D8DEE6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9"/>
          <p:cNvSpPr/>
          <p:nvPr/>
        </p:nvSpPr>
        <p:spPr>
          <a:xfrm>
            <a:off x="658368" y="2532888"/>
            <a:ext cx="18288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545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0B2545"/>
                </a:solidFill>
                <a:latin typeface="Calibri"/>
                <a:ea typeface="Calibri"/>
                <a:cs typeface="Calibri"/>
                <a:sym typeface="Calibri"/>
              </a:rPr>
              <a:t>Exposure Factor (EF)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9"/>
          <p:cNvSpPr/>
          <p:nvPr/>
        </p:nvSpPr>
        <p:spPr>
          <a:xfrm>
            <a:off x="2514600" y="2660904"/>
            <a:ext cx="1005840" cy="402336"/>
          </a:xfrm>
          <a:prstGeom prst="roundRect">
            <a:avLst>
              <a:gd fmla="val 11364" name="adj"/>
            </a:avLst>
          </a:prstGeom>
          <a:solidFill>
            <a:srgbClr val="E3F2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9"/>
          <p:cNvSpPr/>
          <p:nvPr/>
        </p:nvSpPr>
        <p:spPr>
          <a:xfrm>
            <a:off x="2514600" y="2660904"/>
            <a:ext cx="100584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E7C86"/>
              </a:buClr>
              <a:buSzPts val="1400"/>
              <a:buFont typeface="Cambria"/>
              <a:buNone/>
            </a:pPr>
            <a:r>
              <a:rPr b="1" i="0" lang="en-US" sz="1400" u="none" cap="none" strike="noStrike">
                <a:solidFill>
                  <a:srgbClr val="0E7C86"/>
                </a:solidFill>
                <a:latin typeface="Cambria"/>
                <a:ea typeface="Cambria"/>
                <a:cs typeface="Cambria"/>
                <a:sym typeface="Cambria"/>
              </a:rPr>
              <a:t>70%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9"/>
          <p:cNvSpPr/>
          <p:nvPr/>
        </p:nvSpPr>
        <p:spPr>
          <a:xfrm>
            <a:off x="3611880" y="2532888"/>
            <a:ext cx="96012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Share lost in a successful ransomware hit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9"/>
          <p:cNvSpPr/>
          <p:nvPr/>
        </p:nvSpPr>
        <p:spPr>
          <a:xfrm>
            <a:off x="502920" y="3282696"/>
            <a:ext cx="4114800" cy="658368"/>
          </a:xfrm>
          <a:prstGeom prst="roundRect">
            <a:avLst>
              <a:gd fmla="val 11111" name="adj"/>
            </a:avLst>
          </a:prstGeom>
          <a:solidFill>
            <a:srgbClr val="FFFFFF"/>
          </a:solidFill>
          <a:ln cap="flat" cmpd="sng" w="9525">
            <a:solidFill>
              <a:srgbClr val="D8DEE6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9"/>
          <p:cNvSpPr/>
          <p:nvPr/>
        </p:nvSpPr>
        <p:spPr>
          <a:xfrm>
            <a:off x="658368" y="3282696"/>
            <a:ext cx="18288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545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0B2545"/>
                </a:solidFill>
                <a:latin typeface="Calibri"/>
                <a:ea typeface="Calibri"/>
                <a:cs typeface="Calibri"/>
                <a:sym typeface="Calibri"/>
              </a:rPr>
              <a:t>Annual Rate (ARO)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9"/>
          <p:cNvSpPr/>
          <p:nvPr/>
        </p:nvSpPr>
        <p:spPr>
          <a:xfrm>
            <a:off x="2514600" y="3410712"/>
            <a:ext cx="1005840" cy="402336"/>
          </a:xfrm>
          <a:prstGeom prst="roundRect">
            <a:avLst>
              <a:gd fmla="val 11364" name="adj"/>
            </a:avLst>
          </a:prstGeom>
          <a:solidFill>
            <a:srgbClr val="E3F2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9"/>
          <p:cNvSpPr/>
          <p:nvPr/>
        </p:nvSpPr>
        <p:spPr>
          <a:xfrm>
            <a:off x="2514600" y="3410712"/>
            <a:ext cx="100584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E7C86"/>
              </a:buClr>
              <a:buSzPts val="1400"/>
              <a:buFont typeface="Cambria"/>
              <a:buNone/>
            </a:pPr>
            <a:r>
              <a:rPr b="1" i="0" lang="en-US" sz="1400" u="none" cap="none" strike="noStrike">
                <a:solidFill>
                  <a:srgbClr val="0E7C86"/>
                </a:solidFill>
                <a:latin typeface="Cambria"/>
                <a:ea typeface="Cambria"/>
                <a:cs typeface="Cambria"/>
                <a:sym typeface="Cambria"/>
              </a:rPr>
              <a:t>0.5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9"/>
          <p:cNvSpPr/>
          <p:nvPr/>
        </p:nvSpPr>
        <p:spPr>
          <a:xfrm>
            <a:off x="3611880" y="3282696"/>
            <a:ext cx="96012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Roughly once every two years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9"/>
          <p:cNvSpPr/>
          <p:nvPr/>
        </p:nvSpPr>
        <p:spPr>
          <a:xfrm>
            <a:off x="4892040" y="1783080"/>
            <a:ext cx="3886200" cy="1051560"/>
          </a:xfrm>
          <a:prstGeom prst="roundRect">
            <a:avLst>
              <a:gd fmla="val 6957" name="adj"/>
            </a:avLst>
          </a:prstGeom>
          <a:solidFill>
            <a:srgbClr val="E3F2F1"/>
          </a:solidFill>
          <a:ln cap="flat" cmpd="sng" w="9525">
            <a:solidFill>
              <a:srgbClr val="D8DEE6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9"/>
          <p:cNvSpPr/>
          <p:nvPr/>
        </p:nvSpPr>
        <p:spPr>
          <a:xfrm>
            <a:off x="5074920" y="1920240"/>
            <a:ext cx="35661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545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B2545"/>
                </a:solidFill>
                <a:latin typeface="Calibri"/>
                <a:ea typeface="Calibri"/>
                <a:cs typeface="Calibri"/>
                <a:sym typeface="Calibri"/>
              </a:rPr>
              <a:t>SLE = AV × EF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9"/>
          <p:cNvSpPr/>
          <p:nvPr/>
        </p:nvSpPr>
        <p:spPr>
          <a:xfrm>
            <a:off x="5074920" y="2240280"/>
            <a:ext cx="35661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7C86"/>
              </a:buClr>
              <a:buSzPts val="2000"/>
              <a:buFont typeface="Cambria"/>
              <a:buNone/>
            </a:pPr>
            <a:r>
              <a:rPr b="1" i="0" lang="en-US" sz="2000" u="none" cap="none" strike="noStrike">
                <a:solidFill>
                  <a:srgbClr val="0E7C86"/>
                </a:solidFill>
                <a:latin typeface="Cambria"/>
                <a:ea typeface="Cambria"/>
                <a:cs typeface="Cambria"/>
                <a:sym typeface="Cambria"/>
              </a:rPr>
              <a:t>$250,000 × 0.70 = $175,000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9"/>
          <p:cNvSpPr/>
          <p:nvPr/>
        </p:nvSpPr>
        <p:spPr>
          <a:xfrm>
            <a:off x="4892040" y="2971800"/>
            <a:ext cx="3886200" cy="1051560"/>
          </a:xfrm>
          <a:prstGeom prst="roundRect">
            <a:avLst>
              <a:gd fmla="val 6957" name="adj"/>
            </a:avLst>
          </a:prstGeom>
          <a:solidFill>
            <a:srgbClr val="FBEFD9"/>
          </a:solidFill>
          <a:ln cap="flat" cmpd="sng" w="9525">
            <a:solidFill>
              <a:srgbClr val="D8DEE6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9"/>
          <p:cNvSpPr/>
          <p:nvPr/>
        </p:nvSpPr>
        <p:spPr>
          <a:xfrm>
            <a:off x="5074920" y="3108960"/>
            <a:ext cx="35661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545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B2545"/>
                </a:solidFill>
                <a:latin typeface="Calibri"/>
                <a:ea typeface="Calibri"/>
                <a:cs typeface="Calibri"/>
                <a:sym typeface="Calibri"/>
              </a:rPr>
              <a:t>ALE = SLE × ARO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9"/>
          <p:cNvSpPr/>
          <p:nvPr/>
        </p:nvSpPr>
        <p:spPr>
          <a:xfrm>
            <a:off x="5074920" y="3429000"/>
            <a:ext cx="35661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0922F"/>
              </a:buClr>
              <a:buSzPts val="2000"/>
              <a:buFont typeface="Cambria"/>
              <a:buNone/>
            </a:pPr>
            <a:r>
              <a:rPr b="1" i="0" lang="en-US" sz="2000" u="none" cap="none" strike="noStrike">
                <a:solidFill>
                  <a:srgbClr val="E0922F"/>
                </a:solidFill>
                <a:latin typeface="Cambria"/>
                <a:ea typeface="Cambria"/>
                <a:cs typeface="Cambria"/>
                <a:sym typeface="Cambria"/>
              </a:rPr>
              <a:t>$175,000 × 0.5 = $87,500 / yr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9"/>
          <p:cNvSpPr/>
          <p:nvPr/>
        </p:nvSpPr>
        <p:spPr>
          <a:xfrm>
            <a:off x="502920" y="4251960"/>
            <a:ext cx="8275320" cy="548640"/>
          </a:xfrm>
          <a:prstGeom prst="roundRect">
            <a:avLst>
              <a:gd fmla="val 10000" name="adj"/>
            </a:avLst>
          </a:prstGeom>
          <a:solidFill>
            <a:srgbClr val="0B254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9"/>
          <p:cNvSpPr/>
          <p:nvPr/>
        </p:nvSpPr>
        <p:spPr>
          <a:xfrm>
            <a:off x="731520" y="4251960"/>
            <a:ext cx="78638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A3A0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CA3A0"/>
                </a:solidFill>
                <a:latin typeface="Calibri"/>
                <a:ea typeface="Calibri"/>
                <a:cs typeface="Calibri"/>
                <a:sym typeface="Calibri"/>
              </a:rPr>
              <a:t>So what?  </a:t>
            </a:r>
            <a:r>
              <a:rPr b="0" i="0" lang="en-US" sz="125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Any mitigation bundle (patching, segmentation, backups) costing under $87,500/yr is financially justified.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9"/>
          <p:cNvSpPr/>
          <p:nvPr/>
        </p:nvSpPr>
        <p:spPr>
          <a:xfrm>
            <a:off x="8229600" y="4828032"/>
            <a:ext cx="8229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9 / 16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10"/>
          <p:cNvSpPr/>
          <p:nvPr/>
        </p:nvSpPr>
        <p:spPr>
          <a:xfrm>
            <a:off x="502920" y="384048"/>
            <a:ext cx="8229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7C86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E7C86"/>
                </a:solidFill>
                <a:latin typeface="Calibri"/>
                <a:ea typeface="Calibri"/>
                <a:cs typeface="Calibri"/>
                <a:sym typeface="Calibri"/>
              </a:rPr>
              <a:t>LINKING RISK TO CONTROLS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10"/>
          <p:cNvSpPr/>
          <p:nvPr/>
        </p:nvSpPr>
        <p:spPr>
          <a:xfrm>
            <a:off x="502920" y="676656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545"/>
              </a:buClr>
              <a:buSzPts val="2800"/>
              <a:buFont typeface="Cambria"/>
              <a:buNone/>
            </a:pPr>
            <a:r>
              <a:rPr b="1" i="0" lang="en-US" sz="2800" u="none" cap="none" strike="noStrike">
                <a:solidFill>
                  <a:srgbClr val="0B2545"/>
                </a:solidFill>
                <a:latin typeface="Cambria"/>
                <a:ea typeface="Cambria"/>
                <a:cs typeface="Cambria"/>
                <a:sym typeface="Cambria"/>
              </a:rPr>
              <a:t>Sample control mapping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10"/>
          <p:cNvSpPr/>
          <p:nvPr/>
        </p:nvSpPr>
        <p:spPr>
          <a:xfrm>
            <a:off x="502920" y="1298448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Each treated risk maps to specific controls and the frameworks that mandate them.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51" name="Google Shape;251;p10"/>
          <p:cNvGraphicFramePr/>
          <p:nvPr/>
        </p:nvGraphicFramePr>
        <p:xfrm>
          <a:off x="502920" y="173736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{D25144CC-692B-4EE5-B563-7098643C743D}</a:tableStyleId>
              </a:tblPr>
              <a:tblGrid>
                <a:gridCol w="1691650"/>
                <a:gridCol w="2743200"/>
                <a:gridCol w="1143000"/>
                <a:gridCol w="2560325"/>
              </a:tblGrid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Risk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88900" marL="88900" anchor="ctr">
                    <a:lnL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Control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88900" marL="88900" anchor="ctr">
                    <a:lnL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Type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88900" marL="88900" anchor="ctr">
                    <a:lnL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Framework reference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88900" marL="88900" anchor="ctr">
                    <a:lnL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2545"/>
                    </a:solidFill>
                  </a:tcPr>
                </a:tc>
              </a:tr>
              <a:tr h="512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R-02 Phishing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88900" marL="88900" anchor="ctr">
                    <a:lnL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Multi-factor authentication + awareness training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88900" marL="88900" anchor="ctr">
                    <a:lnL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Preventive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88900" marL="88900" anchor="ctr">
                    <a:lnL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CSF PR.AA · 800-53 IA-2 · ISO 27001 A.8.5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88900" marL="88900" anchor="ctr">
                    <a:lnL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12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R-01 Ransomware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88900" marL="88900" anchor="ctr">
                    <a:lnL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Patch management + offline backups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88900" marL="88900" anchor="ctr">
                    <a:lnL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Prev. + Corr.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88900" marL="88900" anchor="ctr">
                    <a:lnL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CSF PR.PS / RC.RP · 800-53 SI-2, CP-9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88900" marL="88900" anchor="ctr">
                    <a:lnL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12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R-05 Laptops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88900" marL="88900" anchor="ctr">
                    <a:lnL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Full-disk encryption + MDM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88900" marL="88900" anchor="ctr">
                    <a:lnL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Preventive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88900" marL="88900" anchor="ctr">
                    <a:lnL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CSF PR.DS · 800-53 SC-28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88900" marL="88900" anchor="ctr">
                    <a:lnL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12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R-04 Cloud bucket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88900" marL="88900" anchor="ctr">
                    <a:lnL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Access-config review + IaC policy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88900" marL="88900" anchor="ctr">
                    <a:lnL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Detective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88900" marL="88900" anchor="ctr">
                    <a:lnL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CSF PR.AA · 800-53 AC-3, CM-6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88900" marL="88900" anchor="ctr">
                    <a:lnL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12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R-06 Insider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88900" marL="88900" anchor="ctr">
                    <a:lnL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Data-loss prevention + least privilege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88900" marL="88900" anchor="ctr">
                    <a:lnL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Det. + Prev.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88900" marL="88900" anchor="ctr">
                    <a:lnL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CSF PR.DS / DE.CM · 800-53 AC-6, SI-4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88900" marL="88900" anchor="ctr">
                    <a:lnL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2" name="Google Shape;252;p10"/>
          <p:cNvSpPr/>
          <p:nvPr/>
        </p:nvSpPr>
        <p:spPr>
          <a:xfrm>
            <a:off x="502920" y="4681728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Mapping proves coverage to auditors and shows nothing is protected by chance.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10"/>
          <p:cNvSpPr/>
          <p:nvPr/>
        </p:nvSpPr>
        <p:spPr>
          <a:xfrm>
            <a:off x="8229600" y="4828032"/>
            <a:ext cx="8229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10 / 16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11"/>
          <p:cNvSpPr/>
          <p:nvPr/>
        </p:nvSpPr>
        <p:spPr>
          <a:xfrm>
            <a:off x="502920" y="384048"/>
            <a:ext cx="8229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7C86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E7C86"/>
                </a:solidFill>
                <a:latin typeface="Calibri"/>
                <a:ea typeface="Calibri"/>
                <a:cs typeface="Calibri"/>
                <a:sym typeface="Calibri"/>
              </a:rPr>
              <a:t>KEEP IT ALIVE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11"/>
          <p:cNvSpPr/>
          <p:nvPr/>
        </p:nvSpPr>
        <p:spPr>
          <a:xfrm>
            <a:off x="502920" y="676656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545"/>
              </a:buClr>
              <a:buSzPts val="2800"/>
              <a:buFont typeface="Cambria"/>
              <a:buNone/>
            </a:pPr>
            <a:r>
              <a:rPr b="1" i="0" lang="en-US" sz="2800" u="none" cap="none" strike="noStrike">
                <a:solidFill>
                  <a:srgbClr val="0B2545"/>
                </a:solidFill>
                <a:latin typeface="Cambria"/>
                <a:ea typeface="Cambria"/>
                <a:cs typeface="Cambria"/>
                <a:sym typeface="Cambria"/>
              </a:rPr>
              <a:t>Maintaining the register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11"/>
          <p:cNvSpPr/>
          <p:nvPr/>
        </p:nvSpPr>
        <p:spPr>
          <a:xfrm>
            <a:off x="502920" y="1298448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A register is worthless the day it goes stale. Treat it as a continuous-monitoring artefact.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11"/>
          <p:cNvSpPr/>
          <p:nvPr/>
        </p:nvSpPr>
        <p:spPr>
          <a:xfrm>
            <a:off x="548640" y="1819656"/>
            <a:ext cx="384048" cy="384048"/>
          </a:xfrm>
          <a:prstGeom prst="ellipse">
            <a:avLst/>
          </a:prstGeom>
          <a:solidFill>
            <a:srgbClr val="0E7C8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11"/>
          <p:cNvSpPr/>
          <p:nvPr/>
        </p:nvSpPr>
        <p:spPr>
          <a:xfrm>
            <a:off x="548640" y="1819656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1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11"/>
          <p:cNvSpPr/>
          <p:nvPr/>
        </p:nvSpPr>
        <p:spPr>
          <a:xfrm>
            <a:off x="1078992" y="1764792"/>
            <a:ext cx="31089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545"/>
              </a:buClr>
              <a:buSzPts val="1450"/>
              <a:buFont typeface="Calibri"/>
              <a:buNone/>
            </a:pPr>
            <a:r>
              <a:rPr b="1" i="0" lang="en-US" sz="1450" u="none" cap="none" strike="noStrike">
                <a:solidFill>
                  <a:srgbClr val="0B2545"/>
                </a:solidFill>
                <a:latin typeface="Calibri"/>
                <a:ea typeface="Calibri"/>
                <a:cs typeface="Calibri"/>
                <a:sym typeface="Calibri"/>
              </a:rPr>
              <a:t>Assign clear owners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11"/>
          <p:cNvSpPr/>
          <p:nvPr/>
        </p:nvSpPr>
        <p:spPr>
          <a:xfrm>
            <a:off x="4251960" y="1764792"/>
            <a:ext cx="43891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Every risk has one accountable name — not a team or a blank.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11"/>
          <p:cNvSpPr/>
          <p:nvPr/>
        </p:nvSpPr>
        <p:spPr>
          <a:xfrm>
            <a:off x="548640" y="2386584"/>
            <a:ext cx="384048" cy="384048"/>
          </a:xfrm>
          <a:prstGeom prst="ellipse">
            <a:avLst/>
          </a:prstGeom>
          <a:solidFill>
            <a:srgbClr val="E0922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11"/>
          <p:cNvSpPr/>
          <p:nvPr/>
        </p:nvSpPr>
        <p:spPr>
          <a:xfrm>
            <a:off x="548640" y="2386584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2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11"/>
          <p:cNvSpPr/>
          <p:nvPr/>
        </p:nvSpPr>
        <p:spPr>
          <a:xfrm>
            <a:off x="1078992" y="2331720"/>
            <a:ext cx="31089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545"/>
              </a:buClr>
              <a:buSzPts val="1450"/>
              <a:buFont typeface="Calibri"/>
              <a:buNone/>
            </a:pPr>
            <a:r>
              <a:rPr b="1" i="0" lang="en-US" sz="1450" u="none" cap="none" strike="noStrike">
                <a:solidFill>
                  <a:srgbClr val="0B2545"/>
                </a:solidFill>
                <a:latin typeface="Calibri"/>
                <a:ea typeface="Calibri"/>
                <a:cs typeface="Calibri"/>
                <a:sym typeface="Calibri"/>
              </a:rPr>
              <a:t>Set review cadence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11"/>
          <p:cNvSpPr/>
          <p:nvPr/>
        </p:nvSpPr>
        <p:spPr>
          <a:xfrm>
            <a:off x="4251960" y="2331720"/>
            <a:ext cx="43891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50"/>
              <a:buFont typeface="Calibri"/>
              <a:buNone/>
            </a:pPr>
            <a:r>
              <a:rPr lang="en-US" sz="125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High/critical</a:t>
            </a:r>
            <a:r>
              <a:rPr b="0" i="0" lang="en-US" sz="12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5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monthly,</a:t>
            </a:r>
            <a:r>
              <a:rPr b="0" i="0" lang="en-US" sz="12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5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medium</a:t>
            </a:r>
            <a:r>
              <a:rPr b="0" i="0" lang="en-US" sz="12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5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quarterly, and</a:t>
            </a:r>
            <a:r>
              <a:rPr b="0" i="0" lang="en-US" sz="12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5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low</a:t>
            </a:r>
            <a:r>
              <a:rPr b="0" i="0" lang="en-US" sz="12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semi-annually.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11"/>
          <p:cNvSpPr/>
          <p:nvPr/>
        </p:nvSpPr>
        <p:spPr>
          <a:xfrm>
            <a:off x="548640" y="2953512"/>
            <a:ext cx="384048" cy="384048"/>
          </a:xfrm>
          <a:prstGeom prst="ellipse">
            <a:avLst/>
          </a:prstGeom>
          <a:solidFill>
            <a:srgbClr val="0E7C8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11"/>
          <p:cNvSpPr/>
          <p:nvPr/>
        </p:nvSpPr>
        <p:spPr>
          <a:xfrm>
            <a:off x="548640" y="2953512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3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11"/>
          <p:cNvSpPr/>
          <p:nvPr/>
        </p:nvSpPr>
        <p:spPr>
          <a:xfrm>
            <a:off x="1078992" y="2898648"/>
            <a:ext cx="31089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545"/>
              </a:buClr>
              <a:buSzPts val="1450"/>
              <a:buFont typeface="Calibri"/>
              <a:buNone/>
            </a:pPr>
            <a:r>
              <a:rPr b="1" i="0" lang="en-US" sz="1450" u="none" cap="none" strike="noStrike">
                <a:solidFill>
                  <a:srgbClr val="0B2545"/>
                </a:solidFill>
                <a:latin typeface="Calibri"/>
                <a:ea typeface="Calibri"/>
                <a:cs typeface="Calibri"/>
                <a:sym typeface="Calibri"/>
              </a:rPr>
              <a:t>Re-score after changes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11"/>
          <p:cNvSpPr/>
          <p:nvPr/>
        </p:nvSpPr>
        <p:spPr>
          <a:xfrm>
            <a:off x="4251960" y="2898648"/>
            <a:ext cx="43891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New system, incident, or control? Update L, I and </a:t>
            </a:r>
            <a:r>
              <a:rPr lang="en-US" sz="125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the residual.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11"/>
          <p:cNvSpPr/>
          <p:nvPr/>
        </p:nvSpPr>
        <p:spPr>
          <a:xfrm>
            <a:off x="548640" y="3520440"/>
            <a:ext cx="384048" cy="384048"/>
          </a:xfrm>
          <a:prstGeom prst="ellipse">
            <a:avLst/>
          </a:prstGeom>
          <a:solidFill>
            <a:srgbClr val="E0922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11"/>
          <p:cNvSpPr/>
          <p:nvPr/>
        </p:nvSpPr>
        <p:spPr>
          <a:xfrm>
            <a:off x="548640" y="3520440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4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11"/>
          <p:cNvSpPr/>
          <p:nvPr/>
        </p:nvSpPr>
        <p:spPr>
          <a:xfrm>
            <a:off x="1078992" y="3465576"/>
            <a:ext cx="31089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545"/>
              </a:buClr>
              <a:buSzPts val="1450"/>
              <a:buFont typeface="Calibri"/>
              <a:buNone/>
            </a:pPr>
            <a:r>
              <a:rPr b="1" i="0" lang="en-US" sz="1450" u="none" cap="none" strike="noStrike">
                <a:solidFill>
                  <a:srgbClr val="0B2545"/>
                </a:solidFill>
                <a:latin typeface="Calibri"/>
                <a:ea typeface="Calibri"/>
                <a:cs typeface="Calibri"/>
                <a:sym typeface="Calibri"/>
              </a:rPr>
              <a:t>Track treatment progress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11"/>
          <p:cNvSpPr/>
          <p:nvPr/>
        </p:nvSpPr>
        <p:spPr>
          <a:xfrm>
            <a:off x="4251960" y="3465576"/>
            <a:ext cx="43891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Open → in-treatment → treated → accepted, with dates.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11"/>
          <p:cNvSpPr/>
          <p:nvPr/>
        </p:nvSpPr>
        <p:spPr>
          <a:xfrm>
            <a:off x="548640" y="4087368"/>
            <a:ext cx="384048" cy="384048"/>
          </a:xfrm>
          <a:prstGeom prst="ellipse">
            <a:avLst/>
          </a:prstGeom>
          <a:solidFill>
            <a:srgbClr val="0E7C8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11"/>
          <p:cNvSpPr/>
          <p:nvPr/>
        </p:nvSpPr>
        <p:spPr>
          <a:xfrm>
            <a:off x="548640" y="4087368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5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11"/>
          <p:cNvSpPr/>
          <p:nvPr/>
        </p:nvSpPr>
        <p:spPr>
          <a:xfrm>
            <a:off x="1078992" y="4032504"/>
            <a:ext cx="31089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545"/>
              </a:buClr>
              <a:buSzPts val="1450"/>
              <a:buFont typeface="Calibri"/>
              <a:buNone/>
            </a:pPr>
            <a:r>
              <a:rPr b="1" i="0" lang="en-US" sz="1450" u="none" cap="none" strike="noStrike">
                <a:solidFill>
                  <a:srgbClr val="0B2545"/>
                </a:solidFill>
                <a:latin typeface="Calibri"/>
                <a:ea typeface="Calibri"/>
                <a:cs typeface="Calibri"/>
                <a:sym typeface="Calibri"/>
              </a:rPr>
              <a:t>Report up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11"/>
          <p:cNvSpPr/>
          <p:nvPr/>
        </p:nvSpPr>
        <p:spPr>
          <a:xfrm>
            <a:off x="4251960" y="4032504"/>
            <a:ext cx="43891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Roll the top risks into a dashboard for leadership.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11"/>
          <p:cNvSpPr/>
          <p:nvPr/>
        </p:nvSpPr>
        <p:spPr>
          <a:xfrm>
            <a:off x="8229600" y="4828032"/>
            <a:ext cx="8229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11 / 16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2545"/>
        </a:solidFill>
      </p:bgPr>
    </p:bg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12"/>
          <p:cNvSpPr/>
          <p:nvPr/>
        </p:nvSpPr>
        <p:spPr>
          <a:xfrm>
            <a:off x="640080" y="502920"/>
            <a:ext cx="640080" cy="640080"/>
          </a:xfrm>
          <a:prstGeom prst="ellipse">
            <a:avLst/>
          </a:prstGeom>
          <a:solidFill>
            <a:srgbClr val="0E7C8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89" name="Google Shape;289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6384" y="649224"/>
            <a:ext cx="347472" cy="347472"/>
          </a:xfrm>
          <a:prstGeom prst="rect">
            <a:avLst/>
          </a:prstGeom>
          <a:noFill/>
          <a:ln>
            <a:noFill/>
          </a:ln>
        </p:spPr>
      </p:pic>
      <p:sp>
        <p:nvSpPr>
          <p:cNvPr id="290" name="Google Shape;290;p12"/>
          <p:cNvSpPr/>
          <p:nvPr/>
        </p:nvSpPr>
        <p:spPr>
          <a:xfrm>
            <a:off x="1417320" y="548640"/>
            <a:ext cx="73152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mbria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Hands-on deliverable — build your own register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12"/>
          <p:cNvSpPr/>
          <p:nvPr/>
        </p:nvSpPr>
        <p:spPr>
          <a:xfrm>
            <a:off x="640080" y="1417320"/>
            <a:ext cx="7863840" cy="512064"/>
          </a:xfrm>
          <a:prstGeom prst="roundRect">
            <a:avLst>
              <a:gd fmla="val 10714" name="adj"/>
            </a:avLst>
          </a:prstGeom>
          <a:solidFill>
            <a:srgbClr val="1335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12"/>
          <p:cNvSpPr/>
          <p:nvPr/>
        </p:nvSpPr>
        <p:spPr>
          <a:xfrm>
            <a:off x="822960" y="1563624"/>
            <a:ext cx="219456" cy="219456"/>
          </a:xfrm>
          <a:prstGeom prst="ellipse">
            <a:avLst/>
          </a:prstGeom>
          <a:solidFill>
            <a:srgbClr val="0E7C8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12"/>
          <p:cNvSpPr/>
          <p:nvPr/>
        </p:nvSpPr>
        <p:spPr>
          <a:xfrm>
            <a:off x="822960" y="1563624"/>
            <a:ext cx="219456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12"/>
          <p:cNvSpPr/>
          <p:nvPr/>
        </p:nvSpPr>
        <p:spPr>
          <a:xfrm>
            <a:off x="1188720" y="1417320"/>
            <a:ext cx="7178040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Pick a fictional small company (or reuse Northwind).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12"/>
          <p:cNvSpPr/>
          <p:nvPr/>
        </p:nvSpPr>
        <p:spPr>
          <a:xfrm>
            <a:off x="640080" y="1984248"/>
            <a:ext cx="7863840" cy="512064"/>
          </a:xfrm>
          <a:prstGeom prst="roundRect">
            <a:avLst>
              <a:gd fmla="val 10714" name="adj"/>
            </a:avLst>
          </a:prstGeom>
          <a:solidFill>
            <a:srgbClr val="1335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p12"/>
          <p:cNvSpPr/>
          <p:nvPr/>
        </p:nvSpPr>
        <p:spPr>
          <a:xfrm>
            <a:off x="822960" y="2130552"/>
            <a:ext cx="219456" cy="219456"/>
          </a:xfrm>
          <a:prstGeom prst="ellipse">
            <a:avLst/>
          </a:prstGeom>
          <a:solidFill>
            <a:srgbClr val="0E7C8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12"/>
          <p:cNvSpPr/>
          <p:nvPr/>
        </p:nvSpPr>
        <p:spPr>
          <a:xfrm>
            <a:off x="822960" y="2130552"/>
            <a:ext cx="219456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12"/>
          <p:cNvSpPr/>
          <p:nvPr/>
        </p:nvSpPr>
        <p:spPr>
          <a:xfrm>
            <a:off x="1188720" y="1984248"/>
            <a:ext cx="7178040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Identify at least 10 risks across people, process and technology.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12"/>
          <p:cNvSpPr/>
          <p:nvPr/>
        </p:nvSpPr>
        <p:spPr>
          <a:xfrm>
            <a:off x="640080" y="2551176"/>
            <a:ext cx="7863840" cy="512064"/>
          </a:xfrm>
          <a:prstGeom prst="roundRect">
            <a:avLst>
              <a:gd fmla="val 10714" name="adj"/>
            </a:avLst>
          </a:prstGeom>
          <a:solidFill>
            <a:srgbClr val="1335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p12"/>
          <p:cNvSpPr/>
          <p:nvPr/>
        </p:nvSpPr>
        <p:spPr>
          <a:xfrm>
            <a:off x="822960" y="2697480"/>
            <a:ext cx="219456" cy="219456"/>
          </a:xfrm>
          <a:prstGeom prst="ellipse">
            <a:avLst/>
          </a:prstGeom>
          <a:solidFill>
            <a:srgbClr val="0E7C8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p12"/>
          <p:cNvSpPr/>
          <p:nvPr/>
        </p:nvSpPr>
        <p:spPr>
          <a:xfrm>
            <a:off x="822960" y="2697480"/>
            <a:ext cx="219456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12"/>
          <p:cNvSpPr/>
          <p:nvPr/>
        </p:nvSpPr>
        <p:spPr>
          <a:xfrm>
            <a:off x="1188720" y="2551176"/>
            <a:ext cx="7178040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Score each: Likelihood × Impact, then assign an owner.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12"/>
          <p:cNvSpPr/>
          <p:nvPr/>
        </p:nvSpPr>
        <p:spPr>
          <a:xfrm>
            <a:off x="640080" y="3118104"/>
            <a:ext cx="7863840" cy="512064"/>
          </a:xfrm>
          <a:prstGeom prst="roundRect">
            <a:avLst>
              <a:gd fmla="val 10714" name="adj"/>
            </a:avLst>
          </a:prstGeom>
          <a:solidFill>
            <a:srgbClr val="1335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" name="Google Shape;304;p12"/>
          <p:cNvSpPr/>
          <p:nvPr/>
        </p:nvSpPr>
        <p:spPr>
          <a:xfrm>
            <a:off x="822960" y="3264408"/>
            <a:ext cx="219456" cy="219456"/>
          </a:xfrm>
          <a:prstGeom prst="ellipse">
            <a:avLst/>
          </a:prstGeom>
          <a:solidFill>
            <a:srgbClr val="0E7C8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p12"/>
          <p:cNvSpPr/>
          <p:nvPr/>
        </p:nvSpPr>
        <p:spPr>
          <a:xfrm>
            <a:off x="822960" y="3264408"/>
            <a:ext cx="219456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12"/>
          <p:cNvSpPr/>
          <p:nvPr/>
        </p:nvSpPr>
        <p:spPr>
          <a:xfrm>
            <a:off x="1188720" y="3118104"/>
            <a:ext cx="7178040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Choose a treatment for each — use all four options at least once.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12"/>
          <p:cNvSpPr/>
          <p:nvPr/>
        </p:nvSpPr>
        <p:spPr>
          <a:xfrm>
            <a:off x="640080" y="3685032"/>
            <a:ext cx="7863840" cy="512064"/>
          </a:xfrm>
          <a:prstGeom prst="roundRect">
            <a:avLst>
              <a:gd fmla="val 10714" name="adj"/>
            </a:avLst>
          </a:prstGeom>
          <a:solidFill>
            <a:srgbClr val="1335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p12"/>
          <p:cNvSpPr/>
          <p:nvPr/>
        </p:nvSpPr>
        <p:spPr>
          <a:xfrm>
            <a:off x="822960" y="3831336"/>
            <a:ext cx="219456" cy="219456"/>
          </a:xfrm>
          <a:prstGeom prst="ellipse">
            <a:avLst/>
          </a:prstGeom>
          <a:solidFill>
            <a:srgbClr val="0E7C8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p12"/>
          <p:cNvSpPr/>
          <p:nvPr/>
        </p:nvSpPr>
        <p:spPr>
          <a:xfrm>
            <a:off x="822960" y="3831336"/>
            <a:ext cx="219456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12"/>
          <p:cNvSpPr/>
          <p:nvPr/>
        </p:nvSpPr>
        <p:spPr>
          <a:xfrm>
            <a:off x="1188720" y="3685032"/>
            <a:ext cx="7178040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Include one full SLE / ALE calculation for a top risk.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12"/>
          <p:cNvSpPr/>
          <p:nvPr/>
        </p:nvSpPr>
        <p:spPr>
          <a:xfrm>
            <a:off x="640080" y="4251960"/>
            <a:ext cx="7863840" cy="512064"/>
          </a:xfrm>
          <a:prstGeom prst="roundRect">
            <a:avLst>
              <a:gd fmla="val 10714" name="adj"/>
            </a:avLst>
          </a:prstGeom>
          <a:solidFill>
            <a:srgbClr val="1335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p12"/>
          <p:cNvSpPr/>
          <p:nvPr/>
        </p:nvSpPr>
        <p:spPr>
          <a:xfrm>
            <a:off x="822960" y="4398264"/>
            <a:ext cx="219456" cy="219456"/>
          </a:xfrm>
          <a:prstGeom prst="ellipse">
            <a:avLst/>
          </a:prstGeom>
          <a:solidFill>
            <a:srgbClr val="0E7C8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12"/>
          <p:cNvSpPr/>
          <p:nvPr/>
        </p:nvSpPr>
        <p:spPr>
          <a:xfrm>
            <a:off x="822960" y="4398264"/>
            <a:ext cx="219456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12"/>
          <p:cNvSpPr/>
          <p:nvPr/>
        </p:nvSpPr>
        <p:spPr>
          <a:xfrm>
            <a:off x="1188720" y="4251960"/>
            <a:ext cx="7178040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Add a status and next-review date per risk.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12"/>
          <p:cNvSpPr/>
          <p:nvPr/>
        </p:nvSpPr>
        <p:spPr>
          <a:xfrm>
            <a:off x="640080" y="4818888"/>
            <a:ext cx="7863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Deliverable: a register you could hand to a CISO and defend.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13"/>
          <p:cNvSpPr/>
          <p:nvPr/>
        </p:nvSpPr>
        <p:spPr>
          <a:xfrm>
            <a:off x="502920" y="384048"/>
            <a:ext cx="8229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7C86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E7C86"/>
                </a:solidFill>
                <a:latin typeface="Calibri"/>
                <a:ea typeface="Calibri"/>
                <a:cs typeface="Calibri"/>
                <a:sym typeface="Calibri"/>
              </a:rPr>
              <a:t>MILESTONE SELF-CHECK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13"/>
          <p:cNvSpPr/>
          <p:nvPr/>
        </p:nvSpPr>
        <p:spPr>
          <a:xfrm>
            <a:off x="502920" y="676656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545"/>
              </a:buClr>
              <a:buSzPts val="2800"/>
              <a:buFont typeface="Cambria"/>
              <a:buNone/>
            </a:pPr>
            <a:r>
              <a:rPr b="1" i="0" lang="en-US" sz="2800" u="none" cap="none" strike="noStrike">
                <a:solidFill>
                  <a:srgbClr val="0B2545"/>
                </a:solidFill>
                <a:latin typeface="Cambria"/>
                <a:ea typeface="Cambria"/>
                <a:cs typeface="Cambria"/>
                <a:sym typeface="Cambria"/>
              </a:rPr>
              <a:t>Your turn: assess and treat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13"/>
          <p:cNvSpPr/>
          <p:nvPr/>
        </p:nvSpPr>
        <p:spPr>
          <a:xfrm>
            <a:off x="502920" y="1371600"/>
            <a:ext cx="8138160" cy="1508760"/>
          </a:xfrm>
          <a:prstGeom prst="roundRect">
            <a:avLst>
              <a:gd fmla="val 4848" name="adj"/>
            </a:avLst>
          </a:prstGeom>
          <a:solidFill>
            <a:srgbClr val="FBEFD9"/>
          </a:solidFill>
          <a:ln cap="flat" cmpd="sng" w="9525">
            <a:solidFill>
              <a:srgbClr val="D8DEE6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" name="Google Shape;324;p13"/>
          <p:cNvSpPr/>
          <p:nvPr/>
        </p:nvSpPr>
        <p:spPr>
          <a:xfrm>
            <a:off x="731520" y="1481328"/>
            <a:ext cx="73152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0922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E0922F"/>
                </a:solidFill>
                <a:latin typeface="Calibri"/>
                <a:ea typeface="Calibri"/>
                <a:cs typeface="Calibri"/>
                <a:sym typeface="Calibri"/>
              </a:rPr>
              <a:t>The scenario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13"/>
          <p:cNvSpPr/>
          <p:nvPr/>
        </p:nvSpPr>
        <p:spPr>
          <a:xfrm>
            <a:off x="731520" y="1783080"/>
            <a:ext cx="768096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Northwind's marketing team signed up for a free file-sharing app and uploaded a customer export — names, emails and full order history — to share with an outside agency. The account uses one shared password and has no MFA. It was never approved by IT.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13"/>
          <p:cNvSpPr/>
          <p:nvPr/>
        </p:nvSpPr>
        <p:spPr>
          <a:xfrm>
            <a:off x="502920" y="306324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545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B2545"/>
                </a:solidFill>
                <a:latin typeface="Calibri"/>
                <a:ea typeface="Calibri"/>
                <a:cs typeface="Calibri"/>
                <a:sym typeface="Calibri"/>
              </a:rPr>
              <a:t>Work through: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13"/>
          <p:cNvSpPr/>
          <p:nvPr/>
        </p:nvSpPr>
        <p:spPr>
          <a:xfrm>
            <a:off x="502920" y="3383280"/>
            <a:ext cx="8138160" cy="411480"/>
          </a:xfrm>
          <a:prstGeom prst="roundRect">
            <a:avLst>
              <a:gd fmla="val 17778" name="adj"/>
            </a:avLst>
          </a:prstGeom>
          <a:solidFill>
            <a:srgbClr val="FFFFFF"/>
          </a:solidFill>
          <a:ln cap="flat" cmpd="sng" w="9525">
            <a:solidFill>
              <a:srgbClr val="D8DEE6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Google Shape;328;p13"/>
          <p:cNvSpPr/>
          <p:nvPr/>
        </p:nvSpPr>
        <p:spPr>
          <a:xfrm>
            <a:off x="731520" y="3383280"/>
            <a:ext cx="76809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1.  Identify the asset, threat and vulnerability.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13"/>
          <p:cNvSpPr/>
          <p:nvPr/>
        </p:nvSpPr>
        <p:spPr>
          <a:xfrm>
            <a:off x="502920" y="3858768"/>
            <a:ext cx="8138160" cy="411480"/>
          </a:xfrm>
          <a:prstGeom prst="roundRect">
            <a:avLst>
              <a:gd fmla="val 17778" name="adj"/>
            </a:avLst>
          </a:prstGeom>
          <a:solidFill>
            <a:srgbClr val="FFFFFF"/>
          </a:solidFill>
          <a:ln cap="flat" cmpd="sng" w="9525">
            <a:solidFill>
              <a:srgbClr val="D8DEE6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" name="Google Shape;330;p13"/>
          <p:cNvSpPr/>
          <p:nvPr/>
        </p:nvSpPr>
        <p:spPr>
          <a:xfrm>
            <a:off x="731520" y="3858768"/>
            <a:ext cx="76809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2.  Score the risk (Likelihood × Impact, 1–5).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13"/>
          <p:cNvSpPr/>
          <p:nvPr/>
        </p:nvSpPr>
        <p:spPr>
          <a:xfrm>
            <a:off x="502920" y="4334256"/>
            <a:ext cx="8138160" cy="411480"/>
          </a:xfrm>
          <a:prstGeom prst="roundRect">
            <a:avLst>
              <a:gd fmla="val 17778" name="adj"/>
            </a:avLst>
          </a:prstGeom>
          <a:solidFill>
            <a:srgbClr val="FFFFFF"/>
          </a:solidFill>
          <a:ln cap="flat" cmpd="sng" w="9525">
            <a:solidFill>
              <a:srgbClr val="D8DEE6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2" name="Google Shape;332;p13"/>
          <p:cNvSpPr/>
          <p:nvPr/>
        </p:nvSpPr>
        <p:spPr>
          <a:xfrm>
            <a:off x="731520" y="4334256"/>
            <a:ext cx="76809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3.  Recommend a treatment — and justify it against risk appetite.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13"/>
          <p:cNvSpPr/>
          <p:nvPr/>
        </p:nvSpPr>
        <p:spPr>
          <a:xfrm>
            <a:off x="8229600" y="4828032"/>
            <a:ext cx="8229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13 / 16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14"/>
          <p:cNvSpPr/>
          <p:nvPr/>
        </p:nvSpPr>
        <p:spPr>
          <a:xfrm>
            <a:off x="502920" y="384048"/>
            <a:ext cx="8229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7C86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E7C86"/>
                </a:solidFill>
                <a:latin typeface="Calibri"/>
                <a:ea typeface="Calibri"/>
                <a:cs typeface="Calibri"/>
                <a:sym typeface="Calibri"/>
              </a:rPr>
              <a:t>MILESTONE SELF-CHECK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14"/>
          <p:cNvSpPr/>
          <p:nvPr/>
        </p:nvSpPr>
        <p:spPr>
          <a:xfrm>
            <a:off x="502920" y="676656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545"/>
              </a:buClr>
              <a:buSzPts val="2800"/>
              <a:buFont typeface="Cambria"/>
              <a:buNone/>
            </a:pPr>
            <a:r>
              <a:rPr b="1" i="0" lang="en-US" sz="2800" u="none" cap="none" strike="noStrike">
                <a:solidFill>
                  <a:srgbClr val="0B2545"/>
                </a:solidFill>
                <a:latin typeface="Cambria"/>
                <a:ea typeface="Cambria"/>
                <a:cs typeface="Cambria"/>
                <a:sym typeface="Cambria"/>
              </a:rPr>
              <a:t>Model answer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14"/>
          <p:cNvSpPr/>
          <p:nvPr/>
        </p:nvSpPr>
        <p:spPr>
          <a:xfrm>
            <a:off x="502920" y="1417320"/>
            <a:ext cx="8138160" cy="457200"/>
          </a:xfrm>
          <a:prstGeom prst="roundRect">
            <a:avLst>
              <a:gd fmla="val 16000" name="adj"/>
            </a:avLst>
          </a:prstGeom>
          <a:solidFill>
            <a:srgbClr val="FFFFFF"/>
          </a:solidFill>
          <a:ln cap="flat" cmpd="sng" w="9525">
            <a:solidFill>
              <a:srgbClr val="D8DEE6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2" name="Google Shape;342;p14"/>
          <p:cNvSpPr/>
          <p:nvPr/>
        </p:nvSpPr>
        <p:spPr>
          <a:xfrm>
            <a:off x="502920" y="1417320"/>
            <a:ext cx="1874520" cy="457200"/>
          </a:xfrm>
          <a:prstGeom prst="roundRect">
            <a:avLst>
              <a:gd fmla="val 10000" name="adj"/>
            </a:avLst>
          </a:prstGeom>
          <a:solidFill>
            <a:srgbClr val="0E7C8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3" name="Google Shape;343;p14"/>
          <p:cNvSpPr/>
          <p:nvPr/>
        </p:nvSpPr>
        <p:spPr>
          <a:xfrm>
            <a:off x="640080" y="1417320"/>
            <a:ext cx="16916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Asset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14"/>
          <p:cNvSpPr/>
          <p:nvPr/>
        </p:nvSpPr>
        <p:spPr>
          <a:xfrm>
            <a:off x="2560320" y="1417320"/>
            <a:ext cx="594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Customer PII export (names, emails, order history)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14"/>
          <p:cNvSpPr/>
          <p:nvPr/>
        </p:nvSpPr>
        <p:spPr>
          <a:xfrm>
            <a:off x="502920" y="1929384"/>
            <a:ext cx="8138160" cy="457200"/>
          </a:xfrm>
          <a:prstGeom prst="roundRect">
            <a:avLst>
              <a:gd fmla="val 16000" name="adj"/>
            </a:avLst>
          </a:prstGeom>
          <a:solidFill>
            <a:srgbClr val="FFFFFF"/>
          </a:solidFill>
          <a:ln cap="flat" cmpd="sng" w="9525">
            <a:solidFill>
              <a:srgbClr val="D8DEE6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6" name="Google Shape;346;p14"/>
          <p:cNvSpPr/>
          <p:nvPr/>
        </p:nvSpPr>
        <p:spPr>
          <a:xfrm>
            <a:off x="502920" y="1929384"/>
            <a:ext cx="1874520" cy="457200"/>
          </a:xfrm>
          <a:prstGeom prst="roundRect">
            <a:avLst>
              <a:gd fmla="val 10000" name="adj"/>
            </a:avLst>
          </a:prstGeom>
          <a:solidFill>
            <a:srgbClr val="C041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7" name="Google Shape;347;p14"/>
          <p:cNvSpPr/>
          <p:nvPr/>
        </p:nvSpPr>
        <p:spPr>
          <a:xfrm>
            <a:off x="640080" y="1929384"/>
            <a:ext cx="16916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Threat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14"/>
          <p:cNvSpPr/>
          <p:nvPr/>
        </p:nvSpPr>
        <p:spPr>
          <a:xfrm>
            <a:off x="2560320" y="1929384"/>
            <a:ext cx="594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Attacker or unauthorised party accessing the shared account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14"/>
          <p:cNvSpPr/>
          <p:nvPr/>
        </p:nvSpPr>
        <p:spPr>
          <a:xfrm>
            <a:off x="502920" y="2441448"/>
            <a:ext cx="8138160" cy="457200"/>
          </a:xfrm>
          <a:prstGeom prst="roundRect">
            <a:avLst>
              <a:gd fmla="val 16000" name="adj"/>
            </a:avLst>
          </a:prstGeom>
          <a:solidFill>
            <a:srgbClr val="FFFFFF"/>
          </a:solidFill>
          <a:ln cap="flat" cmpd="sng" w="9525">
            <a:solidFill>
              <a:srgbClr val="D8DEE6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0" name="Google Shape;350;p14"/>
          <p:cNvSpPr/>
          <p:nvPr/>
        </p:nvSpPr>
        <p:spPr>
          <a:xfrm>
            <a:off x="502920" y="2441448"/>
            <a:ext cx="1874520" cy="457200"/>
          </a:xfrm>
          <a:prstGeom prst="roundRect">
            <a:avLst>
              <a:gd fmla="val 10000" name="adj"/>
            </a:avLst>
          </a:prstGeom>
          <a:solidFill>
            <a:srgbClr val="E0922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1" name="Google Shape;351;p14"/>
          <p:cNvSpPr/>
          <p:nvPr/>
        </p:nvSpPr>
        <p:spPr>
          <a:xfrm>
            <a:off x="640080" y="2441448"/>
            <a:ext cx="16916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Vulnerability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14"/>
          <p:cNvSpPr/>
          <p:nvPr/>
        </p:nvSpPr>
        <p:spPr>
          <a:xfrm>
            <a:off x="2560320" y="2441448"/>
            <a:ext cx="594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Shared password, no MFA, unsanctioned shadow-IT app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14"/>
          <p:cNvSpPr/>
          <p:nvPr/>
        </p:nvSpPr>
        <p:spPr>
          <a:xfrm>
            <a:off x="502920" y="2953512"/>
            <a:ext cx="8138160" cy="457200"/>
          </a:xfrm>
          <a:prstGeom prst="roundRect">
            <a:avLst>
              <a:gd fmla="val 16000" name="adj"/>
            </a:avLst>
          </a:prstGeom>
          <a:solidFill>
            <a:srgbClr val="FFFFFF"/>
          </a:solidFill>
          <a:ln cap="flat" cmpd="sng" w="9525">
            <a:solidFill>
              <a:srgbClr val="D8DEE6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4" name="Google Shape;354;p14"/>
          <p:cNvSpPr/>
          <p:nvPr/>
        </p:nvSpPr>
        <p:spPr>
          <a:xfrm>
            <a:off x="502920" y="2953512"/>
            <a:ext cx="1874520" cy="457200"/>
          </a:xfrm>
          <a:prstGeom prst="roundRect">
            <a:avLst>
              <a:gd fmla="val 10000" name="adj"/>
            </a:avLst>
          </a:prstGeom>
          <a:solidFill>
            <a:srgbClr val="0E7C8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5" name="Google Shape;355;p14"/>
          <p:cNvSpPr/>
          <p:nvPr/>
        </p:nvSpPr>
        <p:spPr>
          <a:xfrm>
            <a:off x="640080" y="2953512"/>
            <a:ext cx="16916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Likelihood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14"/>
          <p:cNvSpPr/>
          <p:nvPr/>
        </p:nvSpPr>
        <p:spPr>
          <a:xfrm>
            <a:off x="2560320" y="2953512"/>
            <a:ext cx="594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4 — Likely: shared creds on an internet app with no MFA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14"/>
          <p:cNvSpPr/>
          <p:nvPr/>
        </p:nvSpPr>
        <p:spPr>
          <a:xfrm>
            <a:off x="502920" y="3465576"/>
            <a:ext cx="8138160" cy="457200"/>
          </a:xfrm>
          <a:prstGeom prst="roundRect">
            <a:avLst>
              <a:gd fmla="val 16000" name="adj"/>
            </a:avLst>
          </a:prstGeom>
          <a:solidFill>
            <a:srgbClr val="FFFFFF"/>
          </a:solidFill>
          <a:ln cap="flat" cmpd="sng" w="9525">
            <a:solidFill>
              <a:srgbClr val="D8DEE6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8" name="Google Shape;358;p14"/>
          <p:cNvSpPr/>
          <p:nvPr/>
        </p:nvSpPr>
        <p:spPr>
          <a:xfrm>
            <a:off x="502920" y="3465576"/>
            <a:ext cx="1874520" cy="457200"/>
          </a:xfrm>
          <a:prstGeom prst="roundRect">
            <a:avLst>
              <a:gd fmla="val 10000" name="adj"/>
            </a:avLst>
          </a:prstGeom>
          <a:solidFill>
            <a:srgbClr val="E0922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9" name="Google Shape;359;p14"/>
          <p:cNvSpPr/>
          <p:nvPr/>
        </p:nvSpPr>
        <p:spPr>
          <a:xfrm>
            <a:off x="640080" y="3465576"/>
            <a:ext cx="16916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Impact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14"/>
          <p:cNvSpPr/>
          <p:nvPr/>
        </p:nvSpPr>
        <p:spPr>
          <a:xfrm>
            <a:off x="2560320" y="3465576"/>
            <a:ext cx="594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4 — Major: PII breach, privacy-law exposure, reputational harm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14"/>
          <p:cNvSpPr/>
          <p:nvPr/>
        </p:nvSpPr>
        <p:spPr>
          <a:xfrm>
            <a:off x="502920" y="4023360"/>
            <a:ext cx="2377440" cy="868680"/>
          </a:xfrm>
          <a:prstGeom prst="roundRect">
            <a:avLst>
              <a:gd fmla="val 7368" name="adj"/>
            </a:avLst>
          </a:prstGeom>
          <a:solidFill>
            <a:srgbClr val="C041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2" name="Google Shape;362;p14"/>
          <p:cNvSpPr/>
          <p:nvPr/>
        </p:nvSpPr>
        <p:spPr>
          <a:xfrm>
            <a:off x="502920" y="4096512"/>
            <a:ext cx="2377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Score = 4 × 4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14"/>
          <p:cNvSpPr/>
          <p:nvPr/>
        </p:nvSpPr>
        <p:spPr>
          <a:xfrm>
            <a:off x="502920" y="4361688"/>
            <a:ext cx="23774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Font typeface="Cambria"/>
              <a:buNone/>
            </a:pPr>
            <a:r>
              <a:rPr b="1" i="0" lang="en-US" sz="19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16 — Critical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14"/>
          <p:cNvSpPr/>
          <p:nvPr/>
        </p:nvSpPr>
        <p:spPr>
          <a:xfrm>
            <a:off x="3063240" y="4023360"/>
            <a:ext cx="5577840" cy="868680"/>
          </a:xfrm>
          <a:prstGeom prst="roundRect">
            <a:avLst>
              <a:gd fmla="val 8421" name="adj"/>
            </a:avLst>
          </a:prstGeom>
          <a:solidFill>
            <a:srgbClr val="E3F2F1"/>
          </a:solidFill>
          <a:ln cap="flat" cmpd="sng" w="9525">
            <a:solidFill>
              <a:srgbClr val="D8DEE6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5" name="Google Shape;365;p14"/>
          <p:cNvSpPr/>
          <p:nvPr/>
        </p:nvSpPr>
        <p:spPr>
          <a:xfrm>
            <a:off x="3246120" y="4096512"/>
            <a:ext cx="52578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0E7C86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0E7C86"/>
                </a:solidFill>
                <a:latin typeface="Calibri"/>
                <a:ea typeface="Calibri"/>
                <a:cs typeface="Calibri"/>
                <a:sym typeface="Calibri"/>
              </a:rPr>
              <a:t>Treatment — Avoid + Mitigate.  </a:t>
            </a:r>
            <a:r>
              <a:rPr b="0" i="0" lang="en-US" sz="11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Remove the data from the unsanctioned app (avoid shadow IT), then share only via an approved platform with MFA and access controls. A score of 16 is far above appetite, so accepting it is not defensible — act immediately.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14"/>
          <p:cNvSpPr/>
          <p:nvPr/>
        </p:nvSpPr>
        <p:spPr>
          <a:xfrm>
            <a:off x="8229600" y="4828032"/>
            <a:ext cx="8229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14 / 16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15"/>
          <p:cNvSpPr/>
          <p:nvPr/>
        </p:nvSpPr>
        <p:spPr>
          <a:xfrm>
            <a:off x="502920" y="384048"/>
            <a:ext cx="8229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7C86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E7C86"/>
                </a:solidFill>
                <a:latin typeface="Calibri"/>
                <a:ea typeface="Calibri"/>
                <a:cs typeface="Calibri"/>
                <a:sym typeface="Calibri"/>
              </a:rPr>
              <a:t>SESSION C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15"/>
          <p:cNvSpPr/>
          <p:nvPr/>
        </p:nvSpPr>
        <p:spPr>
          <a:xfrm>
            <a:off x="502920" y="676656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545"/>
              </a:buClr>
              <a:buSzPts val="2800"/>
              <a:buFont typeface="Cambria"/>
              <a:buNone/>
            </a:pPr>
            <a:r>
              <a:rPr b="1" i="0" lang="en-US" sz="2800" u="none" cap="none" strike="noStrike">
                <a:solidFill>
                  <a:srgbClr val="0B2545"/>
                </a:solidFill>
                <a:latin typeface="Cambria"/>
                <a:ea typeface="Cambria"/>
                <a:cs typeface="Cambria"/>
                <a:sym typeface="Cambria"/>
              </a:rPr>
              <a:t>Key takeaways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15"/>
          <p:cNvSpPr/>
          <p:nvPr/>
        </p:nvSpPr>
        <p:spPr>
          <a:xfrm>
            <a:off x="548640" y="1435608"/>
            <a:ext cx="347472" cy="347472"/>
          </a:xfrm>
          <a:prstGeom prst="ellipse">
            <a:avLst/>
          </a:prstGeom>
          <a:solidFill>
            <a:srgbClr val="0E7C8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5" name="Google Shape;375;p15"/>
          <p:cNvSpPr/>
          <p:nvPr/>
        </p:nvSpPr>
        <p:spPr>
          <a:xfrm>
            <a:off x="548640" y="1435608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15"/>
          <p:cNvSpPr/>
          <p:nvPr/>
        </p:nvSpPr>
        <p:spPr>
          <a:xfrm>
            <a:off x="1024128" y="1380744"/>
            <a:ext cx="338328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545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B2545"/>
                </a:solidFill>
                <a:latin typeface="Calibri"/>
                <a:ea typeface="Calibri"/>
                <a:cs typeface="Calibri"/>
                <a:sym typeface="Calibri"/>
              </a:rPr>
              <a:t>Four treatments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15"/>
          <p:cNvSpPr/>
          <p:nvPr/>
        </p:nvSpPr>
        <p:spPr>
          <a:xfrm>
            <a:off x="4480560" y="1380744"/>
            <a:ext cx="416052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Avoid · Mitigate · Transfer · Accept — often blended.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15"/>
          <p:cNvSpPr/>
          <p:nvPr/>
        </p:nvSpPr>
        <p:spPr>
          <a:xfrm>
            <a:off x="548640" y="1970532"/>
            <a:ext cx="347472" cy="347472"/>
          </a:xfrm>
          <a:prstGeom prst="ellipse">
            <a:avLst/>
          </a:prstGeom>
          <a:solidFill>
            <a:srgbClr val="E0922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9" name="Google Shape;379;p15"/>
          <p:cNvSpPr/>
          <p:nvPr/>
        </p:nvSpPr>
        <p:spPr>
          <a:xfrm>
            <a:off x="548640" y="1970532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15"/>
          <p:cNvSpPr/>
          <p:nvPr/>
        </p:nvSpPr>
        <p:spPr>
          <a:xfrm>
            <a:off x="1024128" y="1915668"/>
            <a:ext cx="338328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545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B2545"/>
                </a:solidFill>
                <a:latin typeface="Calibri"/>
                <a:ea typeface="Calibri"/>
                <a:cs typeface="Calibri"/>
                <a:sym typeface="Calibri"/>
              </a:rPr>
              <a:t>Treat down to appetite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15"/>
          <p:cNvSpPr/>
          <p:nvPr/>
        </p:nvSpPr>
        <p:spPr>
          <a:xfrm>
            <a:off x="4480560" y="1915668"/>
            <a:ext cx="416052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The goal is residual risk leadership can live with.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15"/>
          <p:cNvSpPr/>
          <p:nvPr/>
        </p:nvSpPr>
        <p:spPr>
          <a:xfrm>
            <a:off x="548640" y="2505456"/>
            <a:ext cx="347472" cy="347472"/>
          </a:xfrm>
          <a:prstGeom prst="ellipse">
            <a:avLst/>
          </a:prstGeom>
          <a:solidFill>
            <a:srgbClr val="0E7C8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p15"/>
          <p:cNvSpPr/>
          <p:nvPr/>
        </p:nvSpPr>
        <p:spPr>
          <a:xfrm>
            <a:off x="548640" y="2505456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15"/>
          <p:cNvSpPr/>
          <p:nvPr/>
        </p:nvSpPr>
        <p:spPr>
          <a:xfrm>
            <a:off x="1024128" y="2450592"/>
            <a:ext cx="338328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545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B2545"/>
                </a:solidFill>
                <a:latin typeface="Calibri"/>
                <a:ea typeface="Calibri"/>
                <a:cs typeface="Calibri"/>
                <a:sym typeface="Calibri"/>
              </a:rPr>
              <a:t>Controls have roles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15"/>
          <p:cNvSpPr/>
          <p:nvPr/>
        </p:nvSpPr>
        <p:spPr>
          <a:xfrm>
            <a:off x="4480560" y="2450592"/>
            <a:ext cx="416052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Preventive, detective, corrective — layer them.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15"/>
          <p:cNvSpPr/>
          <p:nvPr/>
        </p:nvSpPr>
        <p:spPr>
          <a:xfrm>
            <a:off x="548640" y="3040380"/>
            <a:ext cx="347472" cy="347472"/>
          </a:xfrm>
          <a:prstGeom prst="ellipse">
            <a:avLst/>
          </a:prstGeom>
          <a:solidFill>
            <a:srgbClr val="E0922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7" name="Google Shape;387;p15"/>
          <p:cNvSpPr/>
          <p:nvPr/>
        </p:nvSpPr>
        <p:spPr>
          <a:xfrm>
            <a:off x="548640" y="3040380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15"/>
          <p:cNvSpPr/>
          <p:nvPr/>
        </p:nvSpPr>
        <p:spPr>
          <a:xfrm>
            <a:off x="1024128" y="2985516"/>
            <a:ext cx="338328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545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B2545"/>
                </a:solidFill>
                <a:latin typeface="Calibri"/>
                <a:ea typeface="Calibri"/>
                <a:cs typeface="Calibri"/>
                <a:sym typeface="Calibri"/>
              </a:rPr>
              <a:t>The register is the source of truth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15"/>
          <p:cNvSpPr/>
          <p:nvPr/>
        </p:nvSpPr>
        <p:spPr>
          <a:xfrm>
            <a:off x="4480560" y="2985516"/>
            <a:ext cx="416052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Every risk: score, owner, treatment, status.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15"/>
          <p:cNvSpPr/>
          <p:nvPr/>
        </p:nvSpPr>
        <p:spPr>
          <a:xfrm>
            <a:off x="548640" y="3575304"/>
            <a:ext cx="347472" cy="347472"/>
          </a:xfrm>
          <a:prstGeom prst="ellipse">
            <a:avLst/>
          </a:prstGeom>
          <a:solidFill>
            <a:srgbClr val="0E7C8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1" name="Google Shape;391;p15"/>
          <p:cNvSpPr/>
          <p:nvPr/>
        </p:nvSpPr>
        <p:spPr>
          <a:xfrm>
            <a:off x="548640" y="3575304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15"/>
          <p:cNvSpPr/>
          <p:nvPr/>
        </p:nvSpPr>
        <p:spPr>
          <a:xfrm>
            <a:off x="1024128" y="3520440"/>
            <a:ext cx="338328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545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B2545"/>
                </a:solidFill>
                <a:latin typeface="Calibri"/>
                <a:ea typeface="Calibri"/>
                <a:cs typeface="Calibri"/>
                <a:sym typeface="Calibri"/>
              </a:rPr>
              <a:t>Quantify the top risks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15"/>
          <p:cNvSpPr/>
          <p:nvPr/>
        </p:nvSpPr>
        <p:spPr>
          <a:xfrm>
            <a:off x="4480560" y="3520440"/>
            <a:ext cx="416052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SLE / ALE turns a scary risk into a budget case.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15"/>
          <p:cNvSpPr/>
          <p:nvPr/>
        </p:nvSpPr>
        <p:spPr>
          <a:xfrm>
            <a:off x="548640" y="4110228"/>
            <a:ext cx="347472" cy="347472"/>
          </a:xfrm>
          <a:prstGeom prst="ellipse">
            <a:avLst/>
          </a:prstGeom>
          <a:solidFill>
            <a:srgbClr val="E0922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5" name="Google Shape;395;p15"/>
          <p:cNvSpPr/>
          <p:nvPr/>
        </p:nvSpPr>
        <p:spPr>
          <a:xfrm>
            <a:off x="548640" y="4110228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p15"/>
          <p:cNvSpPr/>
          <p:nvPr/>
        </p:nvSpPr>
        <p:spPr>
          <a:xfrm>
            <a:off x="1024128" y="4055364"/>
            <a:ext cx="338328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545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B2545"/>
                </a:solidFill>
                <a:latin typeface="Calibri"/>
                <a:ea typeface="Calibri"/>
                <a:cs typeface="Calibri"/>
                <a:sym typeface="Calibri"/>
              </a:rPr>
              <a:t>Keep it living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15"/>
          <p:cNvSpPr/>
          <p:nvPr/>
        </p:nvSpPr>
        <p:spPr>
          <a:xfrm>
            <a:off x="4480560" y="4055364"/>
            <a:ext cx="416052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Owners, cadence, re-scoring — or it goes stale.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15"/>
          <p:cNvSpPr/>
          <p:nvPr/>
        </p:nvSpPr>
        <p:spPr>
          <a:xfrm>
            <a:off x="8229600" y="4828032"/>
            <a:ext cx="8229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15 / 16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2545"/>
        </a:solidFill>
      </p:bgPr>
    </p:bg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16"/>
          <p:cNvSpPr/>
          <p:nvPr/>
        </p:nvSpPr>
        <p:spPr>
          <a:xfrm>
            <a:off x="640080" y="640080"/>
            <a:ext cx="822960" cy="822960"/>
          </a:xfrm>
          <a:prstGeom prst="ellipse">
            <a:avLst/>
          </a:prstGeom>
          <a:solidFill>
            <a:srgbClr val="0E7C8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05" name="Google Shape;405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2960" y="82296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406" name="Google Shape;406;p16"/>
          <p:cNvSpPr/>
          <p:nvPr/>
        </p:nvSpPr>
        <p:spPr>
          <a:xfrm>
            <a:off x="658368" y="178308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A3A0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CA3A0"/>
                </a:solidFill>
                <a:latin typeface="Calibri"/>
                <a:ea typeface="Calibri"/>
                <a:cs typeface="Calibri"/>
                <a:sym typeface="Calibri"/>
              </a:rPr>
              <a:t>WEEK 2 — COMPLETE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16"/>
          <p:cNvSpPr/>
          <p:nvPr/>
        </p:nvSpPr>
        <p:spPr>
          <a:xfrm>
            <a:off x="640080" y="2148840"/>
            <a:ext cx="82296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You can now run a risk assessment end-to-end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16"/>
          <p:cNvSpPr/>
          <p:nvPr/>
        </p:nvSpPr>
        <p:spPr>
          <a:xfrm>
            <a:off x="658368" y="3383280"/>
            <a:ext cx="7772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A3A0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rgbClr val="1CA3A0"/>
                </a:solidFill>
                <a:latin typeface="Calibri"/>
                <a:ea typeface="Calibri"/>
                <a:cs typeface="Calibri"/>
                <a:sym typeface="Calibri"/>
              </a:rPr>
              <a:t>Identify  </a:t>
            </a:r>
            <a:r>
              <a:rPr b="0" i="0" lang="en-US" sz="17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→  Assess  →  Score  →  Treat  →  Track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p16"/>
          <p:cNvSpPr/>
          <p:nvPr/>
        </p:nvSpPr>
        <p:spPr>
          <a:xfrm>
            <a:off x="658368" y="3931920"/>
            <a:ext cx="76809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400"/>
              <a:buFont typeface="Calibri"/>
              <a:buNone/>
            </a:pPr>
            <a:r>
              <a:rPr b="0" i="1" lang="en-US" sz="14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Next week: the PROTECT function — turning these decisions into deployed safeguards.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16"/>
          <p:cNvSpPr/>
          <p:nvPr/>
        </p:nvSpPr>
        <p:spPr>
          <a:xfrm>
            <a:off x="658368" y="4572000"/>
            <a:ext cx="78638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FA3B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8FA3BC"/>
                </a:solidFill>
                <a:latin typeface="Calibri"/>
                <a:ea typeface="Calibri"/>
                <a:cs typeface="Calibri"/>
                <a:sym typeface="Calibri"/>
              </a:rPr>
              <a:t>Week 2 · Cybersecurity Risk Management · NIST CSF IDENTIFY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2026-06-24T14:02:36Z</dcterms:created>
  <dc:creator>GRC Course — Week 2</dc:creator>
</cp:coreProperties>
</file>