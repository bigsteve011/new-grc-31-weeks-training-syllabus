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Class 1. Today is Session A — the core vocabulary of GRC. By the end you'll define Governance, Risk and Compliance, understand the CIA Triad, and know the policy hierarchy cold. Keep it conversational; ask for examples from their own workplaces.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arc of the session. Note these four objectives map to the day's three topic blocks plus the 'what does a GRC analyst do' thread. Tell them everything connects to a running case-study company they'll use all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GRC isn't three separate teams in a silo — it's one integrated way of operating. Governance steers, Risk anticipates, Compliance proves. Ask: which of these does your organization do well, and which is weakest?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= the steering wheel and the dashboard. It sets intent (policies), assigns ownership, and watches whether reality matches intent. Without governance, risk and compliance work has no mandate and no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is about uncertainty, not certainty of disaster. Stress the vocabulary — asset, threat, vulnerability, likelihood, impact — because Week 2 builds a full risk register on it. The four treatment options are worth memorizing.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nuance: compliance ≠ security. You can be compliant and still insecure, or secure and not yet compliant. Compliance is about provable obligations. Evidence is the currency — 'if it isn't documented, it didn't happen.'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people who 'know the words' from people who get GRC. Walk the loop out loud: governance → risk → compliance → back to governance. It's a continuous cycle, not a one-time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expectations about the role. GRC is a communication-and-organization job as much as a technical one. These six activities recur every week of the program and become portfolio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The CIA Triad is the 'why' behind every control. When students later ask 'why this control?', the answer is always: it protects confidentiality, integrity, and/or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memorable example per pillar: Confidentiality = a leaked customer list; Integrity = a tampered bank balance; Availability = ransomware locking the hospital out. All three matter; the balance differs by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Controls map back to objectives. Have the class add one more threat and one more safeguard per row from their own experience. This table is a preview of Week 5, where they design and test these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most-confused topic for beginners. Emphasize the goal: by the end of the next two slides they should tell these four apart instantly and know which are mandatory.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mandatory-vs-advisory distinction is the exam-style point. Policy = direction, Standard = the bar you must hit, Procedure = the recipe, Guideline = friendly advice. Keep hammering: only guidelines are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level aloud and ask the class which level a given sentence belongs to. Great quick formative check. Optional exercise: have them draft the four levels for a 'data backup'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fast — these five are the bones of everything that follows. If they leave remembering only these, the session worked. Tee up Session B as the next layer of governance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discussion prompt — let two or three students share. It cements the three pillars against a real example and bridges naturally into Session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PROGRAM  ·  WEEK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Risk &amp; Compliance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— Core Concepts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 ·  Session A  ·  2 hours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524637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71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51760" y="502920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30" y="524637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77440" y="5971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80560" y="50292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30" y="524637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5971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743200" cy="2743200"/>
          </a:xfrm>
          <a:prstGeom prst="ellipse">
            <a:avLst/>
          </a:prstGeom>
          <a:solidFill>
            <a:srgbClr val="F2F8F9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606040"/>
            <a:ext cx="1371600" cy="13716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29489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objectives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0574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1874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Governance, Risk &amp; Compliance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846320" y="22585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how the three reinforce each other.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114800" y="299923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1363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9535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CIA Triad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846320" y="33375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 — the goal of every control.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114800" y="407822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21538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46320" y="40325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the policy hierarchy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4846320" y="441655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→ Standard → Procedure → Guideline.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114800" y="515721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529437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51114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GRC role in practice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846320" y="549554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GRC professional actually does day to day.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GRC?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discipline for running an organization securely, responsibly, and in line with its obligations.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2286000"/>
            <a:ext cx="914400" cy="9144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&amp; oversight — setting objectives, policies, roles, and accountability.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28600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4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6344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management — finding and treating what could go wrong.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0" y="2286000"/>
            <a:ext cx="914400" cy="9144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14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5820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obligations — laws, regulations, standards, and contracts.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together, they keep the organization aligned, protected, and trustworthy.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GOVERN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— Direction &amp; Oversight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how leadership sets direction and makes sure the organization actually follows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strategy aligned to business goals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that set the rules of the road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roles, responsibilities &amp; accountability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Oversight: monitoring, reporting, course-correction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F2F8F9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0802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answers: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26680" y="3474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our rules?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accountable?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it's working?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IDENTIFY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— Managing Uncertainty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is the structured process of identifying what could go wrong and deciding what to do about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assets, threats &amp; vulnerabilities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each risk: likelihood × impact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it: avoid, mitigate, transfer, or accept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as conditions change over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F2F8F9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0" y="1828800"/>
            <a:ext cx="1005840" cy="10058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0802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26680" y="3474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≈ Likelihood × Impact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exploits a vulnerability…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…causing an impact on an asset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never reach zero risk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COMPLY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— Meeting Obligations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demonstrating that the organization meets its external and internal obligations.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laws &amp; regulations (GDPR, HIPAA)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standards &amp; frameworks (PCI DSS, ISO 27001)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contractual commitments to customers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the organization's own policies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F2F8F9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0" y="18288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0802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needs evidence: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26680" y="3474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policies &amp; controls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that controls operate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assessment results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Reinforce Each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>
            <a:off x="3131820" y="1783080"/>
            <a:ext cx="22860" cy="1805940"/>
          </a:xfrm>
          <a:prstGeom prst="line">
            <a:avLst/>
          </a:prstGeom>
          <a:noFill/>
          <a:ln w="25400">
            <a:solidFill>
              <a:srgbClr val="9FC3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600200" y="3589020"/>
            <a:ext cx="1531620" cy="1303020"/>
          </a:xfrm>
          <a:prstGeom prst="line">
            <a:avLst/>
          </a:prstGeom>
          <a:noFill/>
          <a:ln w="25400">
            <a:solidFill>
              <a:srgbClr val="9FC3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1820" y="3589020"/>
            <a:ext cx="1577340" cy="1303020"/>
          </a:xfrm>
          <a:prstGeom prst="line">
            <a:avLst/>
          </a:prstGeom>
          <a:noFill/>
          <a:ln w="25400">
            <a:solidFill>
              <a:srgbClr val="9FC3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063240"/>
            <a:ext cx="1051560" cy="10515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3063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1097280" cy="10972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5087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4560" y="2368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51560" y="4343400"/>
            <a:ext cx="1097280" cy="10972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46177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5477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160520" y="4343400"/>
            <a:ext cx="1097280" cy="10972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6177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0" y="5477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0" y="1435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0408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focuses risk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040880" y="1828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sets the direction and risk appetite that tell risk management what matters most.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0" y="291693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040880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drives compliance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7040880" y="33101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assessments surface the threats that compliance controls and frameworks are chosen to address.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6400800" y="43982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040880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informs governance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7040880" y="479145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control evidence shows what's working — feeding back into the next governance decision.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GRC Professional Does Day to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58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939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807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score risks across the business.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75688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585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939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the risk register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36008" y="2807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risks, owners, and treatment plans.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075688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2585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0939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assessments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30768" y="28072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state to a framework.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41648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245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059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policies &amp; standards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41248" y="47731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requirements into clear, usable rules.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41648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2452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059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/ vendor risk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36008" y="47731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and monitor suppliers and partners.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041648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22452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059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&amp; audit support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30768" y="47731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staff; prepare evidence for audits.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it's less hacking, more assessing, documenting, organizing, and communicating.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SECURITY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CIA Triad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  ·  Integrity  ·  Availability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objectives every security control ultimately serves.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CIA Triad — Three Security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control exists to protect one or more of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5374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private — only authorized people can see 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286000"/>
            <a:ext cx="1005840" cy="10058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5374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6344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accurate &amp; trustworthy — no unauthorized changes.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19202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72600" y="228600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5374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458200" y="3886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systems &amp; data accessible when they're needed.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 any one corner and security as a whole is compromised.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vs. Safeguards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976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Objective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 Threat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 Safeguard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breach, eavesdropping, stolen credentials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Encryption, access control, MFA, 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Tampering, unauthorized edits, fraud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Hashing, change control, audit logs, approvals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Ransomware, DDoS, hardware 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Backups, redundancy, disaster recovery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GRC's job: make sure the right safeguards are chosen, documented, and verified for each objective.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INTENT TO 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423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Hierarchy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 →  Standard  →  Procedure  →  Guideline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that turn leadership's intent into day-to-day action.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Levels, From Broad to Specific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371600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48132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'why &amp; what.' </a:t>
            </a:r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intent and rules set by leadership — brief, stable, and required.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2450592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5603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'must.' </a:t>
            </a:r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 requirements that enforce the policy (e.g., MFA, key lengths).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6667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529584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6393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'how.' </a:t>
            </a:r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step-by-step instructions to carry out a task consistently.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6E7F84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745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157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4608576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71830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'should.' </a:t>
            </a:r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 advice — helpful and encouraged, but optional.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5779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go down: broader → more specific, and 'why' → 'how.' The first three are mandatory; guidelines are advisory.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THEME, FOUR LEVELS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Access &amp; Authentication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371600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48132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systems must enforce strong, multi-factor authentication.”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2450592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5603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≥ 14 characters; MFA required for all remote and administrator access.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6667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529584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6393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Open the identity portal  2) Select “Enroll MFA”  3) Scan the QR code  4) Confirm the 6-digit code.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2743200" cy="969264"/>
          </a:xfrm>
          <a:prstGeom prst="roundRect">
            <a:avLst>
              <a:gd name="adj" fmla="val 6604"/>
            </a:avLst>
          </a:prstGeom>
          <a:solidFill>
            <a:srgbClr val="6E7F84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745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157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4608576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7FBFC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71830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passphrase of four random words; admins should consider a hardware security key.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5779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topic, increasing specificity — that's the hierarchy in action.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08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= Governance (direction) + Risk (uncertainty) + Compliance (obligations), working as one.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877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4048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reinforce each other: governance steers, risk prioritizes, compliance verifies — then loops back.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731520" y="334670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8386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3009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— Confidentiality, Integrity, Availability — is the goal behind every security control.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31520" y="424281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7997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19709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hierarchy turns intent into action: Policy → Standard → Procedure → Guideline (only guidelines are optional).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731520" y="51389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7608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50932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GRC analyst mostly assesses, documents, and communicates — organizing security, not hacking it.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 ·  Class 1 — Session A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What's Next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1691640"/>
          </a:xfrm>
          <a:prstGeom prst="roundRect">
            <a:avLst>
              <a:gd name="adj" fmla="val 5405"/>
            </a:avLst>
          </a:prstGeom>
          <a:solidFill>
            <a:srgbClr val="12505F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97480"/>
            <a:ext cx="868680" cy="8686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B3C49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29146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5146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240280" y="2926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organization you know. Name one example each of a governance decision, a key risk it faces, and a compliance obligation it must meet.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45948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4480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Session B:  </a:t>
            </a:r>
            <a:pPr indent="0" marL="0">
              <a:buNone/>
            </a:pPr>
            <a:r>
              <a:rPr lang="en-US" sz="160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structures, the Three Lines of Defense, and key GRC roles.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Program  ·  Week 1  ·  Class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GRC Foundations — Class 1, Session A</dc:title>
  <dc:subject>PptxGenJS Presentation</dc:subject>
  <dc:creator>GRC Mastery Program</dc:creator>
  <cp:lastModifiedBy>GRC Mastery Program</cp:lastModifiedBy>
  <cp:revision>1</cp:revision>
  <dcterms:created xsi:type="dcterms:W3CDTF">2026-06-15T20:32:15Z</dcterms:created>
  <dcterms:modified xsi:type="dcterms:W3CDTF">2026-06-15T20:32:15Z</dcterms:modified>
</cp:coreProperties>
</file>