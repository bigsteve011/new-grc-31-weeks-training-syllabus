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PEL2+YlnIU1LTU+ZcZ5b0AQ6y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C2FB0F-35A5-486C-8FC3-F7DAB701605A}">
  <a:tblStyle styleId="{C6C2FB0F-35A5-486C-8FC3-F7DAB701605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session of Week 1. We zoom out to the framework landscape — the shared maps the whole profession uses — then introduce the NIST CSF 2.0 Functions that this entire course is structured around. Ends with your first deliverable.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expectations: this is a HIGH-LEVEL tour. We go deep on each framework in later weeks. The goal today is recognition and a mental map, not mastery.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Clarify the categories so the tour makes sense: a framework guides you, a certification proves you, a regulation compels you. Many organizations run several at once and map controls between them.</a:t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Quick tour. For each, give the one-sentence 'what it's for.' Students only need recognition today.</a:t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each card's one-liner. Anchor memory: CSF = organize, 800-53 = controls, ISO 27001 = certify, CIS = prioritize, COBIT = govern IT, SOC 2 = attest. These recur all program.</a:t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takeaway: pick a primary framework for your context, then map the others to it. A SaaS startup chases SOC 2 / ISO 27001; a federal contractor lives in 800-53/RMF; almost everyone can start with NIST CSF.</a:t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CSF 2.0 (released 2024) added GOVERN as a sixth, cross-cutting Function. We use these six as the filing cabinet for everything in the program.</a:t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wheel is the official CSF 2.0 picture. Govern is new in 2.0 and sits in the middle because governance touches everything. Have students trace the lifecycle: Identify what you have, Protect it, Detect issues, Respond, Recover — all under Govern.</a:t>
            </a:r>
            <a:endParaRPr/>
          </a:p>
        </p:txBody>
      </p:sp>
      <p:sp>
        <p:nvSpPr>
          <p:cNvPr id="145" name="Google Shape;14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each definition to one breath. These six verbs are worth memorizing — the milestone self-check asks students to recite them. Govern first because it frames the rest.</a:t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payoff of the whole session: the course isn't random topics — it's the CSF Functions in sequence. Reassure students that if they ever feel lost, they can locate the current week on this map.</a:t>
            </a:r>
            <a:endParaRPr/>
          </a:p>
        </p:txBody>
      </p:sp>
      <p:sp>
        <p:nvSpPr>
          <p:cNvPr id="219" name="Google Shape;21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 this as portfolio-building, not homework. The brief proves they can communicate to executives; the glossary proves they own the vocabulary. 'In your own words' is the rule that makes it stick.</a:t>
            </a:r>
            <a:endParaRPr/>
          </a:p>
        </p:txBody>
      </p:sp>
      <p:sp>
        <p:nvSpPr>
          <p:cNvPr id="230" name="Google Shape;23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this live as a quick round-robin. If anyone stumbles on the six Functions, point them back to the wheel. This self-check is the gate into Week 2.</a:t>
            </a:r>
            <a:endParaRPr/>
          </a:p>
        </p:txBody>
      </p:sp>
      <p:sp>
        <p:nvSpPr>
          <p:cNvPr id="252" name="Google Shape;25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Close the loop on Week 1. These five points plus the deliverable are the whole session. Then preview Week 2 — where the real GRC craft (risk assessment) begins.</a:t>
            </a:r>
            <a:endParaRPr/>
          </a:p>
        </p:txBody>
      </p:sp>
      <p:sp>
        <p:nvSpPr>
          <p:cNvPr id="278" name="Google Shape;27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of Week 1. Remind them the deliverable is due before Week 2, and that Week 2 is where GRC gets hands-on with risk assessment. Take a couple of discussion answers to close.</a:t>
            </a:r>
            <a:endParaRPr/>
          </a:p>
        </p:txBody>
      </p:sp>
      <p:sp>
        <p:nvSpPr>
          <p:cNvPr id="302" name="Google Shape;30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18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C49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GRC MASTERY PROGRAM  ·  WEEK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777240" y="1828800"/>
            <a:ext cx="10607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Framework Landscape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22960" y="28803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400"/>
              <a:buFont typeface="Cambria"/>
              <a:buNone/>
            </a:pPr>
            <a:r>
              <a:rPr b="0" i="1" lang="en-US" sz="24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The Maps GRC Professionals Navigate By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22960" y="35204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D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BFD6DB"/>
                </a:solidFill>
                <a:latin typeface="Calibri"/>
                <a:ea typeface="Calibri"/>
                <a:cs typeface="Calibri"/>
                <a:sym typeface="Calibri"/>
              </a:rPr>
              <a:t>Class 1  ·  Session C  ·  1.5 hours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22960" y="5029200"/>
            <a:ext cx="868680" cy="8686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130" y="524637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320040" y="597103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3E7"/>
                </a:solidFill>
                <a:latin typeface="Calibri"/>
                <a:ea typeface="Calibri"/>
                <a:cs typeface="Calibri"/>
                <a:sym typeface="Calibri"/>
              </a:rPr>
              <a:t>Frameworks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017520" y="5029200"/>
            <a:ext cx="868680" cy="8686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4690" y="524637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2514600" y="597103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3E7"/>
                </a:solidFill>
                <a:latin typeface="Calibri"/>
                <a:ea typeface="Calibri"/>
                <a:cs typeface="Calibri"/>
                <a:sym typeface="Calibri"/>
              </a:rPr>
              <a:t>NIST CSF 2.0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212080" y="5029200"/>
            <a:ext cx="868680" cy="8686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" name="Google Shape;2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0" y="524637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/>
          <p:nvPr/>
        </p:nvSpPr>
        <p:spPr>
          <a:xfrm>
            <a:off x="4709160" y="597103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3E7"/>
                </a:solidFill>
                <a:latin typeface="Calibri"/>
                <a:ea typeface="Calibri"/>
                <a:cs typeface="Calibri"/>
                <a:sym typeface="Calibri"/>
              </a:rPr>
              <a:t>Your Roadmap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SESSION 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What You'll Learn Today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You don't invent security from scratch — you adopt proven frameworks. Today: a tour of the big ones, and the model this course is built 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830" y="220599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1600200" y="201168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A tour of the major frameworks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600200" y="242316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NIST CSF 2.0, NIST 800-53, ISO/IEC 27001, CIS Controls, COBIT, and SOC 2.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77240" y="3264408"/>
            <a:ext cx="594360" cy="5943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830" y="3412998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1600200" y="3218688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The six NIST CSF 2.0 Functions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600200" y="363016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Govern, Identify, Protect, Detect, Respond, Recover — and how the course maps to them.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77240" y="4471416"/>
            <a:ext cx="594360" cy="5943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830" y="4620006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1600200" y="4425696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Your first deliverable &amp; milestone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600200" y="4837176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Document a</a:t>
            </a:r>
            <a:r>
              <a:rPr b="1"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GRC brief summary o</a:t>
            </a:r>
            <a:r>
              <a:rPr b="1"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 </a:t>
            </a:r>
            <a:r>
              <a:rPr b="1"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b="1"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we have covered so far</a:t>
            </a:r>
            <a:r>
              <a:rPr b="1"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and a 25-term glossary, and a Week 1 self-check.</a:t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ORIENTATION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Why So Many Frameworks?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A framework is a structured, reusable set of best practices. They give everyone a shared language so you don't reinvent security.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48640" y="2148840"/>
            <a:ext cx="3474720" cy="2514600"/>
          </a:xfrm>
          <a:prstGeom prst="roundRect">
            <a:avLst>
              <a:gd fmla="val 3273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1828800" y="2468880"/>
            <a:ext cx="914400" cy="91440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2697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731520" y="352044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Frameworks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68680" y="3950208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Voluntary blueprints you adopt and adapt (NIST CSF, CIS, COBIT).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343400" y="2148840"/>
            <a:ext cx="3474720" cy="2514600"/>
          </a:xfrm>
          <a:prstGeom prst="roundRect">
            <a:avLst>
              <a:gd fmla="val 3273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5623560" y="2468880"/>
            <a:ext cx="914400" cy="91440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2697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4526280" y="352044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Certifications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663440" y="3950208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Standards you can be formally certified or attested against (ISO 27001, SOC 2).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138160" y="2148840"/>
            <a:ext cx="3474720" cy="2514600"/>
          </a:xfrm>
          <a:prstGeom prst="roundRect">
            <a:avLst>
              <a:gd fmla="val 3273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9418320" y="2468880"/>
            <a:ext cx="914400" cy="91440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46920" y="2697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8321040" y="352044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Regulations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458200" y="3950208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Legal obligations you must meet (GDPR, HIPAA, PCI DSS — later weeks).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Different jobs, often used together — and most of them map to one another.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C49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THE BIG SIX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777240" y="242316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Tour of the Major Frameworks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100"/>
              <a:buFont typeface="Cambria"/>
              <a:buNone/>
            </a:pPr>
            <a:r>
              <a:rPr i="1" lang="en-US" sz="2100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Recognize them now — go deep later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D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BFD6DB"/>
                </a:solidFill>
                <a:latin typeface="Calibri"/>
                <a:ea typeface="Calibri"/>
                <a:cs typeface="Calibri"/>
                <a:sym typeface="Calibri"/>
              </a:rPr>
              <a:t>Six names that come up constantly in GRC work.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AT A GLANCE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The Six You'll Meet Most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48640" y="1783080"/>
            <a:ext cx="3474720" cy="1691640"/>
          </a:xfrm>
          <a:prstGeom prst="roundRect">
            <a:avLst>
              <a:gd fmla="val 4865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822960" y="2075688"/>
            <a:ext cx="731520" cy="73152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22585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1691640" y="2093976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NIST CSF 2.0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841248" y="2807208"/>
            <a:ext cx="2971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A flexible framework to organize and improve a whole cyber program.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343400" y="1783080"/>
            <a:ext cx="3474720" cy="1691640"/>
          </a:xfrm>
          <a:prstGeom prst="roundRect">
            <a:avLst>
              <a:gd fmla="val 4865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617720" y="2075688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22585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/>
          <p:nvPr/>
        </p:nvSpPr>
        <p:spPr>
          <a:xfrm>
            <a:off x="5486400" y="2093976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NIST SP 800-53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636008" y="2807208"/>
            <a:ext cx="2971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A deep catalog of security &amp; privacy controls (US federal / RMF).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8138160" y="1783080"/>
            <a:ext cx="3474720" cy="1691640"/>
          </a:xfrm>
          <a:prstGeom prst="roundRect">
            <a:avLst>
              <a:gd fmla="val 4865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8412480" y="2075688"/>
            <a:ext cx="731520" cy="73152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5360" y="22585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/>
          <p:nvPr/>
        </p:nvSpPr>
        <p:spPr>
          <a:xfrm>
            <a:off x="9281160" y="2093976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ISO/IEC 27001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8430768" y="2807208"/>
            <a:ext cx="2971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The international, certifiable standard for an ISMS.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48640" y="3730752"/>
            <a:ext cx="3474720" cy="1691640"/>
          </a:xfrm>
          <a:prstGeom prst="roundRect">
            <a:avLst>
              <a:gd fmla="val 4865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822960" y="4023360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5840" y="4206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1691640" y="4041648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CIS Controls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841248" y="4754880"/>
            <a:ext cx="2971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A prioritized, practical set of safeguards for quick wins.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343400" y="3730752"/>
            <a:ext cx="3474720" cy="1691640"/>
          </a:xfrm>
          <a:prstGeom prst="roundRect">
            <a:avLst>
              <a:gd fmla="val 4865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4617720" y="4023360"/>
            <a:ext cx="731520" cy="73152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00600" y="4206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5486400" y="4041648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COBIT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636008" y="4754880"/>
            <a:ext cx="2971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A framework for governing and managing enterprise IT.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138160" y="3730752"/>
            <a:ext cx="3474720" cy="1691640"/>
          </a:xfrm>
          <a:prstGeom prst="roundRect">
            <a:avLst>
              <a:gd fmla="val 4865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8412480" y="4023360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5360" y="4206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9281160" y="4041648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SOC 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8430768" y="4754880"/>
            <a:ext cx="2971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An attestation that proves your controls to customers &amp; partners.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You'll build a full comparison matrix later — for now, just learn what each is for.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HOW THEY DIFFER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Same Goal, Different Jobs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6"/>
          <p:cNvGraphicFramePr/>
          <p:nvPr/>
        </p:nvGraphicFramePr>
        <p:xfrm>
          <a:off x="54864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{C6C2FB0F-35A5-486C-8FC3-F7DAB701605A}</a:tableStyleId>
              </a:tblPr>
              <a:tblGrid>
                <a:gridCol w="2331725"/>
                <a:gridCol w="2514600"/>
                <a:gridCol w="2331725"/>
                <a:gridCol w="39136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Framework</a:t>
                      </a:r>
                      <a:endParaRPr sz="1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Type</a:t>
                      </a:r>
                      <a:endParaRPr sz="1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Origin</a:t>
                      </a:r>
                      <a:endParaRPr sz="1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Best known for</a:t>
                      </a:r>
                      <a:endParaRPr sz="1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NIST CSF 2.0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Voluntary framework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 — NIST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Organizing a whole program (6 Functions)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NIST SP 800-53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 catalog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 — NIST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Detailed controls for US federal / RMF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ISO/IEC 27001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Certifiable standard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International — ISO/IEC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certifiable ISMS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 Controls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Prioritized safeguards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 (non-profit)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Practical, prioritized quick wins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COBIT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Governance framework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ISACA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Governing &amp; managing enterprise IT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SOC 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Attestation report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AICPA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Proving controls to customers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6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They overlap heavily — most controls map across several, which is why crosswalks matter (Week 3+).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C49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THE COURSE BACKBONE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777240" y="242316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Six NIST CSF 2.0 Functions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100"/>
              <a:buFont typeface="Cambria"/>
              <a:buNone/>
            </a:pPr>
            <a:r>
              <a:rPr i="1" lang="en-US" sz="2100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Govern · Identify · Protect · Detect · Respond · Recover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D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BFD6DB"/>
                </a:solidFill>
                <a:latin typeface="Calibri"/>
                <a:ea typeface="Calibri"/>
                <a:cs typeface="Calibri"/>
                <a:sym typeface="Calibri"/>
              </a:rPr>
              <a:t>The model this entire course is organized around.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ONE FRAMEWORK, SIX FUNCTIONS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NIST CSF 2.0 — The Functions Wheel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8"/>
          <p:cNvCxnSpPr/>
          <p:nvPr/>
        </p:nvCxnSpPr>
        <p:spPr>
          <a:xfrm>
            <a:off x="6099048" y="2103120"/>
            <a:ext cx="0" cy="1783080"/>
          </a:xfrm>
          <a:prstGeom prst="straightConnector1">
            <a:avLst/>
          </a:prstGeom>
          <a:noFill/>
          <a:ln cap="flat" cmpd="sng" w="22225">
            <a:solidFill>
              <a:srgbClr val="AECD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8"/>
          <p:cNvCxnSpPr/>
          <p:nvPr/>
        </p:nvCxnSpPr>
        <p:spPr>
          <a:xfrm flipH="1">
            <a:off x="6099048" y="3335228"/>
            <a:ext cx="1695709" cy="550972"/>
          </a:xfrm>
          <a:prstGeom prst="straightConnector1">
            <a:avLst/>
          </a:prstGeom>
          <a:noFill/>
          <a:ln cap="flat" cmpd="sng" w="22225">
            <a:solidFill>
              <a:srgbClr val="AECD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8"/>
          <p:cNvCxnSpPr/>
          <p:nvPr/>
        </p:nvCxnSpPr>
        <p:spPr>
          <a:xfrm>
            <a:off x="6099048" y="3886200"/>
            <a:ext cx="1048451" cy="1442512"/>
          </a:xfrm>
          <a:prstGeom prst="straightConnector1">
            <a:avLst/>
          </a:prstGeom>
          <a:noFill/>
          <a:ln cap="flat" cmpd="sng" w="22225">
            <a:solidFill>
              <a:srgbClr val="AECD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8"/>
          <p:cNvCxnSpPr/>
          <p:nvPr/>
        </p:nvCxnSpPr>
        <p:spPr>
          <a:xfrm flipH="1">
            <a:off x="5050597" y="3886200"/>
            <a:ext cx="1048451" cy="1442512"/>
          </a:xfrm>
          <a:prstGeom prst="straightConnector1">
            <a:avLst/>
          </a:prstGeom>
          <a:noFill/>
          <a:ln cap="flat" cmpd="sng" w="22225">
            <a:solidFill>
              <a:srgbClr val="AECD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8"/>
          <p:cNvCxnSpPr/>
          <p:nvPr/>
        </p:nvCxnSpPr>
        <p:spPr>
          <a:xfrm>
            <a:off x="4403339" y="3335228"/>
            <a:ext cx="1695709" cy="550972"/>
          </a:xfrm>
          <a:prstGeom prst="straightConnector1">
            <a:avLst/>
          </a:prstGeom>
          <a:noFill/>
          <a:ln cap="flat" cmpd="sng" w="22225">
            <a:solidFill>
              <a:srgbClr val="AEC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8"/>
          <p:cNvSpPr/>
          <p:nvPr/>
        </p:nvSpPr>
        <p:spPr>
          <a:xfrm>
            <a:off x="5253228" y="3040380"/>
            <a:ext cx="1691640" cy="1691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3016" y="3282696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/>
          <p:nvPr/>
        </p:nvSpPr>
        <p:spPr>
          <a:xfrm>
            <a:off x="5253228" y="390448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0B3C49"/>
                </a:solidFill>
                <a:latin typeface="Cambria"/>
                <a:ea typeface="Cambria"/>
                <a:cs typeface="Cambria"/>
                <a:sym typeface="Cambria"/>
              </a:rPr>
              <a:t>GOVERN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253228" y="427024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cross-cutting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413248" y="1417320"/>
            <a:ext cx="1371600" cy="137160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" name="Google Shape;15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0448" y="16459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/>
          <p:nvPr/>
        </p:nvSpPr>
        <p:spPr>
          <a:xfrm>
            <a:off x="5413248" y="219456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Identify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7108957" y="2649428"/>
            <a:ext cx="1371600" cy="137160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66157" y="28780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7108957" y="342666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Protect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461699" y="4642912"/>
            <a:ext cx="1371600" cy="137160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18899" y="48715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/>
          <p:nvPr/>
        </p:nvSpPr>
        <p:spPr>
          <a:xfrm>
            <a:off x="6461699" y="542015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Detect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364797" y="4642912"/>
            <a:ext cx="1371600" cy="137160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1997" y="48715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/>
          <p:nvPr/>
        </p:nvSpPr>
        <p:spPr>
          <a:xfrm>
            <a:off x="4364797" y="542015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Respond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3717539" y="2649428"/>
            <a:ext cx="1371600" cy="137160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74739" y="28780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/>
          <p:nvPr/>
        </p:nvSpPr>
        <p:spPr>
          <a:xfrm>
            <a:off x="3717539" y="342666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Recover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Govern sits at the center — it informs and connects the other five.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WHAT EACH ONE MEANS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The Six Functions in Plain English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548640" y="1783080"/>
            <a:ext cx="3474720" cy="1691640"/>
          </a:xfrm>
          <a:prstGeom prst="roundRect">
            <a:avLst>
              <a:gd fmla="val 4865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822960" y="2075688"/>
            <a:ext cx="731520" cy="73152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22585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1691640" y="2093976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Govern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841248" y="2807208"/>
            <a:ext cx="2971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Set strategy, roles, policy &amp; oversight for managing cyber risk.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343400" y="1783080"/>
            <a:ext cx="3474720" cy="1691640"/>
          </a:xfrm>
          <a:prstGeom prst="roundRect">
            <a:avLst>
              <a:gd fmla="val 4865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4617720" y="2075688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0" name="Google Shape;1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22585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"/>
          <p:cNvSpPr/>
          <p:nvPr/>
        </p:nvSpPr>
        <p:spPr>
          <a:xfrm>
            <a:off x="5486400" y="2093976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Identify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636008" y="2807208"/>
            <a:ext cx="2971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Understand your assets, data, risks &amp; environment.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8138160" y="1783080"/>
            <a:ext cx="3474720" cy="1691640"/>
          </a:xfrm>
          <a:prstGeom prst="roundRect">
            <a:avLst>
              <a:gd fmla="val 4865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8412480" y="2075688"/>
            <a:ext cx="731520" cy="73152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5360" y="22585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/>
          <p:nvPr/>
        </p:nvSpPr>
        <p:spPr>
          <a:xfrm>
            <a:off x="9281160" y="2093976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Protect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8430768" y="2807208"/>
            <a:ext cx="2971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Put safeguards in place to limit or contain harm.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548640" y="3730752"/>
            <a:ext cx="3474720" cy="1691640"/>
          </a:xfrm>
          <a:prstGeom prst="roundRect">
            <a:avLst>
              <a:gd fmla="val 4865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822960" y="4023360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5840" y="4206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9"/>
          <p:cNvSpPr/>
          <p:nvPr/>
        </p:nvSpPr>
        <p:spPr>
          <a:xfrm>
            <a:off x="1691640" y="4041648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Detect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841248" y="4754880"/>
            <a:ext cx="2971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Find cybersecurity events quickly.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343400" y="3730752"/>
            <a:ext cx="3474720" cy="1691640"/>
          </a:xfrm>
          <a:prstGeom prst="roundRect">
            <a:avLst>
              <a:gd fmla="val 4865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4617720" y="4023360"/>
            <a:ext cx="731520" cy="73152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00600" y="4206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9"/>
          <p:cNvSpPr/>
          <p:nvPr/>
        </p:nvSpPr>
        <p:spPr>
          <a:xfrm>
            <a:off x="5486400" y="4041648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Respond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636008" y="4754880"/>
            <a:ext cx="2971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Act on a detected incident to contain it.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8138160" y="3730752"/>
            <a:ext cx="3474720" cy="1691640"/>
          </a:xfrm>
          <a:prstGeom prst="roundRect">
            <a:avLst>
              <a:gd fmla="val 4865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8412480" y="4023360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5360" y="4206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9"/>
          <p:cNvSpPr/>
          <p:nvPr/>
        </p:nvSpPr>
        <p:spPr>
          <a:xfrm>
            <a:off x="9281160" y="4041648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Recover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8430768" y="4754880"/>
            <a:ext cx="2971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Restore operations and learn from what happened.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Notice the lifecycle: know it → guard it → watch it → react → bounce back — all under governance.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YOUR ROADMAP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How This Course Maps to the Functions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" name="Google Shape;223;p10"/>
          <p:cNvGraphicFramePr/>
          <p:nvPr/>
        </p:nvGraphicFramePr>
        <p:xfrm>
          <a:off x="54864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{C6C2FB0F-35A5-486C-8FC3-F7DAB701605A}</a:tableStyleId>
              </a:tblPr>
              <a:tblGrid>
                <a:gridCol w="2651750"/>
                <a:gridCol w="84399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CSF Function</a:t>
                      </a:r>
                      <a:endParaRPr sz="1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Where this course goes deep</a:t>
                      </a:r>
                      <a:endParaRPr sz="1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Govern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Governance, policy &amp; oversight — this week, and threaded throughout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Identify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 management, asset management &amp; third-party risk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Protect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Security control design, IAM, data protection &amp; awareness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Audits, assessments &amp; monitoring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Respond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Incident response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Recover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Incident recovery &amp; business continuity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4" name="Google Shape;224;p10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50"/>
              <a:buFont typeface="Calibri"/>
              <a:buNone/>
            </a:pPr>
            <a:r>
              <a:rPr i="1" lang="en-US" sz="13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Every week, ask: “which Function am I working on right now?” That's your mental filing cabinet.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HANDS-ON DELIVERABLE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Your First Portfolio Artifact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640080" y="1554480"/>
            <a:ext cx="5349240" cy="3611880"/>
          </a:xfrm>
          <a:prstGeom prst="roundRect">
            <a:avLst>
              <a:gd fmla="val 2278" name="adj"/>
            </a:avLst>
          </a:prstGeom>
          <a:solidFill>
            <a:srgbClr val="F2F8F9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960120" y="1874520"/>
            <a:ext cx="868680" cy="86868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6" name="Google Shape;2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290" y="209169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1"/>
          <p:cNvSpPr/>
          <p:nvPr/>
        </p:nvSpPr>
        <p:spPr>
          <a:xfrm>
            <a:off x="2011680" y="199339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1 · Executive Brief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960120" y="2926080"/>
            <a:ext cx="4709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One page. Explain what GRC is, why it matters, and how Governance, Risk &amp; Compliance work together — written for a non-technical executive.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1143000" y="406908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Plain language — no jargon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C6B70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One page maximum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C6B70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Lead with 'why it matters'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217920" y="1554480"/>
            <a:ext cx="5349240" cy="3611880"/>
          </a:xfrm>
          <a:prstGeom prst="roundRect">
            <a:avLst>
              <a:gd fmla="val 2278" name="adj"/>
            </a:avLst>
          </a:prstGeom>
          <a:solidFill>
            <a:srgbClr val="F2F8F9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6537960" y="1874520"/>
            <a:ext cx="868680" cy="86868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5130" y="209169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/>
          <p:nvPr/>
        </p:nvSpPr>
        <p:spPr>
          <a:xfrm>
            <a:off x="7589520" y="199339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2 · Glossary of 25 Terms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6537960" y="2926080"/>
            <a:ext cx="4709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Define 25 key terms in your own words — e.g., governance, risk, compliance, CIA triad, policy, standard, three lines of defense, risk appetite, control, NIST CSF.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6720840" y="406908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Your own words — not copy-paste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C6B70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One or two clear sentences each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C6B70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Pull terms from Sessions A–C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640080" y="5349240"/>
            <a:ext cx="10927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Due before Week 2 — this is the first artifact in your GRC portfolio.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MILESTONE SELF-CHECK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Can You Do All Three?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Week 1 is complete when you can do these from memory: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640080" y="1965960"/>
            <a:ext cx="10908792" cy="1051560"/>
          </a:xfrm>
          <a:prstGeom prst="roundRect">
            <a:avLst>
              <a:gd fmla="val 7826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960120" y="2212848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852" y="235458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2"/>
          <p:cNvSpPr/>
          <p:nvPr/>
        </p:nvSpPr>
        <p:spPr>
          <a:xfrm>
            <a:off x="1783080" y="2130552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Explain GRC to a non-technical friend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1783080" y="2514600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In plain English — what it is and why it matters.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640080" y="3172968"/>
            <a:ext cx="10908792" cy="1051560"/>
          </a:xfrm>
          <a:prstGeom prst="roundRect">
            <a:avLst>
              <a:gd fmla="val 7826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960120" y="3419856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4" name="Google Shape;2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852" y="356158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2"/>
          <p:cNvSpPr/>
          <p:nvPr/>
        </p:nvSpPr>
        <p:spPr>
          <a:xfrm>
            <a:off x="1783080" y="3337560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Name the three lines of defense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1783080" y="3721608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Own it (1st) · oversee it (2nd) · assure it (3rd).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640080" y="4379976"/>
            <a:ext cx="10908792" cy="1051560"/>
          </a:xfrm>
          <a:prstGeom prst="roundRect">
            <a:avLst>
              <a:gd fmla="val 7826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960120" y="4626864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9" name="Google Shape;2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852" y="476859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2"/>
          <p:cNvSpPr/>
          <p:nvPr/>
        </p:nvSpPr>
        <p:spPr>
          <a:xfrm>
            <a:off x="1783080" y="4544568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List the six NIST CSF 2.0 Functions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1783080" y="4928616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Govern · Identify · Protect · Detect · Respond · Recover.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640080" y="5715000"/>
            <a:ext cx="10927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All three? You're ready for Week 2.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RECAP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3" name="Google Shape;28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691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3"/>
          <p:cNvSpPr/>
          <p:nvPr/>
        </p:nvSpPr>
        <p:spPr>
          <a:xfrm>
            <a:off x="1508760" y="1508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Frameworks give a shared language — you adopt and adapt proven practice instead of reinventing security.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731520" y="2450592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587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3"/>
          <p:cNvSpPr/>
          <p:nvPr/>
        </p:nvSpPr>
        <p:spPr>
          <a:xfrm>
            <a:off x="1508760" y="240487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The big six: NIST CSF (organize), 800-53 (controls), ISO 27001 (certify), CIS (prioritize), COBIT (govern IT), SOC 2 (attest).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731520" y="3346704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9" name="Google Shape;2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34838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3"/>
          <p:cNvSpPr/>
          <p:nvPr/>
        </p:nvSpPr>
        <p:spPr>
          <a:xfrm>
            <a:off x="1508760" y="3300984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NIST CSF 2.0 has six Functions — Govern, Identify, Protect, Detect, Respond, Recover — with Govern at the center.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731520" y="4242816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2" name="Google Shape;2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43799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3"/>
          <p:cNvSpPr/>
          <p:nvPr/>
        </p:nvSpPr>
        <p:spPr>
          <a:xfrm>
            <a:off x="1508760" y="4197096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This whole course is structured around those Functions — they're your mental filing cabinet.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731520" y="5138928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5" name="Google Shape;2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52760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3"/>
          <p:cNvSpPr/>
          <p:nvPr/>
        </p:nvSpPr>
        <p:spPr>
          <a:xfrm>
            <a:off x="1508760" y="509320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Your first portfolio artifact: a one-page GRC brief + a 25-term glossary, in your own words.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C49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"/>
          <p:cNvSpPr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777240" y="114300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Discussion &amp; What's Next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822960" y="2286000"/>
            <a:ext cx="10515600" cy="1691640"/>
          </a:xfrm>
          <a:prstGeom prst="roundRect">
            <a:avLst>
              <a:gd fmla="val 5405" name="adj"/>
            </a:avLst>
          </a:prstGeom>
          <a:solidFill>
            <a:srgbClr val="12505F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1143000" y="2697480"/>
            <a:ext cx="868680" cy="868680"/>
          </a:xfrm>
          <a:prstGeom prst="ellipse">
            <a:avLst/>
          </a:prstGeom>
          <a:solidFill>
            <a:srgbClr val="02C39A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0170" y="291465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4"/>
          <p:cNvSpPr/>
          <p:nvPr/>
        </p:nvSpPr>
        <p:spPr>
          <a:xfrm>
            <a:off x="2240280" y="2514600"/>
            <a:ext cx="8869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Discuss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2240280" y="292608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Which of the six frameworks have you already heard of at work or online? Where do you think each one would fit best?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914400" y="4434840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2" name="Google Shape;3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420" y="45948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4"/>
          <p:cNvSpPr/>
          <p:nvPr/>
        </p:nvSpPr>
        <p:spPr>
          <a:xfrm>
            <a:off x="1783080" y="448056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Up next — Week 2:  </a:t>
            </a:r>
            <a:r>
              <a:rPr lang="en-US" sz="1600">
                <a:solidFill>
                  <a:srgbClr val="DCEAEE"/>
                </a:solidFill>
                <a:latin typeface="Calibri"/>
                <a:ea typeface="Calibri"/>
                <a:cs typeface="Calibri"/>
                <a:sym typeface="Calibri"/>
              </a:rPr>
              <a:t>Cybersecurity Risk Management — identify, assess, treat &amp; track risk, and build your first risk register.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822960" y="60350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GRC Mastery Program  ·  Week 1  ·  Class 1  —  Session C of 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2026-06-15T21:34:32Z</dcterms:created>
  <dc:creator>GRC Mastery Program</dc:creator>
</cp:coreProperties>
</file>