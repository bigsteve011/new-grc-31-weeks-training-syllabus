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rAt5Dv/7EurHtu9Gceets+HmH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0C5C61-4091-4117-AFC3-154512A01334}">
  <a:tblStyle styleId="{4C0C5C61-4091-4117-AFC3-154512A0133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Session B builds on the GRC definitions from Session A: now we look at HOW governance is structured in a real organization — who owns risk, who oversees it, who assures it, and how leadership steers the whole thing. 1.5 hours.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blocks today, mapping to the three bullet points. Keep tying it back to a real org the students know. Tell them these structures appear in every framework (ISO 27001, NIST) they'll meet later.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model (from the Institute of Internal Auditors) is the backbone of governance structure. The key word is INDEPENDENCE — separating the doers from the checkers.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top-down. The board oversees everything. First line = the people doing the work and owning their risks. Second line = functions like the CISO, GRC, compliance that set rules and watch. Third line = internal audit, independent, reporting to the board so it can't be leaned on by management.</a:t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detail behind the model. Emphasize the second line's dual job: support AND challenge the first line. And the third line's golden rule: no operational ownership, or it loses independence. Ask where the CISO sits (second line).</a:t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Pivot from structure to people. The recurring failure mode in GRC is ambiguous ownership — a risk that everyone sees and no one owns.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 accountable vs responsible (a RACI concept they'll use all program). A risk owner can delegate the work but stays accountable for the decision. The CISO owns the program but isn't personally responsible for every control.</a:t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table is the synthesis of the section. Quick check: ask the class which line the GRC analyst is in (second) and why the auditor must be third. Great formative checkpoint before moving to governance mechanisms.</a:t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Structure and roles need machinery to operate: documents that grant authority, forums that decide, reporting that creates visibility — and leadership tone that sets the culture.</a:t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Concrete examples: a charter for the security steering committee; a monthly committee meeting that approves the risk treatment plan; a quarterly board pack with the top risks and KRIs. These are real artifacts a GRC analyst helps produce.</a:t>
            </a:r>
            <a:endParaRPr/>
          </a:p>
        </p:txBody>
      </p:sp>
      <p:sp>
        <p:nvSpPr>
          <p:cNvPr id="196" name="Google Shape;1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single most important governance idea and the hardest to engineer. No framework, charter, or committee survives a leadership team that doesn't visibly care. Ask students for examples of good and bad tone they've seen.</a:t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Five-point recap — the skeleton of governance structure. If they remember the three lines and 'tone at the top,' the session landed. Tee up Session C: the framework &amp; regulatory landscape.</a:t>
            </a:r>
            <a:endParaRPr/>
          </a:p>
        </p:txBody>
      </p:sp>
      <p:sp>
        <p:nvSpPr>
          <p:cNvPr id="238" name="Google Shape;23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 two or three students answer the independence question — it's the heart of the three-lines model and a common real-world failure. Bridge into Session C, where we map the frameworks that formalize all this.</a:t>
            </a:r>
            <a:endParaRPr/>
          </a:p>
        </p:txBody>
      </p:sp>
      <p:sp>
        <p:nvSpPr>
          <p:cNvPr id="262" name="Google Shape;2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d9956900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ed9956900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Five-point recap — the skeleton of governance structure. If they remember the three lines and 'tone at the top,' the session landed. Tee up Session C: the framework &amp; regulatory landscape.</a:t>
            </a:r>
            <a:endParaRPr/>
          </a:p>
        </p:txBody>
      </p:sp>
      <p:sp>
        <p:nvSpPr>
          <p:cNvPr id="278" name="Google Shape;278;g3ed99569001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GRC MASTERY PROGRAM  ·  WEEK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77240" y="182880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Governance Structures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Who Governs — Lines, Roles &amp; Oversight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FD6DB"/>
                </a:solidFill>
                <a:latin typeface="Calibri"/>
                <a:ea typeface="Calibri"/>
                <a:cs typeface="Calibri"/>
                <a:sym typeface="Calibri"/>
              </a:rPr>
              <a:t>Class 1  ·  Session B  ·  1.5 hours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5029200"/>
            <a:ext cx="868680" cy="8686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30" y="52463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02920" y="597103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3E7"/>
                </a:solidFill>
                <a:latin typeface="Calibri"/>
                <a:ea typeface="Calibri"/>
                <a:cs typeface="Calibri"/>
                <a:sym typeface="Calibri"/>
              </a:rPr>
              <a:t>Three 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743200" y="5029200"/>
            <a:ext cx="868680" cy="8686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0370" y="52463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2423160" y="597103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3E7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663440" y="5029200"/>
            <a:ext cx="868680" cy="8686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0610" y="52463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4343400" y="597103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3E7"/>
                </a:solidFill>
                <a:latin typeface="Calibri"/>
                <a:ea typeface="Calibri"/>
                <a:cs typeface="Calibri"/>
                <a:sym typeface="Calibri"/>
              </a:rPr>
              <a:t>Oversight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SESSION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What You'll Learn Today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Building on Session A: governance only works when responsibilities are clearly structured. Today — the structures that make it real.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830" y="22059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1600200" y="201168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The Three Lines of Defense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600200" y="242316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How organizations separate owning, overseeing, and assuring risk.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77240" y="3264408"/>
            <a:ext cx="594360" cy="5943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830" y="3412998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1600200" y="3218688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Roles &amp; responsibilities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600200" y="363016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CISO, GRC analyst, risk owner, control owner, and auditor.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77240" y="4471416"/>
            <a:ext cx="594360" cy="594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830" y="4620006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1600200" y="442569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Security governance in action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600200" y="4837176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Charters, steering committees, board reporting, and 'tone at the top.'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STRUCTURE FOR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77240" y="242316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Three Lines of Defense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100"/>
              <a:buFont typeface="Cambria"/>
              <a:buNone/>
            </a:pPr>
            <a:r>
              <a:rPr b="0" i="1" lang="en-US" sz="21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Own it  ·  Oversee it  ·  Assure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FD6DB"/>
                </a:solidFill>
                <a:latin typeface="Calibri"/>
                <a:ea typeface="Calibri"/>
                <a:cs typeface="Calibri"/>
                <a:sym typeface="Calibri"/>
              </a:rPr>
              <a:t>A model for separating who manages risk from who checks the work.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The Three Lines of Defense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40080" y="1325880"/>
            <a:ext cx="10908792" cy="731520"/>
          </a:xfrm>
          <a:prstGeom prst="roundRect">
            <a:avLst>
              <a:gd fmla="val 10000" name="adj"/>
            </a:avLst>
          </a:prstGeom>
          <a:solidFill>
            <a:srgbClr val="0B3C49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640080" y="132588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Governing Body  </a:t>
            </a:r>
            <a:r>
              <a:rPr b="0" i="0" lang="en-US" sz="1500" u="none" cap="none" strike="noStrike">
                <a:solidFill>
                  <a:srgbClr val="CFE3E7"/>
                </a:solidFill>
                <a:latin typeface="Calibri"/>
                <a:ea typeface="Calibri"/>
                <a:cs typeface="Calibri"/>
                <a:sym typeface="Calibri"/>
              </a:rPr>
              <a:t>— Board &amp; Audit Committee  ·  ultimate oversight &amp; accountability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4"/>
          <p:cNvCxnSpPr/>
          <p:nvPr/>
        </p:nvCxnSpPr>
        <p:spPr>
          <a:xfrm>
            <a:off x="2331720" y="205740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9FC3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4"/>
          <p:cNvSpPr/>
          <p:nvPr/>
        </p:nvSpPr>
        <p:spPr>
          <a:xfrm>
            <a:off x="640080" y="2377440"/>
            <a:ext cx="3383280" cy="2788920"/>
          </a:xfrm>
          <a:prstGeom prst="roundRect">
            <a:avLst>
              <a:gd fmla="val 2951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874520" y="260604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3120" y="2834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822960" y="36576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FIRST 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22960" y="391363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Operational Management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914400" y="4407408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Owns and manages risk day to day — runs the business and its controls.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22960" y="486460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Owns the 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4"/>
          <p:cNvCxnSpPr/>
          <p:nvPr/>
        </p:nvCxnSpPr>
        <p:spPr>
          <a:xfrm>
            <a:off x="6089904" y="205740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9FC3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4"/>
          <p:cNvSpPr/>
          <p:nvPr/>
        </p:nvSpPr>
        <p:spPr>
          <a:xfrm>
            <a:off x="4398264" y="2377440"/>
            <a:ext cx="3383280" cy="2788920"/>
          </a:xfrm>
          <a:prstGeom prst="roundRect">
            <a:avLst>
              <a:gd fmla="val 2951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632704" y="2606040"/>
            <a:ext cx="914400" cy="91440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1304" y="2834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4581144" y="36576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SECOND 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81144" y="391363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Risk &amp; Compliance Functions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672584" y="4407408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Oversees, advises, and challenges the first line — sets policy and monitors.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81144" y="486460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Oversees the 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4"/>
          <p:cNvCxnSpPr/>
          <p:nvPr/>
        </p:nvCxnSpPr>
        <p:spPr>
          <a:xfrm>
            <a:off x="9848088" y="205740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9FC3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4"/>
          <p:cNvSpPr/>
          <p:nvPr/>
        </p:nvSpPr>
        <p:spPr>
          <a:xfrm>
            <a:off x="8156448" y="2377440"/>
            <a:ext cx="3383280" cy="2788920"/>
          </a:xfrm>
          <a:prstGeom prst="roundRect">
            <a:avLst>
              <a:gd fmla="val 2951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9390888" y="260604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9488" y="2834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8339328" y="36576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THIRD 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339328" y="391363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Internal Audit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430768" y="4407408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Independent, objective assurance — reports to the board, not to management.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339328" y="486460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Assures the 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Outside the organization: external auditors &amp; regulators provide independent assurance of their own.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WHO DOES WHAT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Responsibilities of Each 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40080" y="1417320"/>
            <a:ext cx="2926080" cy="1417320"/>
          </a:xfrm>
          <a:prstGeom prst="roundRect">
            <a:avLst>
              <a:gd fmla="val 4516" name="adj"/>
            </a:avLst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1719072" y="1581912"/>
            <a:ext cx="768096" cy="768096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1096" y="17739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640080" y="23317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First 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40080" y="258775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6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AF6F8"/>
                </a:solidFill>
                <a:latin typeface="Calibri"/>
                <a:ea typeface="Calibri"/>
                <a:cs typeface="Calibri"/>
                <a:sym typeface="Calibri"/>
              </a:rPr>
              <a:t>Operational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794760" y="1417320"/>
            <a:ext cx="7726680" cy="1417320"/>
          </a:xfrm>
          <a:prstGeom prst="roundRect">
            <a:avLst>
              <a:gd fmla="val 4516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114800" y="1581912"/>
            <a:ext cx="6355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Own risks and run day-to-day controls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628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Front-line managers &amp; staff — the doers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628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Fix issues and escalate upward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114800" y="2450592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Example roles:  </a:t>
            </a:r>
            <a:r>
              <a:rPr b="0" i="1" lang="en-US" sz="12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Risk owners · control owners · IT &amp; business teams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40080" y="2980944"/>
            <a:ext cx="2926080" cy="1417320"/>
          </a:xfrm>
          <a:prstGeom prst="roundRect">
            <a:avLst>
              <a:gd fmla="val 4516" name="adj"/>
            </a:avLst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719072" y="3145536"/>
            <a:ext cx="768096" cy="768096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1096" y="33375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640080" y="389534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Second 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40080" y="415137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6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AF6F8"/>
                </a:solidFill>
                <a:latin typeface="Calibri"/>
                <a:ea typeface="Calibri"/>
                <a:cs typeface="Calibri"/>
                <a:sym typeface="Calibri"/>
              </a:rPr>
              <a:t>Risk &amp;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794760" y="2980944"/>
            <a:ext cx="7726680" cy="1417320"/>
          </a:xfrm>
          <a:prstGeom prst="roundRect">
            <a:avLst>
              <a:gd fmla="val 4516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114800" y="3145536"/>
            <a:ext cx="6355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Set policy, frameworks &amp; risk appetite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628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Monitor, advise, and challenge the first 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628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Aggregate and report risk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114800" y="4014216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Example roles:  </a:t>
            </a:r>
            <a:r>
              <a:rPr b="0" i="1" lang="en-US" sz="12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CISO · GRC · risk &amp; compliance teams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0080" y="4544568"/>
            <a:ext cx="2926080" cy="1417320"/>
          </a:xfrm>
          <a:prstGeom prst="roundRect">
            <a:avLst>
              <a:gd fmla="val 4516" name="adj"/>
            </a:avLst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719072" y="4709160"/>
            <a:ext cx="768096" cy="768096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1096" y="49011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640080" y="54589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Third 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40080" y="57150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6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AF6F8"/>
                </a:solidFill>
                <a:latin typeface="Calibri"/>
                <a:ea typeface="Calibri"/>
                <a:cs typeface="Calibri"/>
                <a:sym typeface="Calibri"/>
              </a:rPr>
              <a:t>Internal Audit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794760" y="4544568"/>
            <a:ext cx="7726680" cy="1417320"/>
          </a:xfrm>
          <a:prstGeom prst="roundRect">
            <a:avLst>
              <a:gd fmla="val 4516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114800" y="4709160"/>
            <a:ext cx="6355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Independently test whether lines 1 &amp; 2 work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628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Report objectively to the board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628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Hold no operational ownership (independence)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114800" y="5577840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Example roles:  </a:t>
            </a:r>
            <a:r>
              <a:rPr b="0" i="1" lang="en-US" sz="12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Internal auditors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WHO'S ACCOUNTABLE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77240" y="242316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Roles &amp; Responsibilities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100"/>
              <a:buFont typeface="Cambria"/>
              <a:buNone/>
            </a:pPr>
            <a:r>
              <a:rPr b="0" i="1" lang="en-US" sz="21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Five roles you'll meet every day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FD6DB"/>
                </a:solidFill>
                <a:latin typeface="Calibri"/>
                <a:ea typeface="Calibri"/>
                <a:cs typeface="Calibri"/>
                <a:sym typeface="Calibri"/>
              </a:rPr>
              <a:t>Clear roles prevent the two deadly gaps: nobody owns it, or everybody assumes someone else does.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KEY PLAYERS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Five Roles You Need to Know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0080" y="1554480"/>
            <a:ext cx="3383280" cy="1874520"/>
          </a:xfrm>
          <a:prstGeom prst="roundRect">
            <a:avLst>
              <a:gd fmla="val 4390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914400" y="1847088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" y="2041398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1828800" y="190195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CISO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32688" y="265176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Owns the security program &amp; strategy; reports risk to executives and the board.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398264" y="1554480"/>
            <a:ext cx="3383280" cy="1874520"/>
          </a:xfrm>
          <a:prstGeom prst="roundRect">
            <a:avLst>
              <a:gd fmla="val 4390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672584" y="1847088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6894" y="2041398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5586984" y="190195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GRC Analyst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690872" y="265176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Runs assessments, maintains the risk register, drafts policy, and supports audits.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156448" y="1554480"/>
            <a:ext cx="3383280" cy="1874520"/>
          </a:xfrm>
          <a:prstGeom prst="roundRect">
            <a:avLst>
              <a:gd fmla="val 4390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8430768" y="1847088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25078" y="2041398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9345168" y="190195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Auditor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449056" y="265176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Independently tests controls and gives objective assurance.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525116" y="3703320"/>
            <a:ext cx="3383280" cy="1874520"/>
          </a:xfrm>
          <a:prstGeom prst="roundRect">
            <a:avLst>
              <a:gd fmla="val 4390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2799436" y="3995928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93746" y="4190238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3713836" y="405079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Risk Owner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817724" y="480060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Accountable for a specific risk and the decision to treat or accept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283300" y="3703320"/>
            <a:ext cx="3383280" cy="1874520"/>
          </a:xfrm>
          <a:prstGeom prst="roundRect">
            <a:avLst>
              <a:gd fmla="val 4390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557620" y="3995928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51930" y="4190238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7472020" y="405079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Control Owner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575908" y="480060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Responsible for operating and maintaining a specific control.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Accountable vs. responsible: the owner is answerable for the outcome; others may do the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PUTTING IT TOGETHER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Where Each Role Sits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8"/>
          <p:cNvGraphicFramePr/>
          <p:nvPr/>
        </p:nvGraphicFramePr>
        <p:xfrm>
          <a:off x="64008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{4C0C5C61-4091-4117-AFC3-154512A01334}</a:tableStyleId>
              </a:tblPr>
              <a:tblGrid>
                <a:gridCol w="2926075"/>
                <a:gridCol w="2743200"/>
                <a:gridCol w="52395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mbria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Role</a:t>
                      </a:r>
                      <a:endParaRPr sz="15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mbria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Line of Defense</a:t>
                      </a:r>
                      <a:endParaRPr sz="15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mbria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Accountable For</a:t>
                      </a:r>
                      <a:endParaRPr sz="15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Second line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 strategy, oversight, and executive / board reporting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GRC Analyst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Second line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Assessments, risk register, policy, and audit support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Owner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 line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Owning and treating (or accepting) a specific risk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Owner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 line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Operating a specific control day to day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Internal Auditor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Third line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8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8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Independent assurance that controls actually work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8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The same model from earlier — now you can place every person in the room.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MAKING IT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777240" y="242316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Security Governance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100"/>
              <a:buFont typeface="Cambria"/>
              <a:buNone/>
            </a:pPr>
            <a:r>
              <a:rPr b="0" i="1" lang="en-US" sz="21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Charters · Committees · Reporting · Tone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FD6DB"/>
                </a:solidFill>
                <a:latin typeface="Calibri"/>
                <a:ea typeface="Calibri"/>
                <a:cs typeface="Calibri"/>
                <a:sym typeface="Calibri"/>
              </a:rPr>
              <a:t>The mechanisms that give structure authority — and the culture that makes it stick.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MACHINERY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How Governance Actually Operates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48640" y="1828800"/>
            <a:ext cx="3474720" cy="2834640"/>
          </a:xfrm>
          <a:prstGeom prst="roundRect">
            <a:avLst>
              <a:gd fmla="val 2903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1783080" y="2194560"/>
            <a:ext cx="1005840" cy="100584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4540" y="24460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/>
          <p:nvPr/>
        </p:nvSpPr>
        <p:spPr>
          <a:xfrm>
            <a:off x="731520" y="33375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Charter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868680" y="379476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A formal document that grants a function or committee its mandate, scope, and authority.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343400" y="1828800"/>
            <a:ext cx="3474720" cy="2834640"/>
          </a:xfrm>
          <a:prstGeom prst="roundRect">
            <a:avLst>
              <a:gd fmla="val 2903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5577840" y="2194560"/>
            <a:ext cx="1005840" cy="100584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9300" y="24460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4526280" y="33375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Steering Committee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663440" y="379476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A cross-functional leadership group that sets direction, prioritizes, and decides.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8138160" y="1828800"/>
            <a:ext cx="3474720" cy="2834640"/>
          </a:xfrm>
          <a:prstGeom prst="roundRect">
            <a:avLst>
              <a:gd fmla="val 2903" name="adj"/>
            </a:avLst>
          </a:prstGeom>
          <a:solidFill>
            <a:srgbClr val="F7FBF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9372600" y="2194560"/>
            <a:ext cx="1005840" cy="100584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4060" y="24460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/>
          <p:nvPr/>
        </p:nvSpPr>
        <p:spPr>
          <a:xfrm>
            <a:off x="8321040" y="33375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Board Reporting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8458200" y="379476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Regular, clear reporting of security &amp; risk posture up to leadership and the board.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Together they answer: who has authority, who decides, and who is kept informed.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MULTIPLIER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“Tone at the Top”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40080" y="1508760"/>
            <a:ext cx="4114800" cy="4160520"/>
          </a:xfrm>
          <a:prstGeom prst="roundRect">
            <a:avLst>
              <a:gd fmla="val 2000" name="adj"/>
            </a:avLst>
          </a:prstGeom>
          <a:solidFill>
            <a:srgbClr val="F2F8F9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2057400" y="2057400"/>
            <a:ext cx="1280160" cy="128016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7440" y="23774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/>
          <p:nvPr/>
        </p:nvSpPr>
        <p:spPr>
          <a:xfrm>
            <a:off x="822960" y="361188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Tone at the Top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822960" y="40690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The culture multiplier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822960" y="475488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Structure without tone is just paperwork.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120640" y="1600200"/>
            <a:ext cx="6492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Leadership's visible commitment to security and ethics sets the culture for everyone else.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5257800" y="2514600"/>
            <a:ext cx="63093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Policies only work if leaders model them and fund them.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Good signs: leaders follow the rules, ask about risk, and resource security.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Bad tone cascades — if the top cuts corners, so will everyone below.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It is the multiplier that makes (or breaks) every other control.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691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2"/>
          <p:cNvSpPr/>
          <p:nvPr/>
        </p:nvSpPr>
        <p:spPr>
          <a:xfrm>
            <a:off x="1508760" y="1508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Governance needs structure — the Three Lines of Defense separates owning, overseeing, and assuring risk.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731520" y="2450592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587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2"/>
          <p:cNvSpPr/>
          <p:nvPr/>
        </p:nvSpPr>
        <p:spPr>
          <a:xfrm>
            <a:off x="1508760" y="240487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First line owns risk; second line (CISO, GRC, compliance) oversees &amp; challenges; third line (internal audit) assures, independently.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731520" y="3346704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4838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2"/>
          <p:cNvSpPr/>
          <p:nvPr/>
        </p:nvSpPr>
        <p:spPr>
          <a:xfrm>
            <a:off x="1508760" y="3300984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Clear roles prevent gaps: risk &amp; control owners (1st line), CISO &amp; GRC analyst (2nd line), auditor (3rd line).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731520" y="4242816"/>
            <a:ext cx="548640" cy="5486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43799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2"/>
          <p:cNvSpPr/>
          <p:nvPr/>
        </p:nvSpPr>
        <p:spPr>
          <a:xfrm>
            <a:off x="1508760" y="4197096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Governance runs on mechanisms: charters grant authority, committees decide, board reporting creates visibility.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31520" y="513892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52760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/>
          <p:nvPr/>
        </p:nvSpPr>
        <p:spPr>
          <a:xfrm>
            <a:off x="1508760" y="509320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“Tone at the top” is the multiplier — without leadership commitment, structure is just paper.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49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Discussion &amp; What's Next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822960" y="2286000"/>
            <a:ext cx="10515600" cy="1691640"/>
          </a:xfrm>
          <a:prstGeom prst="roundRect">
            <a:avLst>
              <a:gd fmla="val 5405" name="adj"/>
            </a:avLst>
          </a:prstGeom>
          <a:solidFill>
            <a:srgbClr val="12505F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1143000" y="2697480"/>
            <a:ext cx="868680" cy="868680"/>
          </a:xfrm>
          <a:prstGeom prst="ellipse">
            <a:avLst/>
          </a:prstGeom>
          <a:solidFill>
            <a:srgbClr val="02C39A"/>
          </a:solidFill>
          <a:ln>
            <a:noFill/>
          </a:ln>
          <a:effectLst>
            <a:outerShdw blurRad="88900" rotWithShape="0" algn="bl" dir="5400000" dist="38100">
              <a:srgbClr val="0B3C49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0170" y="291465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/>
          <p:nvPr/>
        </p:nvSpPr>
        <p:spPr>
          <a:xfrm>
            <a:off x="2240280" y="2514600"/>
            <a:ext cx="8869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Discuss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2240280" y="292608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an organization you know, who plays each of the three lines? Is internal audit truly independent — or does it report to the people it audits?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914400" y="443484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420" y="4594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1783080" y="448056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Up next — Session C:  </a:t>
            </a:r>
            <a:r>
              <a:rPr b="0" i="0" lang="en-US" sz="1600" u="none" cap="none" strike="noStrike">
                <a:solidFill>
                  <a:srgbClr val="DCEAEE"/>
                </a:solidFill>
                <a:latin typeface="Calibri"/>
                <a:ea typeface="Calibri"/>
                <a:cs typeface="Calibri"/>
                <a:sym typeface="Calibri"/>
              </a:rPr>
              <a:t>The framework &amp; regulatory landscape — NIST CSF, ISO 27001, COBIT, CSA, and key regulations.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B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B3BB"/>
                </a:solidFill>
                <a:latin typeface="Calibri"/>
                <a:ea typeface="Calibri"/>
                <a:cs typeface="Calibri"/>
                <a:sym typeface="Calibri"/>
              </a:rPr>
              <a:t>GRC Mastery Program  ·  Week 1  ·  Class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d99569001_0_4"/>
          <p:cNvSpPr/>
          <p:nvPr/>
        </p:nvSpPr>
        <p:spPr>
          <a:xfrm>
            <a:off x="548640" y="292608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ed99569001_0_4"/>
          <p:cNvSpPr/>
          <p:nvPr/>
        </p:nvSpPr>
        <p:spPr>
          <a:xfrm>
            <a:off x="548640" y="384048"/>
            <a:ext cx="1106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82E"/>
                </a:solidFill>
                <a:latin typeface="Cambria"/>
                <a:ea typeface="Cambria"/>
                <a:cs typeface="Cambria"/>
                <a:sym typeface="Cambria"/>
              </a:rPr>
              <a:t>Final Case Study (10 mins)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d99569001_0_4"/>
          <p:cNvSpPr/>
          <p:nvPr/>
        </p:nvSpPr>
        <p:spPr>
          <a:xfrm>
            <a:off x="824525" y="1115450"/>
            <a:ext cx="10788300" cy="17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The Scenario:</a:t>
            </a:r>
            <a:endParaRPr b="1"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A fintech company suffers a phishing attack. Employee clicks malicious link. Credentials get stolen, and an attacker accesses the payment system.</a:t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Questions:</a:t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Who is first line?</a:t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Who is second line?</a:t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Who is third line?</a:t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Who owns the risk?</a:t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Who owns the control?</a:t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500">
                <a:solidFill>
                  <a:srgbClr val="16282E"/>
                </a:solidFill>
                <a:latin typeface="Calibri"/>
                <a:ea typeface="Calibri"/>
                <a:cs typeface="Calibri"/>
                <a:sym typeface="Calibri"/>
              </a:rPr>
              <a:t>What should the CISO report to the board?</a:t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2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628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d99569001_0_4"/>
          <p:cNvSpPr/>
          <p:nvPr/>
        </p:nvSpPr>
        <p:spPr>
          <a:xfrm>
            <a:off x="548640" y="6437376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GRC Mastery  ·  Class 1 — Session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ed99569001_0_4"/>
          <p:cNvSpPr/>
          <p:nvPr/>
        </p:nvSpPr>
        <p:spPr>
          <a:xfrm>
            <a:off x="11338560" y="643737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2026-06-15T21:25:29Z</dcterms:created>
  <dc:creator>GRC Mastery Program</dc:creator>
</cp:coreProperties>
</file>