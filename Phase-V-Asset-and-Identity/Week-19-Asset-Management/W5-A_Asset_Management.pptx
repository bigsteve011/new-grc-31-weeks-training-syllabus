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899855" y="-2011680"/>
            <a:ext cx="5486400" cy="5486400"/>
          </a:xfrm>
          <a:prstGeom prst="ellipse">
            <a:avLst/>
          </a:prstGeom>
          <a:solidFill>
            <a:srgbClr val="2C3785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480560"/>
            <a:ext cx="4114800" cy="41148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Management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Classification, and Lifecycle — building the foundation every other control depends 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Can't Protect What You Don't Know You Have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 is the IDENTIFY function's bedrock in NIST CSF 2.0 (ID.AM) — every other control category assumes you already know what exists.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ask the same first question in every framework: "Show me your asset inventory." No inventory, no scope, no audit.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IT, unmanaged endpoints, and forgotten cloud services are the entry points attackers actually use — not the assets on your diagram.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consequence: MarketNest's breach traced back to a third-party support plugin nobody had inventoried or risk-assessed before it touched customer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80960" y="1417320"/>
            <a:ext cx="3931920" cy="4572000"/>
          </a:xfrm>
          <a:prstGeom prst="roundRect">
            <a:avLst>
              <a:gd name="adj" fmla="val 1860"/>
            </a:avLst>
          </a:prstGeom>
          <a:solidFill>
            <a:srgbClr val="DFF3F5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095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 Framing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09560" y="2020824"/>
            <a:ext cx="347472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class: "If a device isn't in your inventory, does a policy protect it?"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answer is no — visibility precedes every control.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Asset Categories You Must Track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5F6F9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66544"/>
            <a:ext cx="214884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Laptops, servers, mobile devices, network gear, IoT/IoMT sensors, OT field devices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55848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DFF3F5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84448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2066544"/>
            <a:ext cx="214884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systems, applications, SaaS subscriptions, firmware, open-source components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3056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5F6F9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1656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91656" y="2066544"/>
            <a:ext cx="214884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and unstructured data at rest, in transit, and in use — the asset people forget to inventory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70264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DFF3F5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98864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98864" y="2066544"/>
            <a:ext cx="214884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contractors, and third parties who hold access — access itself is an asset to govern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Asset Inventory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fields: asset ID, description, category, owner, location/environment, criticality, and classification.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truth vary by asset type:</a:t>
            </a:r>
            <a:endParaRPr lang="en-US" sz="1450" dirty="0"/>
          </a:p>
          <a:p>
            <a:pPr lvl="1" marL="457200" indent="-228600">
              <a:lnSpc>
                <a:spcPct val="112000"/>
              </a:lnSpc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CMDB, MDM/EDR agent reports, procurement records</a:t>
            </a:r>
            <a:endParaRPr lang="en-US" sz="1450" dirty="0"/>
          </a:p>
          <a:p>
            <a:pPr lvl="1" marL="457200" indent="-228600">
              <a:lnSpc>
                <a:spcPct val="112000"/>
              </a:lnSpc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license management tools, SaaS discovery, SBOM for critical apps</a:t>
            </a:r>
            <a:endParaRPr lang="en-US" sz="1450" dirty="0"/>
          </a:p>
          <a:p>
            <a:pPr lvl="1" marL="457200" indent="-228600">
              <a:lnSpc>
                <a:spcPct val="112000"/>
              </a:lnSpc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data-mapping exercises, DPIAs, database schema reviews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at least quarterly — an inventory that isn't refreshed becomes fiction within a few months.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Helios Grid Utilities has no consolidated inventory spanning IT and OT — that gap is exactly what a NIS2 auditor will flag first.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Ownership: Every Asset Needs a Name Attached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00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asset without a designated owner has no one accountable for its patching, access decisions, or retirement.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responsibilities: approve access requests, classify the asset, accept residual risk, and sign off on disposal.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 vs. technical custodian — the business owner decides sensitivity and access; IT/security implements the controls.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NDSA's audit finding: privileged access was "widely and informally held" with no clear owner accountable for reviewing it — a direct result of missing asset/access ownership.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589520" y="1417320"/>
            <a:ext cx="4023360" cy="4572000"/>
          </a:xfrm>
          <a:prstGeom prst="roundRect">
            <a:avLst>
              <a:gd name="adj" fmla="val 1818"/>
            </a:avLst>
          </a:prstGeom>
          <a:solidFill>
            <a:srgbClr val="FDF0D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1812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18120" y="2020824"/>
            <a:ext cx="356616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"own" a shared telehealth platform used by 12 clinics — IT, compliance, or clinical operations? Why?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Four-Tier Classification Model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05272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harm if disclosed; intended for open release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brochures, public press releases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for external release; low-to-moderate harm if disclosed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org charts, meeting 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harm to the business or individuals if disclosed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Contracts, employee PII, financial forecasts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harm — regulatory, safety, or life-impact consequences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PHI, biometric data, grid-control (OT) configurations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Across the Case-Study Companies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 Health: patient PHI, diagnoses, and lab/genetic data must be Restricted — yet clinicians currently share logins with no classification-driven access rules in place.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NDSA (Kenya): national identity records and biometric data are Restricted at national-security scale — a misconfigured database briefly exposed this exact tier of data.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Labs: client HR data (compensation, performance reviews) is Confidential-to-Restricted depending on the client contract — classification should be inherited from client agreements, not assumed.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isn't a one-time label — it drives encryption requirements, access approval workflows, and retention/disposal rules downstream.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Asset Lifecycle: Four Stages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77340" y="14173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6F9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752344"/>
            <a:ext cx="2148840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Procurement, secure baseline config, initial inventory entry, classification assigned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4548" y="14173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438454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55848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DFF3F5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84448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84448" y="2752344"/>
            <a:ext cx="2148840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monitoring, access management, patching, periodic re-classification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91756" y="14173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719175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63056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6F9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91656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91656" y="2752344"/>
            <a:ext cx="2148840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management, configuration drift checks, ownership re-validation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98964" y="14173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999896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970264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DFF3F5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98864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Disposal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98864" y="2752344"/>
            <a:ext cx="2148840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sanitization, license reclamation, inventory removal, certificate of destruction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and Use: Getting Off to a Secure Start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Acquisition: apply a secure baseline configuration before an asset ever touches the production network — not after.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asset in inventory at intake, with owner and classification assigned on day one, not backfilled later.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phase: continuous monitoring, timely patching, and periodic re-validation that the assigned owner is still correct.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Grid's smart-meter rollout illustrates the risk: thousands of internet-connected field devices from multiple vendors were deployed without a consolidated intake or baseline process.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and Secure Disposal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Maintenance: OT engineers often prioritize uptime over patching — Helios's decades-old SCADA systems can't always be patched, so compensating controls (segmentation, monitoring) must fill the gap.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drift checks catch assets that silently fall out of their approved baseline.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disposal: sanitize storage media to a defined standard (e.g., NIST SP 800-88), reclaim software licenses, and remove the asset from inventory — with a documented certificate of destruction for Restricted-tier assets.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disposed asset that stays in inventory — or a retired asset that never gets removed — both create audit findings.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7E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Mini IT/OT Asset Inventory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265615" y="25603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9265615" y="256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Grid Utilities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37944"/>
            <a:ext cx="106372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Grid Utilities has no consolidated asset inventory spanning corporate IT and OT/SCADA systems. Smart meters, grid sensors, and legacy control systems are scattered across teams with no shared record.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small groups, list 8 representative assets spanning both IT (billing system, customer portal) and OT (SCADA server, smart meter gateway).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asset, assign: category, owner, and a proposed classification tier.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which assets you could NOT confidently classify — and explain what information you'd need to gather first.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7E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NovaCare's Data Holdings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265615" y="25603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9265615" y="256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 Health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17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37944"/>
            <a:ext cx="106372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 Health holds PHI, payment-card data for co-pays, and internal scheduling data across a legacy on-prem EHR and a newer cloud telehealth platform.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class, sort the following into the four-tier model: patient diagnoses, clinic marketing flyers, internal staffing schedule, co-pay card numbers, lab/genetic results.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does the storage location (on-prem vs. cloud) change the classification — or only the required controls?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control each tier should trigger (e.g., Restricted → encryption at rest + access logging).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0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0D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188720"/>
            <a:ext cx="11094415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SELF-CHECK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101800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design a role-based access scheme for a small org and explain how you'd prove (to an auditor) that access is appropriate?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388620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builds the asset and classification foundation that Sessions B and C will turn into an access scheme.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Session A inventory and classifications — you'll reuse them directly in Session B's IAM design.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Deliverable: Asset Inventory with Classifications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70408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95144"/>
            <a:ext cx="658368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 asset inventory (spreadsheet or table) for your assigned case-study company covering at least 15 assets across hardware, software, data, and people.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must include: asset ID, category, description, owner, environment, criticality, and classification tier (Public / Internal / Confidential / Restricted).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one-paragraph rationale for your three highest-criticality entries, explaining why they earned that rating.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18120" y="1691640"/>
            <a:ext cx="3824935" cy="4343400"/>
          </a:xfrm>
          <a:prstGeom prst="roundRect">
            <a:avLst>
              <a:gd name="adj" fmla="val 1913"/>
            </a:avLst>
          </a:prstGeom>
          <a:solidFill>
            <a:srgbClr val="2C3785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224028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15 rows</a:t>
            </a:r>
            <a:endParaRPr lang="en-US" sz="120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asset categories represented</a:t>
            </a:r>
            <a:endParaRPr lang="en-US" sz="120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assigned to every row</a:t>
            </a:r>
            <a:endParaRPr lang="en-US" sz="120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tier justified</a:t>
            </a:r>
            <a:endParaRPr lang="en-US" sz="120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as .xlsx or .csv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inventory feeds directly into your Session B access-control design — keep it organized.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 Recap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protect — or audit — what isn't inventoried.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span hardware, software, data, and people; each needs an accountable owner.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classification (Public/Internal/Confidential/Restricted) drives downstream controls.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discipline — acquisition, use, maintenance, secure disposal — closes the gaps attackers exploit.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D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B applies this foundation to who gets access, and how much.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Session A — Asset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2026-07-12T15:28:20Z</dcterms:created>
  <dcterms:modified xsi:type="dcterms:W3CDTF">2026-07-12T15:28:20Z</dcterms:modified>
</cp:coreProperties>
</file>