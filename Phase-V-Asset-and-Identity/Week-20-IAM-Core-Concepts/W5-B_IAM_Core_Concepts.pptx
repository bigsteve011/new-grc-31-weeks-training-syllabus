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U0wWFVnEgFcB047YEaqGF6NBT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952977-85AE-45A9-B8F6-E4DA6DFA7C9C}">
  <a:tblStyle styleId="{AE952977-85AE-45A9-B8F6-E4DA6DFA7C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8899855" y="-2011680"/>
            <a:ext cx="5486400" cy="5486400"/>
          </a:xfrm>
          <a:prstGeom prst="ellipse">
            <a:avLst/>
          </a:prstGeom>
          <a:solidFill>
            <a:srgbClr val="2C3785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2194560" y="4480560"/>
            <a:ext cx="4114800" cy="4114800"/>
          </a:xfrm>
          <a:prstGeom prst="ellipse">
            <a:avLst/>
          </a:prstGeom>
          <a:solidFill>
            <a:srgbClr val="028090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WEEK 5 · SESSION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1874520"/>
            <a:ext cx="10241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IAM Core Concepts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379476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EE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9DEEF"/>
                </a:solidFill>
                <a:latin typeface="Calibri"/>
                <a:ea typeface="Calibri"/>
                <a:cs typeface="Calibri"/>
                <a:sym typeface="Calibri"/>
              </a:rPr>
              <a:t>AAA, least privilege, access models, MFA, and privileged access management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8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A8CC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AAA: Authentication, Authorization, Accounting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463040"/>
            <a:ext cx="3429000" cy="4206240"/>
          </a:xfrm>
          <a:prstGeom prst="roundRect">
            <a:avLst>
              <a:gd fmla="val 2133" name="adj"/>
            </a:avLst>
          </a:prstGeom>
          <a:solidFill>
            <a:srgbClr val="F5F6F9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777240" y="16459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Authentication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77240" y="2066544"/>
            <a:ext cx="297180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Proving who you are — password, token, biometric, or a combination (MFA)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206240" y="1463040"/>
            <a:ext cx="3429000" cy="4206240"/>
          </a:xfrm>
          <a:prstGeom prst="roundRect">
            <a:avLst>
              <a:gd fmla="val 2133" name="adj"/>
            </a:avLst>
          </a:prstGeom>
          <a:solidFill>
            <a:srgbClr val="DFF3F5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434840" y="16459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Authorization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434840" y="2066544"/>
            <a:ext cx="297180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Determining what an authenticated identity is permitted to 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863840" y="1463040"/>
            <a:ext cx="3429000" cy="4206240"/>
          </a:xfrm>
          <a:prstGeom prst="roundRect">
            <a:avLst>
              <a:gd fmla="val 2133" name="adj"/>
            </a:avLst>
          </a:prstGeom>
          <a:solidFill>
            <a:srgbClr val="F5F6F9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092440" y="16459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Accounting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92440" y="2066544"/>
            <a:ext cx="297180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Logging what was done, by whom, and when — the evidence an auditor will ask for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Every IAM audit finding traces back to a weakness in one of these three pillars.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CORE PRINCIPLES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Least Privilege and Separation of Duties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Least privilege: grant only the access required to perform a job function — nothing more, and only for as long as needed.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Separation of duties (SoD): split high-risk tasks across two or more people so no single individual can both initiate and approve a sensitive action.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MarketNest violates least privilege today: "access to the customer database is broad across engineering, support, and marketing, with limited logging."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A classic SoD failure: the same engineer who deploys code also approves production changes — this is exactly the kind of gap auditors flag as a material weakness.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ACCESS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RBAC, ABAC, MAC, and DAC Compared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4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{AE952977-85AE-45A9-B8F6-E4DA6DFA7C9C}</a:tableStyleId>
              </a:tblPr>
              <a:tblGrid>
                <a:gridCol w="2377450"/>
                <a:gridCol w="5605275"/>
                <a:gridCol w="31089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Access Is Decided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RBAC (Role-Based)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tied to a job role (e.g., "Billing Clerk")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enterprises — predictable, auditable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ABAC (Attribute-Based)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evaluated against attributes (department, clearance, time, location)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Complex, dynamic environments (multi-tenant SaaS)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 (Mandatory)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set centrally by classification labels; users can't override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Government / national-security data (e.g., NDSA)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 (Discretionary)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Resource owner decides who else gets access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 shares, small teams — weakest for scale/audit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</a:tr>
            </a:tbl>
          </a:graphicData>
        </a:graphic>
      </p:graphicFrame>
      <p:sp>
        <p:nvSpPr>
          <p:cNvPr id="56" name="Google Shape;56;p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APPLIED EXAMPLE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Choosing a Model: Case-Study Fit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Quanta Labs (multi-tenant SaaS): ABAC fits well — access should depend on which client tenant, data sensitivity, and the engineer's current on-call status.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NDSA (national identity platform): MAC-style controls make sense for the most sensitive citizen data — labels set centrally, not left to individual discretion.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NovaCare Health: RBAC is the practical starting point — "Nurse," "Billing Clerk," and "Telehealth Physician" roles map cleanly to EHR permission sets.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DAC is rarely appropriate for regulated data — it's the model MarketNest effectively fell into by accident, not by design.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AUTHENTICATION STRENGTH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Multi-Factor Authentication (MFA)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1417320"/>
            <a:ext cx="6400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Three factor categories: something you know (password), something you have (token/app), something you are (biometric).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MFA should be mandatory for: all remote access, privileged accounts, and any system holding Confidential or Restricted data.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Phishing-resistant MFA (FIDO2/WebAuthn, hardware keys) is increasingly expected for privileged and admin accounts — SMS-based OTP is the weakest common option.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Helios Grid's vendor remote-access pathways into OT are "poorly inventoried" — a textbook case where MFA plus PAM should be non-negotiable, but currently isn't enforced.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7589520" y="1417320"/>
            <a:ext cx="4023360" cy="4572000"/>
          </a:xfrm>
          <a:prstGeom prst="roundRect">
            <a:avLst>
              <a:gd fmla="val 1818" name="adj"/>
            </a:avLst>
          </a:prstGeom>
          <a:solidFill>
            <a:srgbClr val="FDF0DC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818120" y="16002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Discussion Prompt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818120" y="2020824"/>
            <a:ext cx="3566160" cy="3831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Should MFA be enforced identically for a nurse checking a schedule and a sysadmin accessing the EHR database? Why or why not?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ELEVATED 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Privileged Access Management (PAM)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Privileged accounts (domain admins, database admins, OT engineers) carry outsized risk — one compromised credential can bypass every other control.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Core PAM practices: credential vaulting, just-in-time elevation, session recording, and routine privileged-access reviews.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NDSA's audit narrative is a PAM failure story: "privileged access is widely and informally held, with poor offboarding of departing staff and vendors."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1E2937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PAM is one of NDSA's explicit mandate items — establishing it is a direct, assignable remediation, not an abstract best practice.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the Pieces Fit Together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548640" y="1554480"/>
            <a:ext cx="2606040" cy="3840480"/>
          </a:xfrm>
          <a:prstGeom prst="roundRect">
            <a:avLst>
              <a:gd fmla="val 2807" name="adj"/>
            </a:avLst>
          </a:prstGeom>
          <a:solidFill>
            <a:srgbClr val="F5F6F9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777240" y="1737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Identity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777240" y="2157984"/>
            <a:ext cx="2148840" cy="3099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AAA establishes who someone is and what they did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355848" y="1554480"/>
            <a:ext cx="2606040" cy="3840480"/>
          </a:xfrm>
          <a:prstGeom prst="roundRect">
            <a:avLst>
              <a:gd fmla="val 2807" name="adj"/>
            </a:avLst>
          </a:prstGeom>
          <a:solidFill>
            <a:srgbClr val="DFF3F5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3584448" y="1737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Model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584448" y="2157984"/>
            <a:ext cx="2148840" cy="3099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RBAC/ABAC/MAC/DAC defines how access decisions get made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163056" y="1554480"/>
            <a:ext cx="2606040" cy="3840480"/>
          </a:xfrm>
          <a:prstGeom prst="roundRect">
            <a:avLst>
              <a:gd fmla="val 2807" name="adj"/>
            </a:avLst>
          </a:prstGeom>
          <a:solidFill>
            <a:srgbClr val="F5F6F9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6391656" y="1737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Guardrails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391656" y="2157984"/>
            <a:ext cx="2148840" cy="3099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Least privilege + SoD keep every grant proportionate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8970264" y="1554480"/>
            <a:ext cx="2606040" cy="3840480"/>
          </a:xfrm>
          <a:prstGeom prst="roundRect">
            <a:avLst>
              <a:gd fmla="val 2807" name="adj"/>
            </a:avLst>
          </a:prstGeom>
          <a:solidFill>
            <a:srgbClr val="DFF3F5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9198864" y="1737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Assurance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9198864" y="2157984"/>
            <a:ext cx="2148840" cy="3099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MFA + PAM harden the highest-risk access paths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9F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548640" y="16459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CLASS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48640" y="43891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Design an Access Model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9265615" y="256032"/>
            <a:ext cx="2377440" cy="384048"/>
          </a:xfrm>
          <a:prstGeom prst="roundRect">
            <a:avLst>
              <a:gd fmla="val 19048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9265615" y="2560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Quanta Labs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548640" y="1234440"/>
            <a:ext cx="11094415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Scenario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777240" y="1837944"/>
            <a:ext cx="10637215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Quanta Labs is a multi-tenant HR-analytics SaaS company. Engineers, support staff, and client admins all need different levels of access to client HR data, with broad production access currently the default.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Your Task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In pairs, decide: RBAC, ABAC, or a hybrid — for Quanta's engineering team accessing production client data. Justify your choice.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Define 3 roles (or attribute rules) with the minimum access each needs to do its job.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Identify one separation-of-duties pairing Quanta should enforce (e.g., who deploys vs. who approves).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9F5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548640" y="16459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CLASS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48640" y="43891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Triage a PAM Gap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9265615" y="256032"/>
            <a:ext cx="2377440" cy="384048"/>
          </a:xfrm>
          <a:prstGeom prst="roundRect">
            <a:avLst>
              <a:gd fmla="val 19048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9265615" y="2560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NDSA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548640" y="1234440"/>
            <a:ext cx="11094415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Scenario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777240" y="1837944"/>
            <a:ext cx="10637215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NDSA has widely and informally held privileged access with poor offboarding of departing staff and vendors, across a national identity platform.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Your Task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As a class, list 3 immediate PAM controls NDSA should implement first, and rank them by risk reduction per effort.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Discuss: what evidence would you need to collect to prove to an international donor auditor that PAM is now under control?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Draft one MFA policy line for NDSA's privileged accounts (be specific about factor type).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9F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548640" y="16459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CLASS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548640" y="43891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Fix a Shared-Login Problem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9265615" y="256032"/>
            <a:ext cx="2377440" cy="384048"/>
          </a:xfrm>
          <a:prstGeom prst="roundRect">
            <a:avLst>
              <a:gd fmla="val 19048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9265615" y="2560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NovaCare Health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48640" y="1234440"/>
            <a:ext cx="11094415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Scenario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777240" y="1837944"/>
            <a:ext cx="10637215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Clinicians at NovaCare frequently share logins at busy nursing stations, breaking both authentication integrity and accounting (audit trails).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Your Task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Propose two practical controls that reduce shared-login behavior without slowing down urgent patient care.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1E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Explain how each control affects the Accounting (A) pillar of AAA specifically.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0D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DF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"/>
          <p:cNvSpPr/>
          <p:nvPr/>
        </p:nvSpPr>
        <p:spPr>
          <a:xfrm>
            <a:off x="548640" y="1188720"/>
            <a:ext cx="11094415" cy="420624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MILESTONE SELF-CHECK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1005840" y="1965960"/>
            <a:ext cx="1018001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i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Can you design a role-based access scheme for a small org and explain how you'd prove (to an auditor) that access is appropriate?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05840" y="3886200"/>
            <a:ext cx="101800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You now have the building blocks: AAA, access models, least privilege/SoD, MFA, and PAM.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Session C adds the lifecycle and evidence trail — provisioning, reviews, and audit findings — that let you answer the "prove it" half of this question.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2809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HANDS-ON 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Deliverable: Draft Access Control / IAM Policy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48640" y="1691640"/>
            <a:ext cx="7040880" cy="4343400"/>
          </a:xfrm>
          <a:prstGeom prst="roundRect">
            <a:avLst>
              <a:gd fmla="val 168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"/>
          <p:cNvSpPr/>
          <p:nvPr/>
        </p:nvSpPr>
        <p:spPr>
          <a:xfrm>
            <a:off x="777240" y="187452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Deliverable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777240" y="2295144"/>
            <a:ext cx="6583680" cy="3602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Draft a 1–2 </a:t>
            </a: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page access control</a:t>
            </a: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 / IAM policy for your assigned </a:t>
            </a: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 company.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Cover: authentication requirements (including MFA), the chosen access model and rationale, least-privilege and SoD statements, and privileged-account controls.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1E293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E2937"/>
                </a:solidFill>
                <a:latin typeface="Calibri"/>
                <a:ea typeface="Calibri"/>
                <a:cs typeface="Calibri"/>
                <a:sym typeface="Calibri"/>
              </a:rPr>
              <a:t>Reference at least one specific gap from your company's scenario narrative and show how your policy closes it.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7818120" y="1691640"/>
            <a:ext cx="3824935" cy="4343400"/>
          </a:xfrm>
          <a:prstGeom prst="roundRect">
            <a:avLst>
              <a:gd fmla="val 1913" name="adj"/>
            </a:avLst>
          </a:prstGeom>
          <a:solidFill>
            <a:srgbClr val="2C3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8046720" y="18745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Requirements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8046720" y="2240280"/>
            <a:ext cx="32918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FF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1–2 pages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EDEFF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MFA requirement stated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EDEFF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Access model justified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EDEFF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SoD example included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EDEFF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PAM controls addressed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E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C7CCE6"/>
                </a:solidFill>
                <a:latin typeface="Calibri"/>
                <a:ea typeface="Calibri"/>
                <a:cs typeface="Calibri"/>
                <a:sym typeface="Calibri"/>
              </a:rPr>
              <a:t>Bring this policy into Session C — you'll layer JML and access-review processes on top of 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B Recap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513640" y="1397005"/>
            <a:ext cx="10515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FF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AAA — authentication, authorization, accounting — is the backbone of every IAM control.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EDEFF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Least privilege and separation of duties keep access proportionate to job function.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EDEFF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Access model choice (RBAC/ABAC/MAC/DAC) should fit the organization's structure and data sensitivity.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EDEFF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MFA and PAM harden the access paths attackers target first.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EDEFF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DEFF8"/>
                </a:solidFill>
                <a:latin typeface="Calibri"/>
                <a:ea typeface="Calibri"/>
                <a:cs typeface="Calibri"/>
                <a:sym typeface="Calibri"/>
              </a:rPr>
              <a:t>Next: Session C covers the IAM lifecycle — provisioning, reviews, and what auditors look for.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Week 5 · Session B — IAM Core Concepts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2026-07-12T15:29:04Z</dcterms:created>
  <dc:creator>PptxGenJS</dc:creator>
</cp:coreProperties>
</file>